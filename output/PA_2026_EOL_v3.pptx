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interactif · fin de vie — PA MSE HES-SO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aks/DEV/PA_26_EOL/output/assets/logo_hes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02920"/>
            <a:ext cx="877350" cy="566928"/>
          </a:xfrm>
          <a:prstGeom prst="rect">
            <a:avLst/>
          </a:prstGeom>
        </p:spPr>
      </p:pic>
      <p:pic>
        <p:nvPicPr>
          <p:cNvPr id="3" name="Image 1" descr="/Users/thomaks/DEV/PA_26_EOL/output/assets/logo_chu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530352"/>
            <a:ext cx="1007466" cy="521574"/>
          </a:xfrm>
          <a:prstGeom prst="rect">
            <a:avLst/>
          </a:prstGeom>
        </p:spPr>
      </p:pic>
      <p:pic>
        <p:nvPicPr>
          <p:cNvPr id="4" name="Image 2" descr="/Users/thomaks/DEV/PA_26_EOL/output/assets/logo_un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03504"/>
            <a:ext cx="1073792" cy="35149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66928" y="1965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D'APPROFONDISSEMENT · MSE HES-SO</a:t>
            </a:r>
            <a:endParaRPr lang="en-US" sz="2000" dirty="0"/>
          </a:p>
        </p:txBody>
      </p:sp>
      <p:sp>
        <p:nvSpPr>
          <p:cNvPr id="6" name="Text 1"/>
          <p:cNvSpPr/>
          <p:nvPr/>
        </p:nvSpPr>
        <p:spPr>
          <a:xfrm>
            <a:off x="566928" y="2423160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interactif pour le personnel médical</a:t>
            </a:r>
            <a:pPr indent="0" marL="0">
              <a:lnSpc>
                <a:spcPct val="102000"/>
              </a:lnSpc>
              <a:buNone/>
            </a:pP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accompagnant les patients en fin de vie</a:t>
            </a:r>
            <a:endParaRPr lang="en-US" sz="4000" dirty="0"/>
          </a:p>
        </p:txBody>
      </p:sp>
      <p:sp>
        <p:nvSpPr>
          <p:cNvPr id="7" name="Text 2"/>
          <p:cNvSpPr/>
          <p:nvPr/>
        </p:nvSpPr>
        <p:spPr>
          <a:xfrm>
            <a:off x="566928" y="3977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et </a:t>
            </a:r>
            <a:pPr indent="0" marL="0">
              <a:buNone/>
            </a:pPr>
            <a:r>
              <a:rPr lang="en-US" sz="22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soft-skills</a:t>
            </a:r>
            <a:pPr indent="0" marL="0">
              <a:buNone/>
            </a:pPr>
            <a:r>
              <a:rPr lang="en-US" sz="22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assistés par IA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566928" y="4892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Maksimous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66928" y="53492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Sup. Prof. Stéphane Gobron · Experte Dre Claudia Gamondi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566928" y="5742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Lausanne · 16 juin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mois en EHPAD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56048" y="2240280"/>
            <a:ext cx="2286000" cy="2286000"/>
          </a:xfrm>
          <a:prstGeom prst="ellipse">
            <a:avLst/>
          </a:prstGeom>
          <a:solidFill>
            <a:srgbClr val="EAF1F8"/>
          </a:solidFill>
          <a:ln w="25400">
            <a:solidFill>
              <a:srgbClr val="0069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56048" y="21945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3355848" y="4892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mode d'emploi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355848" y="5440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Soft-skills la vraie difficulté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48840" y="2468880"/>
            <a:ext cx="2103120" cy="2103120"/>
          </a:xfrm>
          <a:prstGeom prst="gear6">
            <a:avLst/>
          </a:prstGeom>
          <a:solidFill>
            <a:srgbClr val="12284C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SKILLS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5166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factuel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955280" y="2468880"/>
            <a:ext cx="2103120" cy="2103120"/>
          </a:xfrm>
          <a:prstGeom prst="heart">
            <a:avLst/>
          </a:prstGeom>
          <a:solidFill>
            <a:srgbClr val="0069B4"/>
          </a:solidFill>
          <a:ln/>
        </p:spPr>
      </p:sp>
      <p:sp>
        <p:nvSpPr>
          <p:cNvPr id="8" name="Text 6"/>
          <p:cNvSpPr/>
          <p:nvPr/>
        </p:nvSpPr>
        <p:spPr>
          <a:xfrm>
            <a:off x="717804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78040" y="5166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boîte noire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94960" y="32004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savoir-être aux soft-skills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8803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88036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Savoir-faire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73552" y="28803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73552" y="288036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Savoir-vivre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769864" y="28803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DCE7F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9864" y="288036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Savoir-être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0" y="3246120"/>
            <a:ext cx="822960" cy="640080"/>
          </a:xfrm>
          <a:prstGeom prst="rightArrow">
            <a:avLst/>
          </a:prstGeom>
          <a:solidFill>
            <a:srgbClr val="8A97A4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0" y="28803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2880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soft-skills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 SOSK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2016" y="233172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2016" y="23317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389224" y="233172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9224" y="23317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96432" y="233172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6432" y="23317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003640" y="233172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3640" y="23317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82016" y="320040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2016" y="32004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Clarté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89224" y="320040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9224" y="32004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96432" y="320040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6432" y="32004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0" y="457200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</a:t>
            </a:r>
            <a:pPr algn="ctr" indent="0" marL="0">
              <a:buNone/>
            </a:pPr>
            <a:r>
              <a:rPr lang="en-US" sz="3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à      </a:t>
            </a:r>
            <a:pPr algn="ctr" indent="0" marL="0">
              <a:buNone/>
            </a:pPr>
            <a:r>
              <a:rPr lang="en-US" sz="3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sans terrain à risque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0" y="2240280"/>
            <a:ext cx="2331720" cy="2011680"/>
          </a:xfrm>
          <a:prstGeom prst="wedgeRoundRectCallout">
            <a:avLst/>
          </a:prstGeom>
          <a:solidFill>
            <a:srgbClr val="0069B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983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jeunes diplômés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675120" y="4983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de rôle limités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L'ART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approches incomplètes</a:t>
            </a:r>
            <a:endParaRPr lang="en-US" sz="3200" dirty="0"/>
          </a:p>
        </p:txBody>
      </p:sp>
      <p:pic>
        <p:nvPicPr>
          <p:cNvPr id="4" name="Image 0" descr="/Users/thomaks/DEV/PA_26_EOL/output/assets/work_l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250750"/>
            <a:ext cx="3246120" cy="20821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4572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 </a:t>
            </a:r>
            <a:pPr algn="ctr" indent="0" marL="0">
              <a:buNone/>
            </a:pPr>
            <a:r>
              <a:rPr lang="en-US" sz="22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figé</a:t>
            </a:r>
            <a:endParaRPr lang="en-US" sz="2200" dirty="0"/>
          </a:p>
        </p:txBody>
      </p:sp>
      <p:pic>
        <p:nvPicPr>
          <p:cNvPr id="6" name="Image 1" descr="/Users/thomaks/DEV/PA_26_EOL/output/assets/work_tw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605847"/>
            <a:ext cx="3246120" cy="13719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34256" y="4572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Twine  </a:t>
            </a:r>
            <a:pPr algn="ctr" indent="0" marL="0">
              <a:buNone/>
            </a:pPr>
            <a:r>
              <a:rPr lang="en-US" sz="22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générique</a:t>
            </a:r>
            <a:endParaRPr lang="en-US" sz="2200" dirty="0"/>
          </a:p>
        </p:txBody>
      </p:sp>
      <p:pic>
        <p:nvPicPr>
          <p:cNvPr id="8" name="Image 2" descr="/Users/thomaks/DEV/PA_26_EOL/output/assets/work_perc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243" y="2194560"/>
            <a:ext cx="2855123" cy="21945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01584" y="4572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PERCS  </a:t>
            </a:r>
            <a:pPr algn="ctr" indent="0" marL="0">
              <a:buNone/>
            </a:pPr>
            <a:r>
              <a:rPr lang="en-US" sz="22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présentiel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L'ART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V1 à la V3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2743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9260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80160" y="3657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005072" y="3246120"/>
            <a:ext cx="813816" cy="548640"/>
          </a:xfrm>
          <a:prstGeom prst="rightArrow">
            <a:avLst/>
          </a:prstGeom>
          <a:solidFill>
            <a:srgbClr val="8A97A4"/>
          </a:solidFill>
          <a:ln/>
        </p:spPr>
      </p:sp>
      <p:sp>
        <p:nvSpPr>
          <p:cNvPr id="8" name="Shape 6"/>
          <p:cNvSpPr/>
          <p:nvPr/>
        </p:nvSpPr>
        <p:spPr>
          <a:xfrm>
            <a:off x="4892040" y="2743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29260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892040" y="3657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figé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616952" y="3246120"/>
            <a:ext cx="813816" cy="548640"/>
          </a:xfrm>
          <a:prstGeom prst="rightArrow">
            <a:avLst/>
          </a:prstGeom>
          <a:solidFill>
            <a:srgbClr val="8A97A4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2743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DCE7F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29260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503920" y="3657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éditable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verrous levés</a:t>
            </a:r>
            <a:endParaRPr lang="en-US" sz="3200" dirty="0"/>
          </a:p>
        </p:txBody>
      </p:sp>
      <p:pic>
        <p:nvPicPr>
          <p:cNvPr id="4" name="Image 0" descr="/Users/thomaks/DEV/PA_26_EOL/output/assets/ui_3pa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20240"/>
            <a:ext cx="6766560" cy="364910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2286000"/>
            <a:ext cx="3840480" cy="640080"/>
          </a:xfrm>
          <a:prstGeom prst="roundRect">
            <a:avLst>
              <a:gd name="adj" fmla="val 17143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22860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éditable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772400" y="3154680"/>
            <a:ext cx="3840480" cy="640080"/>
          </a:xfrm>
          <a:prstGeom prst="roundRect">
            <a:avLst>
              <a:gd name="adj" fmla="val 17143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31546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assistée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0" y="4023360"/>
            <a:ext cx="3840480" cy="640080"/>
          </a:xfrm>
          <a:prstGeom prst="roundRect">
            <a:avLst>
              <a:gd name="adj" fmla="val 17143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humaine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scénario devient un graphe</a:t>
            </a:r>
            <a:endParaRPr lang="en-US" sz="3200" dirty="0"/>
          </a:p>
        </p:txBody>
      </p:sp>
      <p:pic>
        <p:nvPicPr>
          <p:cNvPr id="4" name="Image 0" descr="/Users/thomaks/DEV/PA_26_EOL/output/assets/ui_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5368" y="1874520"/>
            <a:ext cx="7680960" cy="4142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0" y="61539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</a:t>
            </a:r>
            <a:pPr algn="ctr" indent="0" marL="0">
              <a:buNone/>
            </a:pPr>
            <a:r>
              <a:rPr lang="en-US" sz="22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nœud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126480" y="61539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</a:t>
            </a:r>
            <a:pPr algn="ctr" indent="0" marL="0">
              <a:buNone/>
            </a:pPr>
            <a:r>
              <a:rPr lang="en-US" sz="22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arête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histoires cohérentes</a:t>
            </a:r>
            <a:endParaRPr lang="en-US" sz="3200" dirty="0"/>
          </a:p>
        </p:txBody>
      </p:sp>
      <p:pic>
        <p:nvPicPr>
          <p:cNvPr id="4" name="Image 0" descr="/Users/thomaks/DEV/PA_26_EOL/output/assets/ui_parcou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248" y="1874520"/>
            <a:ext cx="7315200" cy="39449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0" y="5956663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</a:t>
            </a:r>
            <a:pPr algn="ctr" indent="0" marL="0">
              <a:buNone/>
            </a:pPr>
            <a:r>
              <a:rPr lang="en-US" sz="22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EG-7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126480" y="5956663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</a:t>
            </a:r>
            <a:pPr algn="ctr" indent="0" marL="0">
              <a:buNone/>
            </a:pPr>
            <a:r>
              <a:rPr lang="en-US" sz="22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scorer par IA</a:t>
            </a:r>
            <a:endParaRPr lang="en-US" sz="3200" dirty="0"/>
          </a:p>
        </p:txBody>
      </p:sp>
      <p:pic>
        <p:nvPicPr>
          <p:cNvPr id="4" name="Image 0" descr="/Users/thomaks/DEV/PA_26_EOL/output/assets/ui_mod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920240"/>
            <a:ext cx="4754880" cy="36094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2468880"/>
            <a:ext cx="4937760" cy="685800"/>
          </a:xfrm>
          <a:prstGeom prst="roundRect">
            <a:avLst>
              <a:gd name="adj" fmla="val 16000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24688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orientée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66928" y="3429000"/>
            <a:ext cx="4937760" cy="685800"/>
          </a:xfrm>
          <a:prstGeom prst="roundRect">
            <a:avLst>
              <a:gd name="adj" fmla="val 16000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34290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expliqué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66928" y="4389120"/>
            <a:ext cx="4937760" cy="685800"/>
          </a:xfrm>
          <a:prstGeom prst="roundRect">
            <a:avLst>
              <a:gd name="adj" fmla="val 16000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3891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humain valide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parfaite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2240280"/>
            <a:ext cx="2743200" cy="2743200"/>
          </a:xfrm>
          <a:prstGeom prst="donut">
            <a:avLst/>
          </a:prstGeom>
          <a:solidFill>
            <a:srgbClr val="0069B4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402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0" y="3017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générations orientées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0" y="3611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échec de format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proche de l'humain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9751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46120" y="2011680"/>
            <a:ext cx="551906" cy="310896"/>
          </a:xfrm>
          <a:prstGeom prst="roundRect">
            <a:avLst>
              <a:gd name="adj" fmla="val 11765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07754" y="197510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24505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46120" y="2487168"/>
            <a:ext cx="2547257" cy="310896"/>
          </a:xfrm>
          <a:prstGeom prst="roundRect">
            <a:avLst>
              <a:gd name="adj" fmla="val 11765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3105" y="24505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6928" y="29260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46120" y="2962656"/>
            <a:ext cx="2844437" cy="310896"/>
          </a:xfrm>
          <a:prstGeom prst="roundRect">
            <a:avLst>
              <a:gd name="adj" fmla="val 11765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00285" y="29260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6928" y="34015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Clarté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246120" y="3438144"/>
            <a:ext cx="3099163" cy="310896"/>
          </a:xfrm>
          <a:prstGeom prst="roundRect">
            <a:avLst>
              <a:gd name="adj" fmla="val 11765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011" y="34015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" y="38770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246120" y="3913632"/>
            <a:ext cx="3693523" cy="310896"/>
          </a:xfrm>
          <a:prstGeom prst="roundRect">
            <a:avLst>
              <a:gd name="adj" fmla="val 11765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9371" y="38770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0,87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43525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Compassion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46120" y="4389120"/>
            <a:ext cx="4542609" cy="310896"/>
          </a:xfrm>
          <a:prstGeom prst="roundRect">
            <a:avLst>
              <a:gd name="adj" fmla="val 11765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98457" y="435254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" y="48280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246120" y="4864608"/>
            <a:ext cx="5646420" cy="310896"/>
          </a:xfrm>
          <a:prstGeom prst="roundRect">
            <a:avLst>
              <a:gd name="adj" fmla="val 11765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2268" y="48280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6928" y="5532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</a:t>
            </a:r>
            <a:pPr indent="0" marL="0">
              <a:buNone/>
            </a:pPr>
            <a:r>
              <a:rPr lang="en-US" sz="22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0,77</a:t>
            </a:r>
            <a:pPr indent="0" marL="0">
              <a:buNone/>
            </a:pPr>
            <a:r>
              <a:rPr lang="en-US" sz="22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sur 7 niveaux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rapide ou local privé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61518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588874" cy="640080"/>
          </a:xfrm>
          <a:prstGeom prst="roundRect">
            <a:avLst>
              <a:gd name="adj" fmla="val 6211"/>
            </a:avLst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99002" y="261518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362102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3657600"/>
            <a:ext cx="6285586" cy="64008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95714" y="3621024"/>
            <a:ext cx="1554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6928" y="4937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 </a:t>
            </a:r>
            <a:pPr algn="l" indent="0" marL="0">
              <a:buNone/>
            </a:pPr>
            <a:r>
              <a:rPr lang="en-US" sz="22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précis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6928" y="5486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</a:t>
            </a:r>
            <a:pPr algn="l" indent="0" marL="0">
              <a:buNone/>
            </a:pPr>
            <a:r>
              <a:rPr lang="en-US" sz="22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conforme RGPD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56048" y="2331720"/>
            <a:ext cx="2286000" cy="2286000"/>
          </a:xfrm>
          <a:prstGeom prst="ellipse">
            <a:avLst/>
          </a:prstGeom>
          <a:solidFill>
            <a:srgbClr val="EAF1F8"/>
          </a:solidFill>
          <a:ln w="25400">
            <a:solidFill>
              <a:srgbClr val="0069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5400000">
            <a:off x="5806440" y="3063240"/>
            <a:ext cx="914400" cy="914400"/>
          </a:xfrm>
          <a:prstGeom prst="triangle">
            <a:avLst/>
          </a:prstGeom>
          <a:solidFill>
            <a:srgbClr val="0069B4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98348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     IA      scoring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les moins chers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8836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383280" y="1920240"/>
            <a:ext cx="54864" cy="310896"/>
          </a:xfrm>
          <a:prstGeom prst="roundRect">
            <a:avLst>
              <a:gd name="adj" fmla="val 66667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47872" y="188366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66928" y="238658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V4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2423160"/>
            <a:ext cx="59741" cy="310896"/>
          </a:xfrm>
          <a:prstGeom prst="roundRect">
            <a:avLst>
              <a:gd name="adj" fmla="val 61224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2749" y="238658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6928" y="288950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83280" y="2926080"/>
            <a:ext cx="128016" cy="310896"/>
          </a:xfrm>
          <a:prstGeom prst="roundRect">
            <a:avLst>
              <a:gd name="adj" fmla="val 28571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288950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6928" y="339242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83280" y="3429000"/>
            <a:ext cx="341376" cy="310896"/>
          </a:xfrm>
          <a:prstGeom prst="roundRect">
            <a:avLst>
              <a:gd name="adj" fmla="val 11765"/>
            </a:avLst>
          </a:prstGeom>
          <a:solidFill>
            <a:srgbClr val="0069B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4384" y="339242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" y="389534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383280" y="3931920"/>
            <a:ext cx="533400" cy="310896"/>
          </a:xfrm>
          <a:prstGeom prst="roundRect">
            <a:avLst>
              <a:gd name="adj" fmla="val 11765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6408" y="389534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43982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383280" y="4434840"/>
            <a:ext cx="2133600" cy="310896"/>
          </a:xfrm>
          <a:prstGeom prst="roundRect">
            <a:avLst>
              <a:gd name="adj" fmla="val 11765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6608" y="439826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" y="490118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383280" y="4937760"/>
            <a:ext cx="3200400" cy="310896"/>
          </a:xfrm>
          <a:prstGeom prst="roundRect">
            <a:avLst>
              <a:gd name="adj" fmla="val 11765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490118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6928" y="540410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383280" y="5440680"/>
            <a:ext cx="6400800" cy="310896"/>
          </a:xfrm>
          <a:prstGeom prst="roundRect">
            <a:avLst>
              <a:gd name="adj" fmla="val 11765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93808" y="540410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8328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/ M tokens — sortie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et responsabilité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2377440"/>
            <a:ext cx="2468880" cy="1828800"/>
          </a:xfrm>
          <a:prstGeom prst="cloud">
            <a:avLst/>
          </a:prstGeom>
          <a:solidFill>
            <a:srgbClr val="EAF1F8"/>
          </a:solidFill>
          <a:ln w="25400">
            <a:solidFill>
              <a:srgbClr val="0069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4434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externe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955280" y="2377440"/>
            <a:ext cx="2103120" cy="1828800"/>
          </a:xfrm>
          <a:prstGeom prst="cube">
            <a:avLst/>
          </a:prstGeom>
          <a:solidFill>
            <a:srgbClr val="0069B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4434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local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94960" y="3017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l'humain décide toujours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perspectives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5120640" cy="640080"/>
          </a:xfrm>
          <a:prstGeom prst="roundRect">
            <a:avLst>
              <a:gd name="adj" fmla="val 17143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5146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éditable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66928" y="3383280"/>
            <a:ext cx="5120640" cy="640080"/>
          </a:xfrm>
          <a:prstGeom prst="roundRect">
            <a:avLst>
              <a:gd name="adj" fmla="val 17143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3832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assistée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66928" y="4251960"/>
            <a:ext cx="5120640" cy="640080"/>
          </a:xfrm>
          <a:prstGeom prst="roundRect">
            <a:avLst>
              <a:gd name="adj" fmla="val 17143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2519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durable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715000" y="3566160"/>
            <a:ext cx="777240" cy="640080"/>
          </a:xfrm>
          <a:prstGeom prst="rightArrow">
            <a:avLst/>
          </a:prstGeom>
          <a:solidFill>
            <a:srgbClr val="8A97A4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LE MASTER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675120" y="2514600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DCE7F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514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temps réel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675120" y="3383280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DCE7F4"/>
          </a:solidFill>
          <a:ln w="12700">
            <a:solidFill>
              <a:srgbClr val="0069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33832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local CHUV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66928" y="3520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2400" dirty="0"/>
          </a:p>
        </p:txBody>
      </p:sp>
      <p:pic>
        <p:nvPicPr>
          <p:cNvPr id="4" name="Image 0" descr="/Users/thomaks/DEV/PA_26_EOL/output/assets/logo_hes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577840"/>
            <a:ext cx="849048" cy="548640"/>
          </a:xfrm>
          <a:prstGeom prst="rect">
            <a:avLst/>
          </a:prstGeom>
        </p:spPr>
      </p:pic>
      <p:pic>
        <p:nvPicPr>
          <p:cNvPr id="5" name="Image 1" descr="/Users/thomaks/DEV/PA_26_EOL/output/assets/logo_chu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5605272"/>
            <a:ext cx="974968" cy="504749"/>
          </a:xfrm>
          <a:prstGeom prst="rect">
            <a:avLst/>
          </a:prstGeom>
        </p:spPr>
      </p:pic>
      <p:pic>
        <p:nvPicPr>
          <p:cNvPr id="6" name="Image 2" descr="/Users/thomaks/DEV/PA_26_EOL/output/assets/logo_un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5678424"/>
            <a:ext cx="1039153" cy="3401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Livre interactif — PA MSE HES-SO</dc:title>
  <dc:subject>PptxGenJS Presentation</dc:subject>
  <dc:creator>Thomas Maksimous</dc:creator>
  <cp:lastModifiedBy>Thomas Maksimous</cp:lastModifiedBy>
  <cp:revision>1</cp:revision>
  <dcterms:created xsi:type="dcterms:W3CDTF">2026-06-14T21:43:35Z</dcterms:created>
  <dcterms:modified xsi:type="dcterms:W3CDTF">2026-06-14T21:43:35Z</dcterms:modified>
</cp:coreProperties>
</file>
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55599"/>
            <a:ext cx="8254999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6A0AF"/>
                </a:solidFill>
                <a:latin typeface="Arial"/>
              </a:rPr>
              <a:t>ÉTAT DE L'ART ·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584200"/>
            <a:ext cx="11176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447C"/>
                </a:solidFill>
                <a:latin typeface="Arial"/>
              </a:rPr>
              <a:t>LDR — Live, Die, Repeat</a:t>
            </a:r>
            <a:r>
              <a:rPr sz="3000" b="0">
                <a:solidFill>
                  <a:srgbClr val="8C96A5"/>
                </a:solidFill>
                <a:latin typeface="Arial"/>
              </a:rPr>
              <a:t>   Stanich 2023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000" y="1587499"/>
            <a:ext cx="4826000" cy="406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ED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210039"/>
            <a:ext cx="4394200" cy="2818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42000" y="1727200"/>
            <a:ext cx="57150" cy="4826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7099" y="1714500"/>
            <a:ext cx="5676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F6E56"/>
                </a:solidFill>
                <a:latin typeface="Arial"/>
              </a:rPr>
              <a:t>APPORT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7099" y="1993899"/>
            <a:ext cx="5676900" cy="76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323C4C"/>
                </a:solidFill>
                <a:latin typeface="Arial"/>
              </a:rPr>
              <a:t>Répétition sécurisée en soins palliatifs — 88 % des apprenants se déclarent plus confiants.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0" y="2984500"/>
            <a:ext cx="57150" cy="482600"/>
          </a:xfrm>
          <a:prstGeom prst="rect">
            <a:avLst/>
          </a:prstGeom>
          <a:solidFill>
            <a:srgbClr val="B0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7099" y="2971800"/>
            <a:ext cx="5676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B0532B"/>
                </a:solidFill>
                <a:latin typeface="Arial"/>
              </a:rPr>
              <a:t>CE QUI MANQUAIT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099" y="3251200"/>
            <a:ext cx="5676900" cy="76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323C4C"/>
                </a:solidFill>
                <a:latin typeface="Arial"/>
              </a:rPr>
              <a:t>Scénario figé, sans éditeur, sans scoring soft-skills, sans 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0" y="4267199"/>
            <a:ext cx="5842000" cy="952499"/>
          </a:xfrm>
          <a:prstGeom prst="roundRect">
            <a:avLst/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2499" y="4445000"/>
            <a:ext cx="5461000" cy="698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6E56"/>
                </a:solidFill>
                <a:latin typeface="Arial"/>
              </a:rPr>
              <a:t>✓  </a:t>
            </a:r>
            <a:r>
              <a:rPr sz="1500" b="0">
                <a:solidFill>
                  <a:srgbClr val="0F6E56"/>
                </a:solidFill>
                <a:latin typeface="Arial"/>
              </a:rPr>
              <a:t>Comblé par la V3 : éditeur en graphe + scoring 7 SOSK + module IA.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8000" y="6362700"/>
            <a:ext cx="11176000" cy="0"/>
          </a:xfrm>
          <a:prstGeom prst="line">
            <a:avLst/>
          </a:prstGeom>
          <a:ln w="12700">
            <a:solidFill>
              <a:srgbClr val="CED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8000" y="6451600"/>
            <a:ext cx="8254999" cy="190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C96A5"/>
                </a:solidFill>
                <a:latin typeface="Arial"/>
              </a:rPr>
              <a:t>Livre interactif · accompagnement en fin de vie — PA MSE HES-SO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55599"/>
            <a:ext cx="8254999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6A0AF"/>
                </a:solidFill>
                <a:latin typeface="Arial"/>
              </a:rPr>
              <a:t>ÉTAT DE L'ART ·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584200"/>
            <a:ext cx="11176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447C"/>
                </a:solidFill>
                <a:latin typeface="Arial"/>
              </a:rPr>
              <a:t>Twine — récits dont vous êtes le héros</a:t>
            </a:r>
            <a:r>
              <a:rPr sz="3000" b="0">
                <a:solidFill>
                  <a:srgbClr val="8C96A5"/>
                </a:solidFill>
                <a:latin typeface="Arial"/>
              </a:rPr>
              <a:t>   édition en graphe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000" y="1587499"/>
            <a:ext cx="4826000" cy="406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ED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690828"/>
            <a:ext cx="4394200" cy="18573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42000" y="1727200"/>
            <a:ext cx="57150" cy="4826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7099" y="1714500"/>
            <a:ext cx="5676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F6E56"/>
                </a:solidFill>
                <a:latin typeface="Arial"/>
              </a:rPr>
              <a:t>APPORT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7099" y="1993899"/>
            <a:ext cx="5676900" cy="76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323C4C"/>
                </a:solidFill>
                <a:latin typeface="Arial"/>
              </a:rPr>
              <a:t>Édition visuelle en graphe, accessible aux non-codeurs.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0" y="2984500"/>
            <a:ext cx="57150" cy="482600"/>
          </a:xfrm>
          <a:prstGeom prst="rect">
            <a:avLst/>
          </a:prstGeom>
          <a:solidFill>
            <a:srgbClr val="B0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7099" y="2971800"/>
            <a:ext cx="5676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B0532B"/>
                </a:solidFill>
                <a:latin typeface="Arial"/>
              </a:rPr>
              <a:t>CE QUI MANQUAIT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099" y="3251200"/>
            <a:ext cx="5676900" cy="76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323C4C"/>
                </a:solidFill>
                <a:latin typeface="Arial"/>
              </a:rPr>
              <a:t>Générique, non médical, sans scoring ni 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0" y="4267199"/>
            <a:ext cx="5842000" cy="952499"/>
          </a:xfrm>
          <a:prstGeom prst="roundRect">
            <a:avLst/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2499" y="4445000"/>
            <a:ext cx="5461000" cy="698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6E56"/>
                </a:solidFill>
                <a:latin typeface="Arial"/>
              </a:rPr>
              <a:t>✓  </a:t>
            </a:r>
            <a:r>
              <a:rPr sz="1500" b="0">
                <a:solidFill>
                  <a:srgbClr val="0F6E56"/>
                </a:solidFill>
                <a:latin typeface="Arial"/>
              </a:rPr>
              <a:t>Comblé par la V3 : graphe spécialisé soins palliatifs + scoring + IA.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8000" y="6362700"/>
            <a:ext cx="11176000" cy="0"/>
          </a:xfrm>
          <a:prstGeom prst="line">
            <a:avLst/>
          </a:prstGeom>
          <a:ln w="12700">
            <a:solidFill>
              <a:srgbClr val="CED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8000" y="6451600"/>
            <a:ext cx="8254999" cy="190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C96A5"/>
                </a:solidFill>
                <a:latin typeface="Arial"/>
              </a:rPr>
              <a:t>Livre interactif · accompagnement en fin de vie — PA MSE HES-SO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55599"/>
            <a:ext cx="8254999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6A0AF"/>
                </a:solidFill>
                <a:latin typeface="Arial"/>
              </a:rPr>
              <a:t>ÉTAT DE L'ART ·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584200"/>
            <a:ext cx="11176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447C"/>
                </a:solidFill>
                <a:latin typeface="Arial"/>
              </a:rPr>
              <a:t>PERCS</a:t>
            </a:r>
            <a:r>
              <a:rPr sz="3000" b="0">
                <a:solidFill>
                  <a:srgbClr val="8C96A5"/>
                </a:solidFill>
                <a:latin typeface="Arial"/>
              </a:rPr>
              <a:t>   Boston Children's · Lamiani 2021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000" y="1587499"/>
            <a:ext cx="4826000" cy="406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ED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930871"/>
            <a:ext cx="4394200" cy="33772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42000" y="1727200"/>
            <a:ext cx="57150" cy="4826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7099" y="1714500"/>
            <a:ext cx="5676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F6E56"/>
                </a:solidFill>
                <a:latin typeface="Arial"/>
              </a:rPr>
              <a:t>APPORT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7099" y="1993899"/>
            <a:ext cx="5676900" cy="76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323C4C"/>
                </a:solidFill>
                <a:latin typeface="Arial"/>
              </a:rPr>
              <a:t>Entraînement clinique aux soft-skills, validé sur 12 ans.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0" y="2984500"/>
            <a:ext cx="57150" cy="482600"/>
          </a:xfrm>
          <a:prstGeom prst="rect">
            <a:avLst/>
          </a:prstGeom>
          <a:solidFill>
            <a:srgbClr val="B0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7099" y="2971800"/>
            <a:ext cx="5676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B0532B"/>
                </a:solidFill>
                <a:latin typeface="Arial"/>
              </a:rPr>
              <a:t>CE QUI MANQUAIT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099" y="3251200"/>
            <a:ext cx="5676900" cy="76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323C4C"/>
                </a:solidFill>
                <a:latin typeface="Arial"/>
              </a:rPr>
              <a:t>Présentiel, chronophage, difficile à mettre à l'échelle.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42000" y="4267199"/>
            <a:ext cx="5842000" cy="952499"/>
          </a:xfrm>
          <a:prstGeom prst="roundRect">
            <a:avLst/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2499" y="4445000"/>
            <a:ext cx="5461000" cy="698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6E56"/>
                </a:solidFill>
                <a:latin typeface="Arial"/>
              </a:rPr>
              <a:t>✓  </a:t>
            </a:r>
            <a:r>
              <a:rPr sz="1500" b="0">
                <a:solidFill>
                  <a:srgbClr val="0F6E56"/>
                </a:solidFill>
                <a:latin typeface="Arial"/>
              </a:rPr>
              <a:t>Comblé par la V3 : plateforme interactive, autonome et scalable.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8000" y="6362700"/>
            <a:ext cx="11176000" cy="0"/>
          </a:xfrm>
          <a:prstGeom prst="line">
            <a:avLst/>
          </a:prstGeom>
          <a:ln w="12700">
            <a:solidFill>
              <a:srgbClr val="CED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8000" y="6451600"/>
            <a:ext cx="8254999" cy="190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8C96A5"/>
                </a:solidFill>
                <a:latin typeface="Arial"/>
              </a:rPr>
              <a:t>Livre interactif · accompagnement en fin de vie — PA MSE HES-SO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
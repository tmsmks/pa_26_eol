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368299"/>
            <a:ext cx="7619999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96A0AF"/>
                </a:solidFill>
                <a:latin typeface="Arial"/>
              </a:rPr>
              <a:t>PERSPECTIVES · VERS LE MASTER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8950" y="622299"/>
            <a:ext cx="9525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14447C"/>
                </a:solidFill>
                <a:latin typeface="Arial"/>
              </a:rPr>
              <a:t>Les grands chantiers à venir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8000" y="1904999"/>
            <a:ext cx="3572933" cy="2070100"/>
          </a:xfrm>
          <a:prstGeom prst="roundRect">
            <a:avLst/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98500" y="21590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9147" y="2284844"/>
            <a:ext cx="155905" cy="205511"/>
          </a:xfrm>
          <a:prstGeom prst="roundRect">
            <a:avLst/>
          </a:prstGeom>
          <a:noFill/>
          <a:ln w="2540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4580" y="2262167"/>
            <a:ext cx="85039" cy="45354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70407" y="2394686"/>
            <a:ext cx="45354" cy="49606"/>
          </a:xfrm>
          <a:prstGeom prst="line">
            <a:avLst/>
          </a:prstGeom>
          <a:ln w="30480">
            <a:solidFill>
              <a:srgbClr val="1F5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15761" y="2345080"/>
            <a:ext cx="82204" cy="99212"/>
          </a:xfrm>
          <a:prstGeom prst="line">
            <a:avLst/>
          </a:prstGeom>
          <a:ln w="30480">
            <a:solidFill>
              <a:srgbClr val="1F5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270000" y="2146299"/>
            <a:ext cx="2683933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E8CB4"/>
                </a:solidFill>
                <a:latin typeface="Arial"/>
              </a:rPr>
              <a:t>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0000" y="2273300"/>
            <a:ext cx="2683933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4447C"/>
                </a:solidFill>
                <a:latin typeface="Arial"/>
              </a:rPr>
              <a:t>Étude utilisateur clinique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99" y="2857500"/>
            <a:ext cx="3115733" cy="76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23C4C"/>
                </a:solidFill>
                <a:latin typeface="Arial"/>
              </a:rPr>
              <a:t>Essai contrôlé avec cliniciens : mesure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23C4C"/>
                </a:solidFill>
                <a:latin typeface="Arial"/>
              </a:rPr>
              <a:t>avant / après et transfert sur le terrain.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9533" y="1904999"/>
            <a:ext cx="3572933" cy="2070100"/>
          </a:xfrm>
          <a:prstGeom prst="roundRect">
            <a:avLst/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00033" y="21590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12413" y="2374844"/>
            <a:ext cx="76535" cy="76535"/>
          </a:xfrm>
          <a:prstGeom prst="ellipse">
            <a:avLst/>
          </a:prstGeom>
          <a:noFill/>
          <a:ln w="2540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93987" y="2461300"/>
            <a:ext cx="113385" cy="70866"/>
          </a:xfrm>
          <a:prstGeom prst="roundRect">
            <a:avLst/>
          </a:prstGeom>
          <a:noFill/>
          <a:ln w="2540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68318" y="2374844"/>
            <a:ext cx="76535" cy="76535"/>
          </a:xfrm>
          <a:prstGeom prst="ellipse">
            <a:avLst/>
          </a:prstGeom>
          <a:noFill/>
          <a:ln w="2540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49893" y="2461300"/>
            <a:ext cx="113385" cy="70866"/>
          </a:xfrm>
          <a:prstGeom prst="roundRect">
            <a:avLst/>
          </a:prstGeom>
          <a:noFill/>
          <a:ln w="2540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90365" y="2278466"/>
            <a:ext cx="76535" cy="76535"/>
          </a:xfrm>
          <a:prstGeom prst="ellipse">
            <a:avLst/>
          </a:prstGeom>
          <a:noFill/>
          <a:ln w="2540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671940" y="2364922"/>
            <a:ext cx="113385" cy="70866"/>
          </a:xfrm>
          <a:prstGeom prst="roundRect">
            <a:avLst/>
          </a:prstGeom>
          <a:noFill/>
          <a:ln w="2540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71533" y="2146299"/>
            <a:ext cx="2683933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E8CB4"/>
                </a:solidFill>
                <a:latin typeface="Arial"/>
              </a:rPr>
              <a:t>MESURE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1533" y="2273300"/>
            <a:ext cx="2683933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4447C"/>
                </a:solidFill>
                <a:latin typeface="Arial"/>
              </a:rPr>
              <a:t>Référence multi-annotateurs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3533" y="2857500"/>
            <a:ext cx="3115733" cy="76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23C4C"/>
                </a:solidFill>
                <a:latin typeface="Arial"/>
              </a:rPr>
              <a:t>Plusieurs experts CHUV : accord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23C4C"/>
                </a:solidFill>
                <a:latin typeface="Arial"/>
              </a:rPr>
              <a:t>inter-juges et vérité-terrain fiable.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1066" y="1904999"/>
            <a:ext cx="3572933" cy="2070100"/>
          </a:xfrm>
          <a:prstGeom prst="roundRect">
            <a:avLst/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301566" y="21590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19615" y="2408859"/>
            <a:ext cx="51023" cy="85039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04654" y="2352167"/>
            <a:ext cx="51023" cy="14173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89694" y="2288387"/>
            <a:ext cx="51023" cy="205511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73066" y="2146299"/>
            <a:ext cx="2683933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E8CB4"/>
                </a:solidFill>
                <a:latin typeface="Arial"/>
              </a:rPr>
              <a:t>PÉDAGOGIE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3066" y="2273300"/>
            <a:ext cx="2683933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4447C"/>
                </a:solidFill>
                <a:latin typeface="Arial"/>
              </a:rPr>
              <a:t>Débrief pédagogique</a:t>
            </a:r>
          </a:p>
          <a:p>
            <a:pPr algn="l">
              <a:lnSpc>
                <a:spcPct val="100000"/>
              </a:lnSpc>
            </a:pPr>
            <a:r>
              <a:rPr sz="1550" b="1">
                <a:solidFill>
                  <a:srgbClr val="14447C"/>
                </a:solidFill>
                <a:latin typeface="Arial"/>
              </a:rPr>
              <a:t>explicable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5066" y="2857500"/>
            <a:ext cx="3115733" cy="76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23C4C"/>
                </a:solidFill>
                <a:latin typeface="Arial"/>
              </a:rPr>
              <a:t>Bilan personnalisé par SOSK après chaque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23C4C"/>
                </a:solidFill>
                <a:latin typeface="Arial"/>
              </a:rPr>
              <a:t>parcours ; rejouer ses points faibles.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8000" y="4229100"/>
            <a:ext cx="3572933" cy="2070100"/>
          </a:xfrm>
          <a:prstGeom prst="roundRect">
            <a:avLst/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98500" y="44831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7887" y="4598314"/>
            <a:ext cx="198424" cy="56692"/>
          </a:xfrm>
          <a:prstGeom prst="roundRect">
            <a:avLst/>
          </a:prstGeom>
          <a:noFill/>
          <a:ln w="2540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78123" y="4616739"/>
            <a:ext cx="19842" cy="19842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7887" y="4683353"/>
            <a:ext cx="198424" cy="56692"/>
          </a:xfrm>
          <a:prstGeom prst="roundRect">
            <a:avLst/>
          </a:prstGeom>
          <a:noFill/>
          <a:ln w="2540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78123" y="4701778"/>
            <a:ext cx="19842" cy="19842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27887" y="4768392"/>
            <a:ext cx="198424" cy="56692"/>
          </a:xfrm>
          <a:prstGeom prst="roundRect">
            <a:avLst/>
          </a:prstGeom>
          <a:noFill/>
          <a:ln w="2540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8123" y="4786817"/>
            <a:ext cx="19842" cy="19842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70000" y="4470400"/>
            <a:ext cx="2683933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E8CB4"/>
                </a:solidFill>
                <a:latin typeface="Arial"/>
              </a:rPr>
              <a:t>TECHNIQUE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70000" y="4597400"/>
            <a:ext cx="2683933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4447C"/>
                </a:solidFill>
                <a:latin typeface="Arial"/>
              </a:rPr>
              <a:t>Modèle ML local fine-tuné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999" y="5181599"/>
            <a:ext cx="3115733" cy="76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23C4C"/>
                </a:solidFill>
                <a:latin typeface="Arial"/>
              </a:rPr>
              <a:t>Entraîné sur des données internes CHUV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23C4C"/>
                </a:solidFill>
                <a:latin typeface="Arial"/>
              </a:rPr>
              <a:t>via Ollama, conforme RGPD.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09533" y="4229100"/>
            <a:ext cx="3572933" cy="2070100"/>
          </a:xfrm>
          <a:prstGeom prst="roundRect">
            <a:avLst/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500033" y="44831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684696" y="4577054"/>
            <a:ext cx="87873" cy="162991"/>
          </a:xfrm>
          <a:prstGeom prst="roundRect">
            <a:avLst/>
          </a:prstGeom>
          <a:noFill/>
          <a:ln w="25400">
            <a:solidFill>
              <a:srgbClr val="1F5F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" name="Connector 45"/>
          <p:cNvCxnSpPr/>
          <p:nvPr/>
        </p:nvCxnSpPr>
        <p:spPr>
          <a:xfrm>
            <a:off x="4728633" y="4775479"/>
            <a:ext cx="0" cy="70866"/>
          </a:xfrm>
          <a:prstGeom prst="line">
            <a:avLst/>
          </a:prstGeom>
          <a:ln w="30480">
            <a:solidFill>
              <a:srgbClr val="1F5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69105" y="4846345"/>
            <a:ext cx="119055" cy="0"/>
          </a:xfrm>
          <a:prstGeom prst="line">
            <a:avLst/>
          </a:prstGeom>
          <a:ln w="30480">
            <a:solidFill>
              <a:srgbClr val="1F5FA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71533" y="4470400"/>
            <a:ext cx="2683933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E8CB4"/>
                </a:solidFill>
                <a:latin typeface="Arial"/>
              </a:rPr>
              <a:t>IMMERSION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71533" y="4597400"/>
            <a:ext cx="2683933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4447C"/>
                </a:solidFill>
                <a:latin typeface="Arial"/>
              </a:rPr>
              <a:t>Interaction vocale &amp; 3D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63533" y="5181599"/>
            <a:ext cx="3115733" cy="76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23C4C"/>
                </a:solidFill>
                <a:latin typeface="Arial"/>
              </a:rPr>
              <a:t>Répondre à voix haute, analyse de la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23C4C"/>
                </a:solidFill>
                <a:latin typeface="Arial"/>
              </a:rPr>
              <a:t>prosodie ; patients MetaHuman.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11066" y="4229100"/>
            <a:ext cx="3572933" cy="2070100"/>
          </a:xfrm>
          <a:prstGeom prst="roundRect">
            <a:avLst/>
          </a:prstGeom>
          <a:solidFill>
            <a:srgbClr val="E9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301566" y="448310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Quad Arrow 52"/>
          <p:cNvSpPr/>
          <p:nvPr/>
        </p:nvSpPr>
        <p:spPr>
          <a:xfrm>
            <a:off x="8395521" y="4577054"/>
            <a:ext cx="269290" cy="269290"/>
          </a:xfrm>
          <a:prstGeom prst="quadArrow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73066" y="4470400"/>
            <a:ext cx="2683933" cy="165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6E8CB4"/>
                </a:solidFill>
                <a:latin typeface="Arial"/>
              </a:rPr>
              <a:t>ÉCHELLE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73066" y="4597400"/>
            <a:ext cx="2683933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4447C"/>
                </a:solidFill>
                <a:latin typeface="Arial"/>
              </a:rPr>
              <a:t>Passage à l'échelle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5066" y="5181599"/>
            <a:ext cx="3115733" cy="76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23C4C"/>
                </a:solidFill>
                <a:latin typeface="Arial"/>
              </a:rPr>
              <a:t>Multilingue (DE / IT), validation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323C4C"/>
                </a:solidFill>
                <a:latin typeface="Arial"/>
              </a:rPr>
              <a:t>psychométrique, oncologie &amp; urgences.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508000" y="6362700"/>
            <a:ext cx="11176000" cy="0"/>
          </a:xfrm>
          <a:prstGeom prst="line">
            <a:avLst/>
          </a:prstGeom>
          <a:ln w="12700">
            <a:solidFill>
              <a:srgbClr val="CED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08000" y="6451600"/>
            <a:ext cx="7619999" cy="190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8C96A5"/>
                </a:solidFill>
                <a:latin typeface="Arial"/>
              </a:rPr>
              <a:t>Livre interactif · accompagnement en fin de vie — PA MSE HES-SO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303000" y="6451600"/>
            <a:ext cx="380999" cy="1904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8C96A5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
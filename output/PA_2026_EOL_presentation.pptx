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Je m'appelle Thomas Maksimous et je vais vous présenter mon projet d'approfondissement de Master, intitulé « Interactive Book for Medical Staff dealing with End-of-life Patients ». L'idée centrale : utiliser la narration interactive et l'intelligence artificielle pour entraîner les soignants à la communication en fin de vie. Ce travail a été encadré par le Professeur Stéphane Gobron à la HES-SO, avec l'expertise clinique de la Docteure Claudia Gamondi, médecin en soins palliatifs au CHUV. C'est un projet à trois partenaires : la HES-SO, le CHUV et l'Université de Lausanne.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 contexte. Prendre en charge un patient en fin de vie, ce n'est pas seulement une question de compétence clinique. Le soignant doit mobiliser des compétences relationnelles très fines — ce qu'on appelle les soft skills : l'empathie, le respect, la compassion — face au deuil et à la détresse.
Aujourd'hui, on enseigne ça surtout par des jeux de rôle en petits groupes. C'est efficace pédagogiquement, mais c'est lourd : ça prend du temps, ça demande des formateurs spécialisés, et c'est très difficile à mettre à l'échelle.
C'est là qu'interviennent les serious games. Mon projet part d'un jeu sérieux en 3D existant, « End of Life », développé à la HES-SO avec le CHUV. La question de fond qu'il pose est forte : que signifie soigner lorsque guérir n'est plus l'objectif ? L'enjeu est d'offrir un cadre d'entraînement immersif et sécurisé, avant la confrontation à de vraies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 l'application existante présentait deux verrous majeurs, et ce sont eux qui définissent tout mon projet.
Premier verrou : le contenu était figé. Les scénarios étaient stockés dans des gros fichiers JSON statiques. Concrètement, un médecin ou un formateur qui n'est pas informaticien ne pouvait absolument pas modifier un dialogue ou ajouter une branche. Le contenu pédagogique était prisonnier du code.
Deuxième verrou : l'évaluation était superficielle. Le scoring se limitait à trois axes fixes — empathie, respect, compassion — sans aucune analyse sémantique des choix faits par l'apprenant.
Le besoin était donc double : rendre l'outil flexible et accessible aux experts métier, et lui donner une intelligence capable d'épauler à la fois les créateurs de contenu et les apprenants.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point important sur le périmètre. Le jeu sérieux 3D « End of Life », développé sous Unity, est le projet existant du Professeur Gobron, avec le CHUV. C'est la base sur laquelle je me suis greffé.
Ma contribution, dans le cadre de ce projet d'approfondissement, ce sont deux briques que j'ai développées.
La première, c'est une interface d'administration en graphe : un outil web visuel qui permet de voir, créer, modifier et supprimer les blocs narratifs et les branches d'un scénario — sans écrire une ligne de code.
La seconde, et c'est le cœur de mon travail en Data Science, c'est le module d'intelligence artificielle, sur deux fronts. Côté création, l'IA génère des propositions de réponses orientées pédagogiquement. Côté évaluation, elle propose un scoring sémantique et explicable des choix.
Le fil rouge des deux : le principe « human-in-the-loop » — l'IA propose, mais c'est toujours l'humain qui valide.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de construire, j'ai cadré l'état de l'art autour de quatre axes qui convergent vers le projet.
Premier axe, les applications pour soignants : il en existe beaucoup pour l'aide à la décision ou la gestion du burn-out, mais très peu entraînent activement les compétences relationnelles.
Deuxième axe, les serious games de fin de vie : le cadre « Live, Die, Repeat » est emblématique — dans une étude, 88 % des résidents se sentaient plus confiants après la simulation.
Troisième axe, les « livres dont vous êtes le héros » et des outils comme Twine : ils popularisent le récit à embranchements, où chaque choix devient une arête dans un graphe. C'est exactement la structure que je réutilise.
Quatrième axe, l'évaluation des soft skills : avec des cadres cliniques comme PERCS, des échelles validées comme l'IRI ou la Jefferson Scale, et des approches par machine learning.
La lacune que je cible se situe précisément à l'intersection : un environnement narratif interactif qui entraîne ET évalue les compétences relationnelles.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méthode, en commençant par le modèle de données.
Le format narratif d'origine est hiérarchique : un Chapitre contient des Scènes, qui contiennent des Interactions, qui contiennent des Réponses. J'ai conservé cette structure JSON pour rester totalement compatible avec le moteur Unity existant — c'était une contrainte forte.
Mon apport, c'est de transformer cette hiérarchie en graphe orienté, via un service dédié, le graph_service. Chaque Interaction devient un nœud, et chaque Réponse devient une arête, grâce au champ « NextInteractionID » qui pointe vers l'interaction suivante. Quand ce champ vaut moins un, c'est une fin de branche. Cette représentation rend les embranchements, les retours et les impasses immédiatement visibles.
Deuxième évolution importante : j'ai étendu le scoring de trois à sept dimensions de soft skills — respect, empathie, compassion, régulation émotionnelle, clarté, frontières professionnelles et collaboration — chacune notée sur une échelle de moins trois à plus trois.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plan logiciel, j'ai fait le choix d'une Clean Architecture, organisée en couches.
Tout en bas, la couche Domaine contient des modèles métier purs — Chapter, Scene, Interaction, etc. — totalement indépendants du web, de l'IA et de la persistance. Au-dessus, l'Infrastructure gère la lecture-écriture des fichiers JSON via un Repository. Puis la couche Application porte la logique : construction du graphe, validation, enrichissement IA. Et enfin la Présentation expose les pages web et l'API REST.
L'intérêt, c'est qu'on peut remplacer un composant sans toucher au reste — par exemple changer de backend IA sans modifier le modèle de domaine.
Côté stack, c'est volontairement léger et mature : Python avec Flask, des templates Jinja2, du JavaScript natif sans étape de build, et la bibliothèque vis-network pour afficher les graphes. Le résultat, c'est un code testable et maintenable au-delà de la durée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premier livrable concret : l'interface d'administration. À gauche, l'éditeur affiche le scénario sous forme de graphe interactif, avec la liste des scènes, le graphe central, et un panneau de propriétés pour éditer.
L'auteur dispose d'une édition CRUD complète : il modifie les textes, les noms, les scores et les références narratives.
Trois fonctionnalités sont particulièrement importantes. D'abord, une validation en temps réel : si une réponse pointe vers une interaction qui n'existe pas, l'erreur est signalée visuellement, ce qui évite les branches cassées. Ensuite, une sauvegarde atomique : on écrit d'abord dans un fichier temporaire, puis on remplace l'original en une seule opération — donc aucune corruption possible si l'écriture est interrompue. Enfin, un mode parcours joueur, qui permet de simuler une session et de vérifier les scores cumulés directement dans le navigateur, sans relancer Unity.
J'ai aussi ajouté un export Mermaid, qui produit une version textuelle et versionnable du scénario, lisible directement sur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livrable, le cœur Data Science : le module d'intelligence artificielle.
Le flux est le suivant : l'auteur règle des paramètres — notamment des curseurs de moins trois à plus trois sur les sept dimensions. Le système construit le contexte narratif, formate le message, l'envoie à un backend LLM, filtre les propositions trop proches de réponses existantes, et — point essentiel — soumet le tout à la validation humaine. Aucune réponse générée n'entre automatiquement dans un scénario.
Le module rend deux services. La génération orientée : l'auteur fixe une cible sur les dimensions, et le LLM produit des réponses cohérentes avec la branche narrative, accompagnées d'une justification. Et le scoring assisté : sur une réponse existante, le LLM propose un vecteur de scores sur les sept dimensions, là aussi avec une justification explicable.
Enfin, j'ai utilisé un pattern Strategy : le backend se choisit par une simple variable d'environnement. On bascule entre OpenAI — orienté qualité et rapidité — et Ollama, un modèle local orienté confidentialité et conformité RGPD, sans modifier le code applicatif.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Entrons dans le détail de ma première fonctionnalité IA : la génération de nouvelles réponses.
Le principe, c'est que l'auteur ne demande pas seulement « une réponse plausible » : il oriente la génération. Concrètement, il fournit l'interaction courante et l'interaction cible, il règle les sept curseurs de soft skills entre moins trois et plus trois, et il peut ajouter une consigne libre sur le ton. À cela, le système ajoute automatiquement le contexte narratif : la scène, le personnage et les réponses déjà existantes.
Côté pipeline : je construis le contexte, je formate un message système et un message utilisateur, j'appelle le backend LLM, puis je filtre les propositions trop proches de réponses existantes pour éviter les doublons.
Le résultat, à droite, c'est une proposition complète : le texte, une catégorie — ici « exemplaire » — les scores obtenus, et surtout une justification. Et rien n'est inséré automatiquement : l'auteur relit, puis accepte ou rejette. C'est le human-in-the-loop.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seconde fonctionnalité IA, c'est le scoring assisté. Le module ne sert pas qu'à créer : il sait aussi évaluer.
En entrée, on lui donne le texte d'une réponse — existante ou fraîchement proposée — avec son contexte narratif. Le traitement est similaire : je construis un prompt, j'appelle le LLM, et j'obtiens en sortie un JSON structuré : un vecteur de sept scores plus une justification.
À droite, vous voyez ce vecteur sur les sept dimensions, chacune positionnée sur l'échelle de moins trois à plus trois. L'intérêt majeur, c'est la justification textuelle, en bas : elle explique pourquoi tel score a été attribué, ce qui rend l'évaluation transparente pour le formateur.
Là encore, l'auteur garde la main : il accepte, corrige ou rejette le score proposé. Et cette fonctionnalité, je l'ai validée sur le terrain — j'y reviens dans les résultats — avec une erreur absolue moyenne de 0,77 par rapport aux scores humains.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Plutôt que de vous décrire l'outil, je vous propose maintenant une démonstration en direct.
Je vais d'abord charger un livre pédagogique et vous montrer le scénario sous forme de graphe : on voit immédiatement les embranchements et les fins de branche. Ensuite, je sélectionne une interaction et j'édite une réponse, en ajustant les curseurs de soft skills. Puis je lance la génération assistée par l'IA : vous verrez les propositions arriver avec leurs scores et leur justification — et c'est moi qui valide ou rejette, c'est le principe du human-in-the-loop. Enfin, je bascule en mode parcours joueur pour suivre une branche et observer les scores cumulés, le tout sans relancer Unity.
[Si la démo live échoue, j'ai des captures d'écran de secours.] Revenons maintenant aux résultats chiffrés de ces fonctionnalités.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résultats, en commençant par la génération orientée.
J'ai mené une campagne d'évaluation sur 50 générations : 10 interactions distinctes croisées avec 5 profils pédagogiques, avec le backend OpenAI.
Le résultat est net : 100 % de conformité aux scores cibles, 50 générations réussies sur 50, zéro erreur de format, et un temps moyen de 4,6 secondes par génération.
Qualitativement, c'est cohérent : les profils dits « problématiques » produisent des formulations froides ou maladroites, tandis que les profils « exemplaires » génèrent des réponses attentives et respectueuses. Mais je reste prudent : respecter un score ne garantit pas la pertinence clinique ni le bon ton — d'où l'importance de la validation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Venons-en au scoring assisté, qui est la partie la plus exigeante.
J'ai comparé les scores proposés par l'IA aux scores humains de référence, sur 15 réponses déjà notées du livre End of Life. La métrique est l'erreur absolue moyenne, la MAE.
Le résultat global est une MAE de 0,77, sur une échelle de 7 niveaux allant de moins trois à plus trois. Mais le plus intéressant, c'est la lecture par dimension, sur ce graphique.
Les dimensions les plus explicites sont très bien prédites : la collaboration interprofessionnelle est à 0,13, la régulation émotionnelle à 0,60 — parce qu'elles reposent sur des indices textuels visibles.
À l'inverse, l'empathie et la compassion sont les plus difficiles, à 1,33 et 1,07. Et c'est cohérent avec la littérature : ce sont des notions subjectives et souvent partiellement superposées. Conclusion : l'IA est une vraie aide à l'évaluation, mais elle ne remplace pas le jugement de l'expert.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Comparons maintenant les deux backends, et faisons le point sur la validation technique.
Sur dix prompts identiques : les deux produisent du JSON valide à chaque fois. OpenAI atteint 100 % de conformité contre 91,3 % pour Ollama. La grande différence est le temps : 9 secondes pour OpenAI, contre 98 secondes pour Ollama en local. En contrepartie, Ollama garde toutes les données sur la machine du formateur — c'est l'argument RGPD. Le compromis est donc assumé : OpenAI pour la qualité et la rapidité, Ollama pour la confidentialité.
Côté validation technique, à droite : 27 tests automatisés avec pytest, tous au vert. Ils couvrent les composants critiques. La plateforme gère deux livres pédagogiques réels, soit 438 interactions et 1 232 arêtes. Et surtout, le round-trip JSON et la sauvegarde atomique ont été validés sur les fichiers réels du projet : on lit et on réécrit sans jamais perdre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Quelques mots de recul critique, car c'est important.
Première limite : cette conformité de 100 % est à interpréter avec prudence. Respecter un score cible n'est pas la même chose que porter la bonne intention narrative. Et l'IA n'analyse que du texte : le ton, les silences, le non-verbal — pourtant essentiels en fin de vie — lui échappent.
Deuxième limite : ma référence de scoring est fragile. Les scores humains ont été fixés par un seul annotateur, sur seulement 15 réponses. Un accord inter-annotateurs, mesuré par exemple avec le kappa de Cohen, serait nécessaire pour établir un vrai gold standard.
Troisième limite : je n'ai pas encore mené de test utilisateur formel. L'ergonomie réelle reste à valider avec des formateurs et des cliniciens du CHUV.
Sur le plan éthique enfin, le point clé est le human-in-the-loop. Ces scénarios touchent au deuil et à la détresse. Aucune proposition de l'IA n'est intégrée automatiquement : l'IA propose des réponses, des scores et des justifications, mais la responsabilité finale reste entre les mains du formateur clinique.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conclusion, le projet a transformé un jeu sérieux figé en une plateforme intelligente et maintenable, autour de trois contributions.
Une : une interface en graphe, avec édition complète, validation en temps réel et mode parcours joueur, qui gère 438 interactions et 1 232 arêtes, avec un round-trip Unity exact à 100 %.
Deux : un module d'IA explicable, qui atteint 100 % de conformité en génération, une MAE de 0,77 pour le scoring, avec des justifications textuelles et un double backend cloud et local compatible RGPD.
Trois : une architecture durable, en couches, avec des modèles métier purs et 27 tests — au point qu'ajouter un nouveau livre ne demande que deux étapes.
Au final, les objectifs de départ et les exigences du cahier des charges sont atteints.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Quelles perspectives ? Plusieurs pistes, du plus proche au plus ambitieux.
À court terme : mener un vrai test d'utilisabilité avec des questionnaires standardisés, ajouter un scoring en lot exportable, et consolider la référence avec un accord inter-annotateurs sur tout le livre.
Plus ambitieux : un scoring dynamique côté joueur, où le LLM analyserait les réponses de l'apprenant en temps réel pendant la simulation, pour fournir un feedback formatif personnalisé.
Ensuite, le fine-tuning d'un modèle spécialisé, entraîné sur des réponses annotées par les experts du CHUV et déployé localement via Ollama — ce qui combinerait performance et RGPD.
Et enfin, l'extension à d'autres contextes critiques — oncologie, urgences, gériatrie — et une immersion renforcée, avec des expressions faciales d'avatars pilotées par 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qui conclut ma présentation. Je vous remercie pour votre attention, et je suis maintenant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828800" y="-1828800"/>
            <a:ext cx="3840480" cy="3840480"/>
          </a:xfrm>
          <a:prstGeom prst="ellipse">
            <a:avLst/>
          </a:prstGeom>
          <a:solidFill>
            <a:srgbClr val="E3EDFF"/>
          </a:solidFill>
          <a:ln/>
        </p:spPr>
      </p:sp>
      <p:sp>
        <p:nvSpPr>
          <p:cNvPr id="4" name="Shape 2"/>
          <p:cNvSpPr/>
          <p:nvPr/>
        </p:nvSpPr>
        <p:spPr>
          <a:xfrm>
            <a:off x="-1005840" y="-1005840"/>
            <a:ext cx="2194560" cy="2194560"/>
          </a:xfrm>
          <a:prstGeom prst="ellipse">
            <a:avLst/>
          </a:prstGeom>
          <a:solidFill>
            <a:srgbClr val="76A3EE"/>
          </a:solidFill>
          <a:ln/>
        </p:spPr>
      </p:sp>
      <p:sp>
        <p:nvSpPr>
          <p:cNvPr id="5" name="Shape 3"/>
          <p:cNvSpPr/>
          <p:nvPr/>
        </p:nvSpPr>
        <p:spPr>
          <a:xfrm>
            <a:off x="10698480" y="4937760"/>
            <a:ext cx="2834640" cy="2834640"/>
          </a:xfrm>
          <a:prstGeom prst="ellipse">
            <a:avLst/>
          </a:prstGeom>
          <a:solidFill>
            <a:srgbClr val="385CB0"/>
          </a:solidFill>
          <a:ln/>
        </p:spPr>
      </p:sp>
      <p:sp>
        <p:nvSpPr>
          <p:cNvPr id="6" name="Shape 4"/>
          <p:cNvSpPr/>
          <p:nvPr/>
        </p:nvSpPr>
        <p:spPr>
          <a:xfrm>
            <a:off x="11430000" y="5669280"/>
            <a:ext cx="1463040" cy="1463040"/>
          </a:xfrm>
          <a:prstGeom prst="ellipse">
            <a:avLst/>
          </a:prstGeom>
          <a:solidFill>
            <a:srgbClr val="76A3EE"/>
          </a:solidFill>
          <a:ln/>
        </p:spPr>
      </p:sp>
      <p:sp>
        <p:nvSpPr>
          <p:cNvPr id="7" name="Shape 5"/>
          <p:cNvSpPr/>
          <p:nvPr/>
        </p:nvSpPr>
        <p:spPr>
          <a:xfrm>
            <a:off x="10544861" y="868680"/>
            <a:ext cx="124358" cy="365760"/>
          </a:xfrm>
          <a:prstGeom prst="roundRect">
            <a:avLst>
              <a:gd name="adj" fmla="val 28000"/>
            </a:avLst>
          </a:prstGeom>
          <a:solidFill>
            <a:srgbClr val="76A3EE"/>
          </a:solidFill>
          <a:ln/>
        </p:spPr>
      </p:sp>
      <p:sp>
        <p:nvSpPr>
          <p:cNvPr id="8" name="Shape 6"/>
          <p:cNvSpPr/>
          <p:nvPr/>
        </p:nvSpPr>
        <p:spPr>
          <a:xfrm>
            <a:off x="10424160" y="989381"/>
            <a:ext cx="365760" cy="124358"/>
          </a:xfrm>
          <a:prstGeom prst="roundRect">
            <a:avLst>
              <a:gd name="adj" fmla="val 28000"/>
            </a:avLst>
          </a:prstGeom>
          <a:solidFill>
            <a:srgbClr val="76A3EE"/>
          </a:solidFill>
          <a:ln/>
        </p:spPr>
      </p:sp>
      <p:sp>
        <p:nvSpPr>
          <p:cNvPr id="9" name="Shape 7"/>
          <p:cNvSpPr/>
          <p:nvPr/>
        </p:nvSpPr>
        <p:spPr>
          <a:xfrm>
            <a:off x="9502811" y="1737360"/>
            <a:ext cx="87051" cy="256032"/>
          </a:xfrm>
          <a:prstGeom prst="roundRect">
            <a:avLst>
              <a:gd name="adj" fmla="val 28000"/>
            </a:avLst>
          </a:prstGeom>
          <a:solidFill>
            <a:srgbClr val="E3EDFF"/>
          </a:solidFill>
          <a:ln/>
        </p:spPr>
      </p:sp>
      <p:sp>
        <p:nvSpPr>
          <p:cNvPr id="10" name="Shape 8"/>
          <p:cNvSpPr/>
          <p:nvPr/>
        </p:nvSpPr>
        <p:spPr>
          <a:xfrm>
            <a:off x="9418320" y="1821851"/>
            <a:ext cx="256032" cy="87051"/>
          </a:xfrm>
          <a:prstGeom prst="roundRect">
            <a:avLst>
              <a:gd name="adj" fmla="val 28000"/>
            </a:avLst>
          </a:prstGeom>
          <a:solidFill>
            <a:srgbClr val="E3EDFF"/>
          </a:solidFill>
          <a:ln/>
        </p:spPr>
      </p:sp>
      <p:sp>
        <p:nvSpPr>
          <p:cNvPr id="11" name="Shape 9"/>
          <p:cNvSpPr/>
          <p:nvPr/>
        </p:nvSpPr>
        <p:spPr>
          <a:xfrm>
            <a:off x="502006" y="4206240"/>
            <a:ext cx="93269" cy="274320"/>
          </a:xfrm>
          <a:prstGeom prst="roundRect">
            <a:avLst>
              <a:gd name="adj" fmla="val 28000"/>
            </a:avLst>
          </a:prstGeom>
          <a:solidFill>
            <a:srgbClr val="E3EDFF"/>
          </a:solidFill>
          <a:ln/>
        </p:spPr>
      </p:sp>
      <p:sp>
        <p:nvSpPr>
          <p:cNvPr id="12" name="Shape 10"/>
          <p:cNvSpPr/>
          <p:nvPr/>
        </p:nvSpPr>
        <p:spPr>
          <a:xfrm>
            <a:off x="411480" y="4296766"/>
            <a:ext cx="274320" cy="93269"/>
          </a:xfrm>
          <a:prstGeom prst="roundRect">
            <a:avLst>
              <a:gd name="adj" fmla="val 28000"/>
            </a:avLst>
          </a:prstGeom>
          <a:solidFill>
            <a:srgbClr val="E3EDFF"/>
          </a:solidFill>
          <a:ln/>
        </p:spPr>
      </p:sp>
      <p:sp>
        <p:nvSpPr>
          <p:cNvPr id="13" name="Shape 11"/>
          <p:cNvSpPr/>
          <p:nvPr/>
        </p:nvSpPr>
        <p:spPr>
          <a:xfrm>
            <a:off x="914400" y="1828800"/>
            <a:ext cx="82296" cy="82296"/>
          </a:xfrm>
          <a:prstGeom prst="ellipse">
            <a:avLst/>
          </a:prstGeom>
          <a:solidFill>
            <a:srgbClr val="385CB0"/>
          </a:solidFill>
          <a:ln/>
        </p:spPr>
      </p:sp>
      <p:sp>
        <p:nvSpPr>
          <p:cNvPr id="14" name="Shape 12"/>
          <p:cNvSpPr/>
          <p:nvPr/>
        </p:nvSpPr>
        <p:spPr>
          <a:xfrm>
            <a:off x="1115568" y="1828800"/>
            <a:ext cx="82296" cy="82296"/>
          </a:xfrm>
          <a:prstGeom prst="ellipse">
            <a:avLst/>
          </a:prstGeom>
          <a:solidFill>
            <a:srgbClr val="76A3EE"/>
          </a:solidFill>
          <a:ln/>
        </p:spPr>
      </p:sp>
      <p:sp>
        <p:nvSpPr>
          <p:cNvPr id="15" name="Shape 13"/>
          <p:cNvSpPr/>
          <p:nvPr/>
        </p:nvSpPr>
        <p:spPr>
          <a:xfrm>
            <a:off x="1316736" y="1828800"/>
            <a:ext cx="82296" cy="82296"/>
          </a:xfrm>
          <a:prstGeom prst="ellipse">
            <a:avLst/>
          </a:prstGeom>
          <a:solidFill>
            <a:srgbClr val="76A3EE"/>
          </a:solidFill>
          <a:ln/>
        </p:spPr>
      </p:sp>
      <p:sp>
        <p:nvSpPr>
          <p:cNvPr id="16" name="Shape 14"/>
          <p:cNvSpPr/>
          <p:nvPr/>
        </p:nvSpPr>
        <p:spPr>
          <a:xfrm>
            <a:off x="1517904" y="1828800"/>
            <a:ext cx="82296" cy="82296"/>
          </a:xfrm>
          <a:prstGeom prst="ellipse">
            <a:avLst/>
          </a:prstGeom>
          <a:solidFill>
            <a:srgbClr val="76A3EE"/>
          </a:solidFill>
          <a:ln/>
        </p:spPr>
      </p:sp>
      <p:sp>
        <p:nvSpPr>
          <p:cNvPr id="17" name="Shape 15"/>
          <p:cNvSpPr/>
          <p:nvPr/>
        </p:nvSpPr>
        <p:spPr>
          <a:xfrm>
            <a:off x="1719072" y="1828800"/>
            <a:ext cx="82296" cy="82296"/>
          </a:xfrm>
          <a:prstGeom prst="ellipse">
            <a:avLst/>
          </a:prstGeom>
          <a:solidFill>
            <a:srgbClr val="76A3EE"/>
          </a:solidFill>
          <a:ln/>
        </p:spPr>
      </p:sp>
      <p:sp>
        <p:nvSpPr>
          <p:cNvPr id="18" name="Shape 16"/>
          <p:cNvSpPr/>
          <p:nvPr/>
        </p:nvSpPr>
        <p:spPr>
          <a:xfrm>
            <a:off x="914400" y="2240280"/>
            <a:ext cx="566928" cy="566928"/>
          </a:xfrm>
          <a:prstGeom prst="ellipse">
            <a:avLst/>
          </a:prstGeom>
          <a:solidFill>
            <a:srgbClr val="385CB0"/>
          </a:solidFill>
          <a:ln/>
        </p:spPr>
      </p:sp>
      <p:sp>
        <p:nvSpPr>
          <p:cNvPr id="19" name="Shape 17"/>
          <p:cNvSpPr/>
          <p:nvPr/>
        </p:nvSpPr>
        <p:spPr>
          <a:xfrm>
            <a:off x="1155458" y="2399020"/>
            <a:ext cx="84812" cy="249448"/>
          </a:xfrm>
          <a:prstGeom prst="roundRect">
            <a:avLst>
              <a:gd name="adj" fmla="val 28000"/>
            </a:avLst>
          </a:prstGeom>
          <a:solidFill>
            <a:srgbClr val="FFFFFF"/>
          </a:solidFill>
          <a:ln/>
        </p:spPr>
      </p:sp>
      <p:sp>
        <p:nvSpPr>
          <p:cNvPr id="20" name="Shape 18"/>
          <p:cNvSpPr/>
          <p:nvPr/>
        </p:nvSpPr>
        <p:spPr>
          <a:xfrm>
            <a:off x="1073140" y="2481338"/>
            <a:ext cx="249448" cy="84812"/>
          </a:xfrm>
          <a:prstGeom prst="roundRect">
            <a:avLst>
              <a:gd name="adj" fmla="val 28000"/>
            </a:avLst>
          </a:prstGeom>
          <a:solidFill>
            <a:srgbClr val="FFFFFF"/>
          </a:solidFill>
          <a:ln/>
        </p:spPr>
      </p:sp>
      <p:sp>
        <p:nvSpPr>
          <p:cNvPr id="21" name="Text 19"/>
          <p:cNvSpPr/>
          <p:nvPr/>
        </p:nvSpPr>
        <p:spPr>
          <a:xfrm>
            <a:off x="914400" y="2971800"/>
            <a:ext cx="10058400" cy="320040"/>
          </a:xfrm>
          <a:prstGeom prst="rect">
            <a:avLst/>
          </a:prstGeom>
          <a:noFill/>
          <a:ln/>
        </p:spPr>
        <p:txBody>
          <a:bodyPr wrap="square" rtlCol="0" anchor="ctr"/>
          <a:lstStyle/>
          <a:p>
            <a:pPr indent="0" marL="0">
              <a:buNone/>
            </a:pPr>
            <a:r>
              <a:rPr lang="en-US" sz="1300" b="1" spc="200" kern="0" dirty="0">
                <a:solidFill>
                  <a:srgbClr val="0097A7"/>
                </a:solidFill>
                <a:latin typeface="Assistant" pitchFamily="34" charset="0"/>
                <a:ea typeface="Assistant" pitchFamily="34" charset="-122"/>
                <a:cs typeface="Assistant" pitchFamily="34" charset="-120"/>
              </a:rPr>
              <a:t>PROJET D'APPROFONDISSEMENT (PA) · MSE HES-SO · Nº 2026-01</a:t>
            </a:r>
            <a:endParaRPr lang="en-US" sz="1300" dirty="0"/>
          </a:p>
        </p:txBody>
      </p:sp>
      <p:sp>
        <p:nvSpPr>
          <p:cNvPr id="22" name="Text 20"/>
          <p:cNvSpPr/>
          <p:nvPr/>
        </p:nvSpPr>
        <p:spPr>
          <a:xfrm>
            <a:off x="914400" y="3291840"/>
            <a:ext cx="9692640" cy="1463040"/>
          </a:xfrm>
          <a:prstGeom prst="rect">
            <a:avLst/>
          </a:prstGeom>
          <a:noFill/>
          <a:ln/>
        </p:spPr>
        <p:txBody>
          <a:bodyPr wrap="square" rtlCol="0" anchor="ctr"/>
          <a:lstStyle/>
          <a:p>
            <a:pPr indent="0" marL="0">
              <a:lnSpc>
                <a:spcPct val="100000"/>
              </a:lnSpc>
              <a:buNone/>
            </a:pPr>
            <a:r>
              <a:rPr lang="en-US" sz="3800" b="1" dirty="0">
                <a:solidFill>
                  <a:srgbClr val="001B58"/>
                </a:solidFill>
                <a:latin typeface="Archivo" pitchFamily="34" charset="0"/>
                <a:ea typeface="Archivo" pitchFamily="34" charset="-122"/>
                <a:cs typeface="Archivo" pitchFamily="34" charset="-120"/>
              </a:rPr>
              <a:t>Interactive Book for Medical Staff</a:t>
            </a:r>
            <a:endParaRPr lang="en-US" sz="3800" dirty="0"/>
          </a:p>
          <a:p>
            <a:pPr indent="0" marL="0">
              <a:lnSpc>
                <a:spcPct val="100000"/>
              </a:lnSpc>
              <a:buNone/>
            </a:pPr>
            <a:r>
              <a:rPr lang="en-US" sz="3800" b="1" dirty="0">
                <a:solidFill>
                  <a:srgbClr val="001B58"/>
                </a:solidFill>
                <a:latin typeface="Archivo" pitchFamily="34" charset="0"/>
                <a:ea typeface="Archivo" pitchFamily="34" charset="-122"/>
                <a:cs typeface="Archivo" pitchFamily="34" charset="-120"/>
              </a:rPr>
              <a:t>dealing with End-of-life Patients</a:t>
            </a:r>
            <a:endParaRPr lang="en-US" sz="3800" dirty="0"/>
          </a:p>
        </p:txBody>
      </p:sp>
      <p:sp>
        <p:nvSpPr>
          <p:cNvPr id="23" name="Text 21"/>
          <p:cNvSpPr/>
          <p:nvPr/>
        </p:nvSpPr>
        <p:spPr>
          <a:xfrm>
            <a:off x="932688" y="4754880"/>
            <a:ext cx="9144000" cy="457200"/>
          </a:xfrm>
          <a:prstGeom prst="rect">
            <a:avLst/>
          </a:prstGeom>
          <a:noFill/>
          <a:ln/>
        </p:spPr>
        <p:txBody>
          <a:bodyPr wrap="square" rtlCol="0" anchor="ctr"/>
          <a:lstStyle/>
          <a:p>
            <a:pPr indent="0" marL="0">
              <a:buNone/>
            </a:pPr>
            <a:r>
              <a:rPr lang="en-US" sz="1900" i="1" dirty="0">
                <a:solidFill>
                  <a:srgbClr val="385CB0"/>
                </a:solidFill>
                <a:latin typeface="Assistant" pitchFamily="34" charset="0"/>
                <a:ea typeface="Assistant" pitchFamily="34" charset="-122"/>
                <a:cs typeface="Assistant" pitchFamily="34" charset="-120"/>
              </a:rPr>
              <a:t>Storytelling &amp; soft-skills consistencies using AI</a:t>
            </a:r>
            <a:endParaRPr lang="en-US" sz="1900" dirty="0"/>
          </a:p>
        </p:txBody>
      </p:sp>
      <p:sp>
        <p:nvSpPr>
          <p:cNvPr id="24" name="Text 22"/>
          <p:cNvSpPr/>
          <p:nvPr/>
        </p:nvSpPr>
        <p:spPr>
          <a:xfrm>
            <a:off x="932688" y="5440680"/>
            <a:ext cx="10058400" cy="1005840"/>
          </a:xfrm>
          <a:prstGeom prst="rect">
            <a:avLst/>
          </a:prstGeom>
          <a:noFill/>
          <a:ln/>
        </p:spPr>
        <p:txBody>
          <a:bodyPr wrap="square" rtlCol="0" anchor="ctr"/>
          <a:lstStyle/>
          <a:p>
            <a:pPr indent="0" marL="0">
              <a:lnSpc>
                <a:spcPct val="130000"/>
              </a:lnSpc>
              <a:buNone/>
            </a:pPr>
            <a:r>
              <a:rPr lang="en-US" sz="1500" b="1" dirty="0">
                <a:solidFill>
                  <a:srgbClr val="001B58"/>
                </a:solidFill>
                <a:latin typeface="Assistant" pitchFamily="34" charset="0"/>
                <a:ea typeface="Assistant" pitchFamily="34" charset="-122"/>
                <a:cs typeface="Assistant" pitchFamily="34" charset="-120"/>
              </a:rPr>
              <a:t>Thomas Maksimous</a:t>
            </a:r>
            <a:endParaRPr lang="en-US" sz="1500" dirty="0"/>
          </a:p>
          <a:p>
            <a:pPr indent="0" marL="0">
              <a:lnSpc>
                <a:spcPct val="130000"/>
              </a:lnSpc>
              <a:buNone/>
            </a:pPr>
            <a:r>
              <a:rPr lang="en-US" sz="1200" dirty="0">
                <a:solidFill>
                  <a:srgbClr val="33415C"/>
                </a:solidFill>
                <a:latin typeface="Assistant" pitchFamily="34" charset="0"/>
                <a:ea typeface="Assistant" pitchFamily="34" charset="-122"/>
                <a:cs typeface="Assistant" pitchFamily="34" charset="-120"/>
              </a:rPr>
              <a:t>Sup. Prof. Stéphane Gobron (HES-SO)  ·  Experte Dre Claudia Gamondi, MD (CHUV)</a:t>
            </a:r>
            <a:endParaRPr lang="en-US" sz="1500" dirty="0"/>
          </a:p>
          <a:p>
            <a:pPr indent="0" marL="0">
              <a:lnSpc>
                <a:spcPct val="130000"/>
              </a:lnSpc>
              <a:buNone/>
            </a:pPr>
            <a:r>
              <a:rPr lang="en-US" sz="1200" dirty="0">
                <a:solidFill>
                  <a:srgbClr val="8893AE"/>
                </a:solidFill>
                <a:latin typeface="Assistant" pitchFamily="34" charset="0"/>
                <a:ea typeface="Assistant" pitchFamily="34" charset="-122"/>
                <a:cs typeface="Assistant" pitchFamily="34" charset="-120"/>
              </a:rPr>
              <a:t>HES-SO Master · CHUV · UniL   |   Lausanne, juin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554480" y="-1554480"/>
            <a:ext cx="2926080" cy="2926080"/>
          </a:xfrm>
          <a:prstGeom prst="ellipse">
            <a:avLst/>
          </a:prstGeom>
          <a:solidFill>
            <a:srgbClr val="E3EDFF"/>
          </a:solidFill>
          <a:ln/>
        </p:spPr>
      </p:sp>
      <p:sp>
        <p:nvSpPr>
          <p:cNvPr id="4" name="Shape 2"/>
          <p:cNvSpPr/>
          <p:nvPr/>
        </p:nvSpPr>
        <p:spPr>
          <a:xfrm>
            <a:off x="10972800" y="5212080"/>
            <a:ext cx="2377440" cy="2377440"/>
          </a:xfrm>
          <a:prstGeom prst="ellipse">
            <a:avLst/>
          </a:prstGeom>
          <a:solidFill>
            <a:srgbClr val="76A3EE"/>
          </a:solidFill>
          <a:ln/>
        </p:spPr>
      </p:sp>
      <p:sp>
        <p:nvSpPr>
          <p:cNvPr id="5" name="Shape 3"/>
          <p:cNvSpPr/>
          <p:nvPr/>
        </p:nvSpPr>
        <p:spPr>
          <a:xfrm>
            <a:off x="11395436" y="640080"/>
            <a:ext cx="105705" cy="310896"/>
          </a:xfrm>
          <a:prstGeom prst="roundRect">
            <a:avLst>
              <a:gd name="adj" fmla="val 28000"/>
            </a:avLst>
          </a:prstGeom>
          <a:solidFill>
            <a:srgbClr val="76A3EE"/>
          </a:solidFill>
          <a:ln/>
        </p:spPr>
      </p:sp>
      <p:sp>
        <p:nvSpPr>
          <p:cNvPr id="6" name="Shape 4"/>
          <p:cNvSpPr/>
          <p:nvPr/>
        </p:nvSpPr>
        <p:spPr>
          <a:xfrm>
            <a:off x="11292840" y="742676"/>
            <a:ext cx="310896" cy="105705"/>
          </a:xfrm>
          <a:prstGeom prst="roundRect">
            <a:avLst>
              <a:gd name="adj" fmla="val 28000"/>
            </a:avLst>
          </a:prstGeom>
          <a:solidFill>
            <a:srgbClr val="76A3EE"/>
          </a:solidFill>
          <a:ln/>
        </p:spPr>
      </p:sp>
      <p:sp>
        <p:nvSpPr>
          <p:cNvPr id="7" name="Shape 5"/>
          <p:cNvSpPr/>
          <p:nvPr/>
        </p:nvSpPr>
        <p:spPr>
          <a:xfrm>
            <a:off x="657454" y="5486400"/>
            <a:ext cx="93269" cy="274320"/>
          </a:xfrm>
          <a:prstGeom prst="roundRect">
            <a:avLst>
              <a:gd name="adj" fmla="val 28000"/>
            </a:avLst>
          </a:prstGeom>
          <a:solidFill>
            <a:srgbClr val="E3EDFF"/>
          </a:solidFill>
          <a:ln/>
        </p:spPr>
      </p:sp>
      <p:sp>
        <p:nvSpPr>
          <p:cNvPr id="8" name="Shape 6"/>
          <p:cNvSpPr/>
          <p:nvPr/>
        </p:nvSpPr>
        <p:spPr>
          <a:xfrm>
            <a:off x="566928" y="5576926"/>
            <a:ext cx="274320" cy="93269"/>
          </a:xfrm>
          <a:prstGeom prst="roundRect">
            <a:avLst>
              <a:gd name="adj" fmla="val 28000"/>
            </a:avLst>
          </a:prstGeom>
          <a:solidFill>
            <a:srgbClr val="E3EDFF"/>
          </a:solidFill>
          <a:ln/>
        </p:spPr>
      </p:sp>
      <p:sp>
        <p:nvSpPr>
          <p:cNvPr id="9" name="Shape 7"/>
          <p:cNvSpPr/>
          <p:nvPr/>
        </p:nvSpPr>
        <p:spPr>
          <a:xfrm>
            <a:off x="566928" y="566928"/>
            <a:ext cx="457200" cy="457200"/>
          </a:xfrm>
          <a:prstGeom prst="ellipse">
            <a:avLst/>
          </a:prstGeom>
          <a:solidFill>
            <a:srgbClr val="385CB0"/>
          </a:solidFill>
          <a:ln/>
        </p:spPr>
      </p:sp>
      <p:sp>
        <p:nvSpPr>
          <p:cNvPr id="10" name="Shape 8"/>
          <p:cNvSpPr/>
          <p:nvPr/>
        </p:nvSpPr>
        <p:spPr>
          <a:xfrm>
            <a:off x="761329" y="694944"/>
            <a:ext cx="68397" cy="201168"/>
          </a:xfrm>
          <a:prstGeom prst="roundRect">
            <a:avLst>
              <a:gd name="adj" fmla="val 28000"/>
            </a:avLst>
          </a:prstGeom>
          <a:solidFill>
            <a:srgbClr val="FFFFFF"/>
          </a:solidFill>
          <a:ln/>
        </p:spPr>
      </p:sp>
      <p:sp>
        <p:nvSpPr>
          <p:cNvPr id="11" name="Shape 9"/>
          <p:cNvSpPr/>
          <p:nvPr/>
        </p:nvSpPr>
        <p:spPr>
          <a:xfrm>
            <a:off x="694944" y="761329"/>
            <a:ext cx="201168" cy="68397"/>
          </a:xfrm>
          <a:prstGeom prst="roundRect">
            <a:avLst>
              <a:gd name="adj" fmla="val 28000"/>
            </a:avLst>
          </a:prstGeom>
          <a:solidFill>
            <a:srgbClr val="FFFFFF"/>
          </a:solidFill>
          <a:ln/>
        </p:spPr>
      </p:sp>
      <p:sp>
        <p:nvSpPr>
          <p:cNvPr id="12" name="Text 10"/>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CONTEXTE</a:t>
            </a:r>
            <a:endParaRPr lang="en-US" sz="1200" dirty="0"/>
          </a:p>
        </p:txBody>
      </p:sp>
      <p:sp>
        <p:nvSpPr>
          <p:cNvPr id="13" name="Text 11"/>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Former à la communication en fin de vie</a:t>
            </a:r>
            <a:endParaRPr lang="en-US" sz="2800" dirty="0"/>
          </a:p>
        </p:txBody>
      </p:sp>
      <p:sp>
        <p:nvSpPr>
          <p:cNvPr id="14" name="Shape 12"/>
          <p:cNvSpPr/>
          <p:nvPr/>
        </p:nvSpPr>
        <p:spPr>
          <a:xfrm>
            <a:off x="640080" y="1874520"/>
            <a:ext cx="640080" cy="640080"/>
          </a:xfrm>
          <a:prstGeom prst="ellipse">
            <a:avLst/>
          </a:prstGeom>
          <a:solidFill>
            <a:srgbClr val="385CB0"/>
          </a:solidFill>
          <a:ln/>
        </p:spPr>
      </p:sp>
      <p:sp>
        <p:nvSpPr>
          <p:cNvPr id="15" name="Shape 13"/>
          <p:cNvSpPr/>
          <p:nvPr/>
        </p:nvSpPr>
        <p:spPr>
          <a:xfrm>
            <a:off x="912242" y="2053742"/>
            <a:ext cx="95756" cy="281635"/>
          </a:xfrm>
          <a:prstGeom prst="roundRect">
            <a:avLst>
              <a:gd name="adj" fmla="val 28000"/>
            </a:avLst>
          </a:prstGeom>
          <a:solidFill>
            <a:srgbClr val="FFFFFF"/>
          </a:solidFill>
          <a:ln/>
        </p:spPr>
      </p:sp>
      <p:sp>
        <p:nvSpPr>
          <p:cNvPr id="16" name="Shape 14"/>
          <p:cNvSpPr/>
          <p:nvPr/>
        </p:nvSpPr>
        <p:spPr>
          <a:xfrm>
            <a:off x="819302" y="2146682"/>
            <a:ext cx="281635" cy="95756"/>
          </a:xfrm>
          <a:prstGeom prst="roundRect">
            <a:avLst>
              <a:gd name="adj" fmla="val 28000"/>
            </a:avLst>
          </a:prstGeom>
          <a:solidFill>
            <a:srgbClr val="FFFFFF"/>
          </a:solidFill>
          <a:ln/>
        </p:spPr>
      </p:sp>
      <p:sp>
        <p:nvSpPr>
          <p:cNvPr id="17" name="Text 15"/>
          <p:cNvSpPr/>
          <p:nvPr/>
        </p:nvSpPr>
        <p:spPr>
          <a:xfrm>
            <a:off x="1508760" y="1783080"/>
            <a:ext cx="5852160" cy="384048"/>
          </a:xfrm>
          <a:prstGeom prst="rect">
            <a:avLst/>
          </a:prstGeom>
          <a:noFill/>
          <a:ln/>
        </p:spPr>
        <p:txBody>
          <a:bodyPr wrap="square" rtlCol="0" anchor="ctr"/>
          <a:lstStyle/>
          <a:p>
            <a:pPr indent="0" marL="0">
              <a:buNone/>
            </a:pPr>
            <a:r>
              <a:rPr lang="en-US" sz="1700" b="1" dirty="0">
                <a:solidFill>
                  <a:srgbClr val="001B58"/>
                </a:solidFill>
                <a:latin typeface="Archivo" pitchFamily="34" charset="0"/>
                <a:ea typeface="Archivo" pitchFamily="34" charset="-122"/>
                <a:cs typeface="Archivo" pitchFamily="34" charset="-120"/>
              </a:rPr>
              <a:t>Un défi humain</a:t>
            </a:r>
            <a:endParaRPr lang="en-US" sz="1700" dirty="0"/>
          </a:p>
        </p:txBody>
      </p:sp>
      <p:sp>
        <p:nvSpPr>
          <p:cNvPr id="18" name="Text 16"/>
          <p:cNvSpPr/>
          <p:nvPr/>
        </p:nvSpPr>
        <p:spPr>
          <a:xfrm>
            <a:off x="1508760" y="2194560"/>
            <a:ext cx="5943600" cy="777240"/>
          </a:xfrm>
          <a:prstGeom prst="rect">
            <a:avLst/>
          </a:prstGeom>
          <a:noFill/>
          <a:ln/>
        </p:spPr>
        <p:txBody>
          <a:bodyPr wrap="square" rtlCol="0" anchor="ctr"/>
          <a:lstStyle/>
          <a:p>
            <a:pPr indent="0" marL="0">
              <a:lnSpc>
                <a:spcPct val="110000"/>
              </a:lnSpc>
              <a:buNone/>
            </a:pPr>
            <a:r>
              <a:rPr lang="en-US" sz="1350" dirty="0">
                <a:solidFill>
                  <a:srgbClr val="33415C"/>
                </a:solidFill>
                <a:latin typeface="Assistant" pitchFamily="34" charset="0"/>
                <a:ea typeface="Assistant" pitchFamily="34" charset="-122"/>
                <a:cs typeface="Assistant" pitchFamily="34" charset="-120"/>
              </a:rPr>
              <a:t>Au-delà du clinique, les soignants mobilisent empathie, respect et compassion face au deuil et à la détresse.</a:t>
            </a:r>
            <a:endParaRPr lang="en-US" sz="1350" dirty="0"/>
          </a:p>
        </p:txBody>
      </p:sp>
      <p:sp>
        <p:nvSpPr>
          <p:cNvPr id="19" name="Shape 17"/>
          <p:cNvSpPr/>
          <p:nvPr/>
        </p:nvSpPr>
        <p:spPr>
          <a:xfrm>
            <a:off x="640080" y="3200400"/>
            <a:ext cx="640080" cy="640080"/>
          </a:xfrm>
          <a:prstGeom prst="ellipse">
            <a:avLst/>
          </a:prstGeom>
          <a:solidFill>
            <a:srgbClr val="76A3EE"/>
          </a:solidFill>
          <a:ln/>
        </p:spPr>
      </p:sp>
      <p:sp>
        <p:nvSpPr>
          <p:cNvPr id="20" name="Shape 18"/>
          <p:cNvSpPr/>
          <p:nvPr/>
        </p:nvSpPr>
        <p:spPr>
          <a:xfrm>
            <a:off x="912242" y="3379622"/>
            <a:ext cx="95756" cy="281635"/>
          </a:xfrm>
          <a:prstGeom prst="roundRect">
            <a:avLst>
              <a:gd name="adj" fmla="val 28000"/>
            </a:avLst>
          </a:prstGeom>
          <a:solidFill>
            <a:srgbClr val="FFFFFF"/>
          </a:solidFill>
          <a:ln/>
        </p:spPr>
      </p:sp>
      <p:sp>
        <p:nvSpPr>
          <p:cNvPr id="21" name="Shape 19"/>
          <p:cNvSpPr/>
          <p:nvPr/>
        </p:nvSpPr>
        <p:spPr>
          <a:xfrm>
            <a:off x="819302" y="3472562"/>
            <a:ext cx="281635" cy="95756"/>
          </a:xfrm>
          <a:prstGeom prst="roundRect">
            <a:avLst>
              <a:gd name="adj" fmla="val 28000"/>
            </a:avLst>
          </a:prstGeom>
          <a:solidFill>
            <a:srgbClr val="FFFFFF"/>
          </a:solidFill>
          <a:ln/>
        </p:spPr>
      </p:sp>
      <p:sp>
        <p:nvSpPr>
          <p:cNvPr id="22" name="Text 20"/>
          <p:cNvSpPr/>
          <p:nvPr/>
        </p:nvSpPr>
        <p:spPr>
          <a:xfrm>
            <a:off x="1508760" y="3108960"/>
            <a:ext cx="5852160" cy="384048"/>
          </a:xfrm>
          <a:prstGeom prst="rect">
            <a:avLst/>
          </a:prstGeom>
          <a:noFill/>
          <a:ln/>
        </p:spPr>
        <p:txBody>
          <a:bodyPr wrap="square" rtlCol="0" anchor="ctr"/>
          <a:lstStyle/>
          <a:p>
            <a:pPr indent="0" marL="0">
              <a:buNone/>
            </a:pPr>
            <a:r>
              <a:rPr lang="en-US" sz="1700" b="1" dirty="0">
                <a:solidFill>
                  <a:srgbClr val="001B58"/>
                </a:solidFill>
                <a:latin typeface="Archivo" pitchFamily="34" charset="0"/>
                <a:ea typeface="Archivo" pitchFamily="34" charset="-122"/>
                <a:cs typeface="Archivo" pitchFamily="34" charset="-120"/>
              </a:rPr>
              <a:t>Méthode actuelle</a:t>
            </a:r>
            <a:endParaRPr lang="en-US" sz="1700" dirty="0"/>
          </a:p>
        </p:txBody>
      </p:sp>
      <p:sp>
        <p:nvSpPr>
          <p:cNvPr id="23" name="Text 21"/>
          <p:cNvSpPr/>
          <p:nvPr/>
        </p:nvSpPr>
        <p:spPr>
          <a:xfrm>
            <a:off x="1508760" y="3520440"/>
            <a:ext cx="5943600" cy="777240"/>
          </a:xfrm>
          <a:prstGeom prst="rect">
            <a:avLst/>
          </a:prstGeom>
          <a:noFill/>
          <a:ln/>
        </p:spPr>
        <p:txBody>
          <a:bodyPr wrap="square" rtlCol="0" anchor="ctr"/>
          <a:lstStyle/>
          <a:p>
            <a:pPr indent="0" marL="0">
              <a:lnSpc>
                <a:spcPct val="110000"/>
              </a:lnSpc>
              <a:buNone/>
            </a:pPr>
            <a:r>
              <a:rPr lang="en-US" sz="1350" dirty="0">
                <a:solidFill>
                  <a:srgbClr val="33415C"/>
                </a:solidFill>
                <a:latin typeface="Assistant" pitchFamily="34" charset="0"/>
                <a:ea typeface="Assistant" pitchFamily="34" charset="-122"/>
                <a:cs typeface="Assistant" pitchFamily="34" charset="-120"/>
              </a:rPr>
              <a:t>Jeux de rôle en petits groupes : efficaces, mais chronophages et difficiles à mettre à l'échelle.</a:t>
            </a:r>
            <a:endParaRPr lang="en-US" sz="1350" dirty="0"/>
          </a:p>
        </p:txBody>
      </p:sp>
      <p:sp>
        <p:nvSpPr>
          <p:cNvPr id="24" name="Shape 22"/>
          <p:cNvSpPr/>
          <p:nvPr/>
        </p:nvSpPr>
        <p:spPr>
          <a:xfrm>
            <a:off x="640080" y="4526280"/>
            <a:ext cx="640080" cy="640080"/>
          </a:xfrm>
          <a:prstGeom prst="ellipse">
            <a:avLst/>
          </a:prstGeom>
          <a:solidFill>
            <a:srgbClr val="0097A7"/>
          </a:solidFill>
          <a:ln/>
        </p:spPr>
      </p:sp>
      <p:sp>
        <p:nvSpPr>
          <p:cNvPr id="25" name="Shape 23"/>
          <p:cNvSpPr/>
          <p:nvPr/>
        </p:nvSpPr>
        <p:spPr>
          <a:xfrm>
            <a:off x="912242" y="4705502"/>
            <a:ext cx="95756" cy="281635"/>
          </a:xfrm>
          <a:prstGeom prst="roundRect">
            <a:avLst>
              <a:gd name="adj" fmla="val 28000"/>
            </a:avLst>
          </a:prstGeom>
          <a:solidFill>
            <a:srgbClr val="FFFFFF"/>
          </a:solidFill>
          <a:ln/>
        </p:spPr>
      </p:sp>
      <p:sp>
        <p:nvSpPr>
          <p:cNvPr id="26" name="Shape 24"/>
          <p:cNvSpPr/>
          <p:nvPr/>
        </p:nvSpPr>
        <p:spPr>
          <a:xfrm>
            <a:off x="819302" y="4798442"/>
            <a:ext cx="281635" cy="95756"/>
          </a:xfrm>
          <a:prstGeom prst="roundRect">
            <a:avLst>
              <a:gd name="adj" fmla="val 28000"/>
            </a:avLst>
          </a:prstGeom>
          <a:solidFill>
            <a:srgbClr val="FFFFFF"/>
          </a:solidFill>
          <a:ln/>
        </p:spPr>
      </p:sp>
      <p:sp>
        <p:nvSpPr>
          <p:cNvPr id="27" name="Text 25"/>
          <p:cNvSpPr/>
          <p:nvPr/>
        </p:nvSpPr>
        <p:spPr>
          <a:xfrm>
            <a:off x="1508760" y="4434840"/>
            <a:ext cx="5852160" cy="384048"/>
          </a:xfrm>
          <a:prstGeom prst="rect">
            <a:avLst/>
          </a:prstGeom>
          <a:noFill/>
          <a:ln/>
        </p:spPr>
        <p:txBody>
          <a:bodyPr wrap="square" rtlCol="0" anchor="ctr"/>
          <a:lstStyle/>
          <a:p>
            <a:pPr indent="0" marL="0">
              <a:buNone/>
            </a:pPr>
            <a:r>
              <a:rPr lang="en-US" sz="1700" b="1" dirty="0">
                <a:solidFill>
                  <a:srgbClr val="001B58"/>
                </a:solidFill>
                <a:latin typeface="Archivo" pitchFamily="34" charset="0"/>
                <a:ea typeface="Archivo" pitchFamily="34" charset="-122"/>
                <a:cs typeface="Archivo" pitchFamily="34" charset="-120"/>
              </a:rPr>
              <a:t>Serious game « End of Life »</a:t>
            </a:r>
            <a:endParaRPr lang="en-US" sz="1700" dirty="0"/>
          </a:p>
        </p:txBody>
      </p:sp>
      <p:sp>
        <p:nvSpPr>
          <p:cNvPr id="28" name="Text 26"/>
          <p:cNvSpPr/>
          <p:nvPr/>
        </p:nvSpPr>
        <p:spPr>
          <a:xfrm>
            <a:off x="1508760" y="4846320"/>
            <a:ext cx="5943600" cy="777240"/>
          </a:xfrm>
          <a:prstGeom prst="rect">
            <a:avLst/>
          </a:prstGeom>
          <a:noFill/>
          <a:ln/>
        </p:spPr>
        <p:txBody>
          <a:bodyPr wrap="square" rtlCol="0" anchor="ctr"/>
          <a:lstStyle/>
          <a:p>
            <a:pPr indent="0" marL="0">
              <a:lnSpc>
                <a:spcPct val="110000"/>
              </a:lnSpc>
              <a:buNone/>
            </a:pPr>
            <a:r>
              <a:rPr lang="en-US" sz="1350" dirty="0">
                <a:solidFill>
                  <a:srgbClr val="33415C"/>
                </a:solidFill>
                <a:latin typeface="Assistant" pitchFamily="34" charset="0"/>
                <a:ea typeface="Assistant" pitchFamily="34" charset="-122"/>
                <a:cs typeface="Assistant" pitchFamily="34" charset="-120"/>
              </a:rPr>
              <a:t>Simulation 3D développée à la HES-SO avec le CHUV — la base de ce projet.</a:t>
            </a:r>
            <a:endParaRPr lang="en-US" sz="1350" dirty="0"/>
          </a:p>
        </p:txBody>
      </p:sp>
      <p:sp>
        <p:nvSpPr>
          <p:cNvPr id="29" name="Shape 27"/>
          <p:cNvSpPr/>
          <p:nvPr/>
        </p:nvSpPr>
        <p:spPr>
          <a:xfrm>
            <a:off x="7818120" y="1783080"/>
            <a:ext cx="3794760" cy="4069080"/>
          </a:xfrm>
          <a:prstGeom prst="roundRect">
            <a:avLst>
              <a:gd name="adj" fmla="val 3373"/>
            </a:avLst>
          </a:prstGeom>
          <a:solidFill>
            <a:srgbClr val="E3EDFF"/>
          </a:solidFill>
          <a:ln/>
        </p:spPr>
      </p:sp>
      <p:sp>
        <p:nvSpPr>
          <p:cNvPr id="30" name="Shape 28"/>
          <p:cNvSpPr/>
          <p:nvPr/>
        </p:nvSpPr>
        <p:spPr>
          <a:xfrm>
            <a:off x="11002061" y="2011680"/>
            <a:ext cx="124358" cy="365760"/>
          </a:xfrm>
          <a:prstGeom prst="roundRect">
            <a:avLst>
              <a:gd name="adj" fmla="val 28000"/>
            </a:avLst>
          </a:prstGeom>
          <a:solidFill>
            <a:srgbClr val="76A3EE"/>
          </a:solidFill>
          <a:ln/>
        </p:spPr>
      </p:sp>
      <p:sp>
        <p:nvSpPr>
          <p:cNvPr id="31" name="Shape 29"/>
          <p:cNvSpPr/>
          <p:nvPr/>
        </p:nvSpPr>
        <p:spPr>
          <a:xfrm>
            <a:off x="10881360" y="2132381"/>
            <a:ext cx="365760" cy="124358"/>
          </a:xfrm>
          <a:prstGeom prst="roundRect">
            <a:avLst>
              <a:gd name="adj" fmla="val 28000"/>
            </a:avLst>
          </a:prstGeom>
          <a:solidFill>
            <a:srgbClr val="76A3EE"/>
          </a:solidFill>
          <a:ln/>
        </p:spPr>
      </p:sp>
      <p:sp>
        <p:nvSpPr>
          <p:cNvPr id="32" name="Text 30"/>
          <p:cNvSpPr/>
          <p:nvPr/>
        </p:nvSpPr>
        <p:spPr>
          <a:xfrm>
            <a:off x="8138160" y="2103120"/>
            <a:ext cx="3291840" cy="320040"/>
          </a:xfrm>
          <a:prstGeom prst="rect">
            <a:avLst/>
          </a:prstGeom>
          <a:noFill/>
          <a:ln/>
        </p:spPr>
        <p:txBody>
          <a:bodyPr wrap="square" rtlCol="0" anchor="ctr"/>
          <a:lstStyle/>
          <a:p>
            <a:pPr indent="0" marL="0">
              <a:buNone/>
            </a:pPr>
            <a:r>
              <a:rPr lang="en-US" sz="1200" b="1" spc="200" kern="0" dirty="0">
                <a:solidFill>
                  <a:srgbClr val="0097A7"/>
                </a:solidFill>
                <a:latin typeface="Assistant" pitchFamily="34" charset="0"/>
                <a:ea typeface="Assistant" pitchFamily="34" charset="-122"/>
                <a:cs typeface="Assistant" pitchFamily="34" charset="-120"/>
              </a:rPr>
              <a:t>LE CONSTAT</a:t>
            </a:r>
            <a:endParaRPr lang="en-US" sz="1200" dirty="0"/>
          </a:p>
        </p:txBody>
      </p:sp>
      <p:sp>
        <p:nvSpPr>
          <p:cNvPr id="33" name="Text 31"/>
          <p:cNvSpPr/>
          <p:nvPr/>
        </p:nvSpPr>
        <p:spPr>
          <a:xfrm>
            <a:off x="8138160" y="2514600"/>
            <a:ext cx="3200400" cy="1371600"/>
          </a:xfrm>
          <a:prstGeom prst="rect">
            <a:avLst/>
          </a:prstGeom>
          <a:noFill/>
          <a:ln/>
        </p:spPr>
        <p:txBody>
          <a:bodyPr wrap="square" rtlCol="0" anchor="ctr"/>
          <a:lstStyle/>
          <a:p>
            <a:pPr indent="0" marL="0">
              <a:lnSpc>
                <a:spcPct val="105000"/>
              </a:lnSpc>
              <a:buNone/>
            </a:pPr>
            <a:r>
              <a:rPr lang="en-US" sz="2000" b="1" i="1" dirty="0">
                <a:solidFill>
                  <a:srgbClr val="001B58"/>
                </a:solidFill>
                <a:latin typeface="Archivo" pitchFamily="34" charset="0"/>
                <a:ea typeface="Archivo" pitchFamily="34" charset="-122"/>
                <a:cs typeface="Archivo" pitchFamily="34" charset="-120"/>
              </a:rPr>
              <a:t>« Que signifie soigner lorsque guérir n'est plus l'objectif ? »</a:t>
            </a:r>
            <a:endParaRPr lang="en-US" sz="2000" dirty="0"/>
          </a:p>
        </p:txBody>
      </p:sp>
      <p:sp>
        <p:nvSpPr>
          <p:cNvPr id="34" name="Text 32"/>
          <p:cNvSpPr/>
          <p:nvPr/>
        </p:nvSpPr>
        <p:spPr>
          <a:xfrm>
            <a:off x="8138160" y="4114800"/>
            <a:ext cx="3200400" cy="1554480"/>
          </a:xfrm>
          <a:prstGeom prst="rect">
            <a:avLst/>
          </a:prstGeom>
          <a:noFill/>
          <a:ln/>
        </p:spPr>
        <p:txBody>
          <a:bodyPr wrap="square" rtlCol="0" anchor="ctr"/>
          <a:lstStyle/>
          <a:p>
            <a:pPr indent="0" marL="0">
              <a:lnSpc>
                <a:spcPct val="120000"/>
              </a:lnSpc>
              <a:buNone/>
            </a:pPr>
            <a:r>
              <a:rPr lang="en-US" sz="1300" dirty="0">
                <a:solidFill>
                  <a:srgbClr val="33415C"/>
                </a:solidFill>
                <a:latin typeface="Assistant" pitchFamily="34" charset="0"/>
                <a:ea typeface="Assistant" pitchFamily="34" charset="-122"/>
                <a:cs typeface="Assistant" pitchFamily="34" charset="-120"/>
              </a:rPr>
              <a:t>La fin de vie expose à des situations sans réponse unique : il faut un cadre d'apprentissage immersif et sécurisé avant l'exposition réelle.</a:t>
            </a:r>
            <a:endParaRPr lang="en-US" sz="1300" dirty="0"/>
          </a:p>
        </p:txBody>
      </p:sp>
      <p:sp>
        <p:nvSpPr>
          <p:cNvPr id="35" name="Shape 33"/>
          <p:cNvSpPr/>
          <p:nvPr/>
        </p:nvSpPr>
        <p:spPr>
          <a:xfrm>
            <a:off x="9829800" y="6327648"/>
            <a:ext cx="82296" cy="82296"/>
          </a:xfrm>
          <a:prstGeom prst="ellipse">
            <a:avLst/>
          </a:prstGeom>
          <a:solidFill>
            <a:srgbClr val="76A3EE"/>
          </a:solidFill>
          <a:ln/>
        </p:spPr>
      </p:sp>
      <p:sp>
        <p:nvSpPr>
          <p:cNvPr id="36" name="Shape 34"/>
          <p:cNvSpPr/>
          <p:nvPr/>
        </p:nvSpPr>
        <p:spPr>
          <a:xfrm>
            <a:off x="10030968" y="6327648"/>
            <a:ext cx="82296" cy="82296"/>
          </a:xfrm>
          <a:prstGeom prst="ellipse">
            <a:avLst/>
          </a:prstGeom>
          <a:solidFill>
            <a:srgbClr val="385CB0"/>
          </a:solidFill>
          <a:ln/>
        </p:spPr>
      </p:sp>
      <p:sp>
        <p:nvSpPr>
          <p:cNvPr id="37" name="Shape 35"/>
          <p:cNvSpPr/>
          <p:nvPr/>
        </p:nvSpPr>
        <p:spPr>
          <a:xfrm>
            <a:off x="10232136" y="6327648"/>
            <a:ext cx="82296" cy="82296"/>
          </a:xfrm>
          <a:prstGeom prst="ellipse">
            <a:avLst/>
          </a:prstGeom>
          <a:solidFill>
            <a:srgbClr val="76A3EE"/>
          </a:solidFill>
          <a:ln/>
        </p:spPr>
      </p:sp>
      <p:sp>
        <p:nvSpPr>
          <p:cNvPr id="38" name="Shape 36"/>
          <p:cNvSpPr/>
          <p:nvPr/>
        </p:nvSpPr>
        <p:spPr>
          <a:xfrm>
            <a:off x="10433304" y="6327648"/>
            <a:ext cx="82296" cy="82296"/>
          </a:xfrm>
          <a:prstGeom prst="ellipse">
            <a:avLst/>
          </a:prstGeom>
          <a:solidFill>
            <a:srgbClr val="76A3EE"/>
          </a:solidFill>
          <a:ln/>
        </p:spPr>
      </p:sp>
      <p:sp>
        <p:nvSpPr>
          <p:cNvPr id="39" name="Shape 37"/>
          <p:cNvSpPr/>
          <p:nvPr/>
        </p:nvSpPr>
        <p:spPr>
          <a:xfrm>
            <a:off x="10634472" y="6327648"/>
            <a:ext cx="82296" cy="82296"/>
          </a:xfrm>
          <a:prstGeom prst="ellipse">
            <a:avLst/>
          </a:prstGeom>
          <a:solidFill>
            <a:srgbClr val="76A3EE"/>
          </a:solidFill>
          <a:ln/>
        </p:spPr>
      </p:sp>
      <p:sp>
        <p:nvSpPr>
          <p:cNvPr id="40" name="Text 38"/>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PROBLÉMATIQUE</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Deux verrous de l'application existante</a:t>
            </a:r>
            <a:endParaRPr lang="en-US" sz="2800" dirty="0"/>
          </a:p>
        </p:txBody>
      </p:sp>
      <p:sp>
        <p:nvSpPr>
          <p:cNvPr id="13" name="Shape 11"/>
          <p:cNvSpPr/>
          <p:nvPr/>
        </p:nvSpPr>
        <p:spPr>
          <a:xfrm>
            <a:off x="640080" y="1920240"/>
            <a:ext cx="5303520" cy="3383280"/>
          </a:xfrm>
          <a:prstGeom prst="roundRect">
            <a:avLst>
              <a:gd name="adj" fmla="val 3784"/>
            </a:avLst>
          </a:prstGeom>
          <a:solidFill>
            <a:srgbClr val="E3EDFF"/>
          </a:solidFill>
          <a:ln w="15875">
            <a:solidFill>
              <a:srgbClr val="76A3EE"/>
            </a:solidFill>
            <a:prstDash val="solid"/>
          </a:ln>
        </p:spPr>
      </p:sp>
      <p:sp>
        <p:nvSpPr>
          <p:cNvPr id="14" name="Shape 12"/>
          <p:cNvSpPr/>
          <p:nvPr/>
        </p:nvSpPr>
        <p:spPr>
          <a:xfrm>
            <a:off x="1051560" y="2331720"/>
            <a:ext cx="1005840" cy="1005840"/>
          </a:xfrm>
          <a:prstGeom prst="ellipse">
            <a:avLst/>
          </a:prstGeom>
          <a:solidFill>
            <a:srgbClr val="385CB0"/>
          </a:solidFill>
          <a:ln/>
        </p:spPr>
      </p:sp>
      <p:sp>
        <p:nvSpPr>
          <p:cNvPr id="15" name="Text 13"/>
          <p:cNvSpPr/>
          <p:nvPr/>
        </p:nvSpPr>
        <p:spPr>
          <a:xfrm>
            <a:off x="1051560" y="2331720"/>
            <a:ext cx="1005840" cy="1005840"/>
          </a:xfrm>
          <a:prstGeom prst="rect">
            <a:avLst/>
          </a:prstGeom>
          <a:noFill/>
          <a:ln/>
        </p:spPr>
        <p:txBody>
          <a:bodyPr wrap="square" rtlCol="0" anchor="ctr"/>
          <a:lstStyle/>
          <a:p>
            <a:pPr algn="ctr" indent="0" marL="0">
              <a:buNone/>
            </a:pPr>
            <a:r>
              <a:rPr lang="en-US" sz="2800" b="1" dirty="0">
                <a:solidFill>
                  <a:srgbClr val="FFFFFF"/>
                </a:solidFill>
                <a:latin typeface="Archivo" pitchFamily="34" charset="0"/>
                <a:ea typeface="Archivo" pitchFamily="34" charset="-122"/>
                <a:cs typeface="Archivo" pitchFamily="34" charset="-120"/>
              </a:rPr>
              <a:t>01</a:t>
            </a:r>
            <a:endParaRPr lang="en-US" sz="2800" dirty="0"/>
          </a:p>
        </p:txBody>
      </p:sp>
      <p:sp>
        <p:nvSpPr>
          <p:cNvPr id="16" name="Text 14"/>
          <p:cNvSpPr/>
          <p:nvPr/>
        </p:nvSpPr>
        <p:spPr>
          <a:xfrm>
            <a:off x="1051560" y="3520440"/>
            <a:ext cx="4526280" cy="457200"/>
          </a:xfrm>
          <a:prstGeom prst="rect">
            <a:avLst/>
          </a:prstGeom>
          <a:noFill/>
          <a:ln/>
        </p:spPr>
        <p:txBody>
          <a:bodyPr wrap="square" rtlCol="0" anchor="ctr"/>
          <a:lstStyle/>
          <a:p>
            <a:pPr indent="0" marL="0">
              <a:buNone/>
            </a:pPr>
            <a:r>
              <a:rPr lang="en-US" sz="1900" b="1" dirty="0">
                <a:solidFill>
                  <a:srgbClr val="001B58"/>
                </a:solidFill>
                <a:latin typeface="Archivo" pitchFamily="34" charset="0"/>
                <a:ea typeface="Archivo" pitchFamily="34" charset="-122"/>
                <a:cs typeface="Archivo" pitchFamily="34" charset="-120"/>
              </a:rPr>
              <a:t>Contenu figé &amp; inaccessible</a:t>
            </a:r>
            <a:endParaRPr lang="en-US" sz="1900" dirty="0"/>
          </a:p>
        </p:txBody>
      </p:sp>
      <p:sp>
        <p:nvSpPr>
          <p:cNvPr id="17" name="Text 15"/>
          <p:cNvSpPr/>
          <p:nvPr/>
        </p:nvSpPr>
        <p:spPr>
          <a:xfrm>
            <a:off x="1051560" y="4023360"/>
            <a:ext cx="4526280" cy="1188720"/>
          </a:xfrm>
          <a:prstGeom prst="rect">
            <a:avLst/>
          </a:prstGeom>
          <a:noFill/>
          <a:ln/>
        </p:spPr>
        <p:txBody>
          <a:bodyPr wrap="square" rtlCol="0" anchor="ctr"/>
          <a:lstStyle/>
          <a:p>
            <a:pPr indent="0" marL="0">
              <a:lnSpc>
                <a:spcPct val="118000"/>
              </a:lnSpc>
              <a:buNone/>
            </a:pPr>
            <a:r>
              <a:rPr lang="en-US" sz="1400" dirty="0">
                <a:solidFill>
                  <a:srgbClr val="33415C"/>
                </a:solidFill>
                <a:latin typeface="Assistant" pitchFamily="34" charset="0"/>
                <a:ea typeface="Assistant" pitchFamily="34" charset="-122"/>
                <a:cs typeface="Assistant" pitchFamily="34" charset="-120"/>
              </a:rPr>
              <a:t>Scénarios stockés dans des fichiers JSON statiques. Impossible à modifier pour un médecin non-informaticien.</a:t>
            </a:r>
            <a:endParaRPr lang="en-US" sz="1400" dirty="0"/>
          </a:p>
        </p:txBody>
      </p:sp>
      <p:sp>
        <p:nvSpPr>
          <p:cNvPr id="18" name="Shape 16"/>
          <p:cNvSpPr/>
          <p:nvPr/>
        </p:nvSpPr>
        <p:spPr>
          <a:xfrm>
            <a:off x="6309360" y="1920240"/>
            <a:ext cx="5303520" cy="3383280"/>
          </a:xfrm>
          <a:prstGeom prst="roundRect">
            <a:avLst>
              <a:gd name="adj" fmla="val 3784"/>
            </a:avLst>
          </a:prstGeom>
          <a:solidFill>
            <a:srgbClr val="FFFFFF"/>
          </a:solidFill>
          <a:ln w="15875">
            <a:solidFill>
              <a:srgbClr val="76A3EE"/>
            </a:solidFill>
            <a:prstDash val="solid"/>
          </a:ln>
        </p:spPr>
      </p:sp>
      <p:sp>
        <p:nvSpPr>
          <p:cNvPr id="19" name="Shape 17"/>
          <p:cNvSpPr/>
          <p:nvPr/>
        </p:nvSpPr>
        <p:spPr>
          <a:xfrm>
            <a:off x="6720840" y="2331720"/>
            <a:ext cx="1005840" cy="1005840"/>
          </a:xfrm>
          <a:prstGeom prst="ellipse">
            <a:avLst/>
          </a:prstGeom>
          <a:solidFill>
            <a:srgbClr val="0097A7"/>
          </a:solidFill>
          <a:ln/>
        </p:spPr>
      </p:sp>
      <p:sp>
        <p:nvSpPr>
          <p:cNvPr id="20" name="Text 18"/>
          <p:cNvSpPr/>
          <p:nvPr/>
        </p:nvSpPr>
        <p:spPr>
          <a:xfrm>
            <a:off x="6720840" y="2331720"/>
            <a:ext cx="1005840" cy="1005840"/>
          </a:xfrm>
          <a:prstGeom prst="rect">
            <a:avLst/>
          </a:prstGeom>
          <a:noFill/>
          <a:ln/>
        </p:spPr>
        <p:txBody>
          <a:bodyPr wrap="square" rtlCol="0" anchor="ctr"/>
          <a:lstStyle/>
          <a:p>
            <a:pPr algn="ctr" indent="0" marL="0">
              <a:buNone/>
            </a:pPr>
            <a:r>
              <a:rPr lang="en-US" sz="2800" b="1" dirty="0">
                <a:solidFill>
                  <a:srgbClr val="FFFFFF"/>
                </a:solidFill>
                <a:latin typeface="Archivo" pitchFamily="34" charset="0"/>
                <a:ea typeface="Archivo" pitchFamily="34" charset="-122"/>
                <a:cs typeface="Archivo" pitchFamily="34" charset="-120"/>
              </a:rPr>
              <a:t>02</a:t>
            </a:r>
            <a:endParaRPr lang="en-US" sz="2800" dirty="0"/>
          </a:p>
        </p:txBody>
      </p:sp>
      <p:sp>
        <p:nvSpPr>
          <p:cNvPr id="21" name="Text 19"/>
          <p:cNvSpPr/>
          <p:nvPr/>
        </p:nvSpPr>
        <p:spPr>
          <a:xfrm>
            <a:off x="6720840" y="3520440"/>
            <a:ext cx="4526280" cy="457200"/>
          </a:xfrm>
          <a:prstGeom prst="rect">
            <a:avLst/>
          </a:prstGeom>
          <a:noFill/>
          <a:ln/>
        </p:spPr>
        <p:txBody>
          <a:bodyPr wrap="square" rtlCol="0" anchor="ctr"/>
          <a:lstStyle/>
          <a:p>
            <a:pPr indent="0" marL="0">
              <a:buNone/>
            </a:pPr>
            <a:r>
              <a:rPr lang="en-US" sz="1900" b="1" dirty="0">
                <a:solidFill>
                  <a:srgbClr val="001B58"/>
                </a:solidFill>
                <a:latin typeface="Archivo" pitchFamily="34" charset="0"/>
                <a:ea typeface="Archivo" pitchFamily="34" charset="-122"/>
                <a:cs typeface="Archivo" pitchFamily="34" charset="-120"/>
              </a:rPr>
              <a:t>Évaluation superficielle</a:t>
            </a:r>
            <a:endParaRPr lang="en-US" sz="1900" dirty="0"/>
          </a:p>
        </p:txBody>
      </p:sp>
      <p:sp>
        <p:nvSpPr>
          <p:cNvPr id="22" name="Text 20"/>
          <p:cNvSpPr/>
          <p:nvPr/>
        </p:nvSpPr>
        <p:spPr>
          <a:xfrm>
            <a:off x="6720840" y="4023360"/>
            <a:ext cx="4526280" cy="1188720"/>
          </a:xfrm>
          <a:prstGeom prst="rect">
            <a:avLst/>
          </a:prstGeom>
          <a:noFill/>
          <a:ln/>
        </p:spPr>
        <p:txBody>
          <a:bodyPr wrap="square" rtlCol="0" anchor="ctr"/>
          <a:lstStyle/>
          <a:p>
            <a:pPr indent="0" marL="0">
              <a:lnSpc>
                <a:spcPct val="118000"/>
              </a:lnSpc>
              <a:buNone/>
            </a:pPr>
            <a:r>
              <a:rPr lang="en-US" sz="1400" dirty="0">
                <a:solidFill>
                  <a:srgbClr val="33415C"/>
                </a:solidFill>
                <a:latin typeface="Assistant" pitchFamily="34" charset="0"/>
                <a:ea typeface="Assistant" pitchFamily="34" charset="-122"/>
                <a:cs typeface="Assistant" pitchFamily="34" charset="-120"/>
              </a:rPr>
              <a:t>Scoring limité à 3 axes fixes (empathie, respect, compassion), sans analyse sémantique des choix.</a:t>
            </a:r>
            <a:endParaRPr lang="en-US" sz="1400" dirty="0"/>
          </a:p>
        </p:txBody>
      </p:sp>
      <p:sp>
        <p:nvSpPr>
          <p:cNvPr id="23" name="Text 21"/>
          <p:cNvSpPr/>
          <p:nvPr/>
        </p:nvSpPr>
        <p:spPr>
          <a:xfrm>
            <a:off x="640080" y="5623560"/>
            <a:ext cx="10972800" cy="457200"/>
          </a:xfrm>
          <a:prstGeom prst="rect">
            <a:avLst/>
          </a:prstGeom>
          <a:noFill/>
          <a:ln/>
        </p:spPr>
        <p:txBody>
          <a:bodyPr wrap="square" rtlCol="0" anchor="ctr"/>
          <a:lstStyle/>
          <a:p>
            <a:pPr indent="0" marL="0">
              <a:buNone/>
            </a:pPr>
            <a:r>
              <a:rPr lang="en-US" sz="1400" b="1" i="1" dirty="0">
                <a:solidFill>
                  <a:srgbClr val="385CB0"/>
                </a:solidFill>
                <a:latin typeface="Assistant" pitchFamily="34" charset="0"/>
                <a:ea typeface="Assistant" pitchFamily="34" charset="-122"/>
                <a:cs typeface="Assistant" pitchFamily="34" charset="-120"/>
              </a:rPr>
              <a:t>Besoin : une infrastructure flexible + une IA pour épauler créateurs de contenu et apprenants.</a:t>
            </a:r>
            <a:endParaRPr lang="en-US" sz="1400" dirty="0"/>
          </a:p>
        </p:txBody>
      </p:sp>
      <p:sp>
        <p:nvSpPr>
          <p:cNvPr id="24" name="Shape 22"/>
          <p:cNvSpPr/>
          <p:nvPr/>
        </p:nvSpPr>
        <p:spPr>
          <a:xfrm>
            <a:off x="9829800" y="6327648"/>
            <a:ext cx="82296" cy="82296"/>
          </a:xfrm>
          <a:prstGeom prst="ellipse">
            <a:avLst/>
          </a:prstGeom>
          <a:solidFill>
            <a:srgbClr val="76A3EE"/>
          </a:solidFill>
          <a:ln/>
        </p:spPr>
      </p:sp>
      <p:sp>
        <p:nvSpPr>
          <p:cNvPr id="25" name="Shape 23"/>
          <p:cNvSpPr/>
          <p:nvPr/>
        </p:nvSpPr>
        <p:spPr>
          <a:xfrm>
            <a:off x="10030968" y="6327648"/>
            <a:ext cx="82296" cy="82296"/>
          </a:xfrm>
          <a:prstGeom prst="ellipse">
            <a:avLst/>
          </a:prstGeom>
          <a:solidFill>
            <a:srgbClr val="76A3EE"/>
          </a:solidFill>
          <a:ln/>
        </p:spPr>
      </p:sp>
      <p:sp>
        <p:nvSpPr>
          <p:cNvPr id="26" name="Shape 24"/>
          <p:cNvSpPr/>
          <p:nvPr/>
        </p:nvSpPr>
        <p:spPr>
          <a:xfrm>
            <a:off x="10232136" y="6327648"/>
            <a:ext cx="82296" cy="82296"/>
          </a:xfrm>
          <a:prstGeom prst="ellipse">
            <a:avLst/>
          </a:prstGeom>
          <a:solidFill>
            <a:srgbClr val="385CB0"/>
          </a:solidFill>
          <a:ln/>
        </p:spPr>
      </p:sp>
      <p:sp>
        <p:nvSpPr>
          <p:cNvPr id="27" name="Shape 25"/>
          <p:cNvSpPr/>
          <p:nvPr/>
        </p:nvSpPr>
        <p:spPr>
          <a:xfrm>
            <a:off x="10433304" y="6327648"/>
            <a:ext cx="82296" cy="82296"/>
          </a:xfrm>
          <a:prstGeom prst="ellipse">
            <a:avLst/>
          </a:prstGeom>
          <a:solidFill>
            <a:srgbClr val="76A3EE"/>
          </a:solidFill>
          <a:ln/>
        </p:spPr>
      </p:sp>
      <p:sp>
        <p:nvSpPr>
          <p:cNvPr id="28" name="Shape 26"/>
          <p:cNvSpPr/>
          <p:nvPr/>
        </p:nvSpPr>
        <p:spPr>
          <a:xfrm>
            <a:off x="10634472" y="6327648"/>
            <a:ext cx="82296" cy="82296"/>
          </a:xfrm>
          <a:prstGeom prst="ellipse">
            <a:avLst/>
          </a:prstGeom>
          <a:solidFill>
            <a:srgbClr val="76A3EE"/>
          </a:solidFill>
          <a:ln/>
        </p:spPr>
      </p:sp>
      <p:sp>
        <p:nvSpPr>
          <p:cNvPr id="29" name="Text 27"/>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1B58"/>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sp>
      <p:sp>
        <p:nvSpPr>
          <p:cNvPr id="3" name="Shape 1"/>
          <p:cNvSpPr/>
          <p:nvPr/>
        </p:nvSpPr>
        <p:spPr>
          <a:xfrm>
            <a:off x="-1463040" y="4846320"/>
            <a:ext cx="3108960" cy="3108960"/>
          </a:xfrm>
          <a:prstGeom prst="ellipse">
            <a:avLst/>
          </a:prstGeom>
          <a:solidFill>
            <a:srgbClr val="385CB0"/>
          </a:solidFill>
          <a:ln/>
        </p:spPr>
      </p:sp>
      <p:sp>
        <p:nvSpPr>
          <p:cNvPr id="4" name="Shape 2"/>
          <p:cNvSpPr/>
          <p:nvPr/>
        </p:nvSpPr>
        <p:spPr>
          <a:xfrm>
            <a:off x="10881360" y="-1463040"/>
            <a:ext cx="2926080" cy="2926080"/>
          </a:xfrm>
          <a:prstGeom prst="ellipse">
            <a:avLst/>
          </a:prstGeom>
          <a:solidFill>
            <a:srgbClr val="385CB0"/>
          </a:solidFill>
          <a:ln/>
        </p:spPr>
      </p:sp>
      <p:sp>
        <p:nvSpPr>
          <p:cNvPr id="5" name="Shape 3"/>
          <p:cNvSpPr/>
          <p:nvPr/>
        </p:nvSpPr>
        <p:spPr>
          <a:xfrm>
            <a:off x="11367821" y="2194560"/>
            <a:ext cx="124358" cy="365760"/>
          </a:xfrm>
          <a:prstGeom prst="roundRect">
            <a:avLst>
              <a:gd name="adj" fmla="val 28000"/>
            </a:avLst>
          </a:prstGeom>
          <a:solidFill>
            <a:srgbClr val="76A3EE"/>
          </a:solidFill>
          <a:ln/>
        </p:spPr>
      </p:sp>
      <p:sp>
        <p:nvSpPr>
          <p:cNvPr id="6" name="Shape 4"/>
          <p:cNvSpPr/>
          <p:nvPr/>
        </p:nvSpPr>
        <p:spPr>
          <a:xfrm>
            <a:off x="11247120" y="2315261"/>
            <a:ext cx="365760" cy="124358"/>
          </a:xfrm>
          <a:prstGeom prst="roundRect">
            <a:avLst>
              <a:gd name="adj" fmla="val 28000"/>
            </a:avLst>
          </a:prstGeom>
          <a:solidFill>
            <a:srgbClr val="76A3EE"/>
          </a:solidFill>
          <a:ln/>
        </p:spPr>
      </p:sp>
      <p:sp>
        <p:nvSpPr>
          <p:cNvPr id="7" name="Shape 5"/>
          <p:cNvSpPr/>
          <p:nvPr/>
        </p:nvSpPr>
        <p:spPr>
          <a:xfrm>
            <a:off x="474574" y="3017520"/>
            <a:ext cx="93269" cy="274320"/>
          </a:xfrm>
          <a:prstGeom prst="roundRect">
            <a:avLst>
              <a:gd name="adj" fmla="val 28000"/>
            </a:avLst>
          </a:prstGeom>
          <a:solidFill>
            <a:srgbClr val="76A3EE"/>
          </a:solidFill>
          <a:ln/>
        </p:spPr>
      </p:sp>
      <p:sp>
        <p:nvSpPr>
          <p:cNvPr id="8" name="Shape 6"/>
          <p:cNvSpPr/>
          <p:nvPr/>
        </p:nvSpPr>
        <p:spPr>
          <a:xfrm>
            <a:off x="384048" y="3108046"/>
            <a:ext cx="274320" cy="93269"/>
          </a:xfrm>
          <a:prstGeom prst="roundRect">
            <a:avLst>
              <a:gd name="adj" fmla="val 28000"/>
            </a:avLst>
          </a:prstGeom>
          <a:solidFill>
            <a:srgbClr val="76A3EE"/>
          </a:solidFill>
          <a:ln/>
        </p:spPr>
      </p:sp>
      <p:sp>
        <p:nvSpPr>
          <p:cNvPr id="9" name="Shape 7"/>
          <p:cNvSpPr/>
          <p:nvPr/>
        </p:nvSpPr>
        <p:spPr>
          <a:xfrm>
            <a:off x="10148926" y="5760720"/>
            <a:ext cx="93269" cy="274320"/>
          </a:xfrm>
          <a:prstGeom prst="roundRect">
            <a:avLst>
              <a:gd name="adj" fmla="val 28000"/>
            </a:avLst>
          </a:prstGeom>
          <a:solidFill>
            <a:srgbClr val="76A3EE"/>
          </a:solidFill>
          <a:ln/>
        </p:spPr>
      </p:sp>
      <p:sp>
        <p:nvSpPr>
          <p:cNvPr id="10" name="Shape 8"/>
          <p:cNvSpPr/>
          <p:nvPr/>
        </p:nvSpPr>
        <p:spPr>
          <a:xfrm>
            <a:off x="10058400" y="5851246"/>
            <a:ext cx="274320" cy="93269"/>
          </a:xfrm>
          <a:prstGeom prst="roundRect">
            <a:avLst>
              <a:gd name="adj" fmla="val 28000"/>
            </a:avLst>
          </a:prstGeom>
          <a:solidFill>
            <a:srgbClr val="76A3EE"/>
          </a:solidFill>
          <a:ln/>
        </p:spPr>
      </p:sp>
      <p:sp>
        <p:nvSpPr>
          <p:cNvPr id="11" name="Text 9"/>
          <p:cNvSpPr/>
          <p:nvPr/>
        </p:nvSpPr>
        <p:spPr>
          <a:xfrm>
            <a:off x="822960" y="566928"/>
            <a:ext cx="10058400" cy="320040"/>
          </a:xfrm>
          <a:prstGeom prst="rect">
            <a:avLst/>
          </a:prstGeom>
          <a:noFill/>
          <a:ln/>
        </p:spPr>
        <p:txBody>
          <a:bodyPr wrap="square" rtlCol="0" anchor="ctr"/>
          <a:lstStyle/>
          <a:p>
            <a:pPr indent="0" marL="0">
              <a:buNone/>
            </a:pPr>
            <a:r>
              <a:rPr lang="en-US" sz="1300" b="1" spc="300" kern="0" dirty="0">
                <a:solidFill>
                  <a:srgbClr val="76A3EE"/>
                </a:solidFill>
                <a:latin typeface="Assistant" pitchFamily="34" charset="0"/>
                <a:ea typeface="Assistant" pitchFamily="34" charset="-122"/>
                <a:cs typeface="Assistant" pitchFamily="34" charset="-120"/>
              </a:rPr>
              <a:t>PROJET D'APPROFONDISSEMENT (PA) · MA CONTRIBUTION</a:t>
            </a:r>
            <a:endParaRPr lang="en-US" sz="1300" dirty="0"/>
          </a:p>
        </p:txBody>
      </p:sp>
      <p:sp>
        <p:nvSpPr>
          <p:cNvPr id="12" name="Text 10"/>
          <p:cNvSpPr/>
          <p:nvPr/>
        </p:nvSpPr>
        <p:spPr>
          <a:xfrm>
            <a:off x="822960" y="896112"/>
            <a:ext cx="10515600" cy="640080"/>
          </a:xfrm>
          <a:prstGeom prst="rect">
            <a:avLst/>
          </a:prstGeom>
          <a:noFill/>
          <a:ln/>
        </p:spPr>
        <p:txBody>
          <a:bodyPr wrap="square" rtlCol="0" anchor="ctr"/>
          <a:lstStyle/>
          <a:p>
            <a:pPr indent="0" marL="0">
              <a:buNone/>
            </a:pPr>
            <a:r>
              <a:rPr lang="en-US" sz="2800" b="1" dirty="0">
                <a:solidFill>
                  <a:srgbClr val="FFFFFF"/>
                </a:solidFill>
                <a:latin typeface="Archivo" pitchFamily="34" charset="0"/>
                <a:ea typeface="Archivo" pitchFamily="34" charset="-122"/>
                <a:cs typeface="Archivo" pitchFamily="34" charset="-120"/>
              </a:rPr>
              <a:t>Deux briques que j'ai développées</a:t>
            </a:r>
            <a:endParaRPr lang="en-US" sz="2800" dirty="0"/>
          </a:p>
        </p:txBody>
      </p:sp>
      <p:sp>
        <p:nvSpPr>
          <p:cNvPr id="13" name="Text 11"/>
          <p:cNvSpPr/>
          <p:nvPr/>
        </p:nvSpPr>
        <p:spPr>
          <a:xfrm>
            <a:off x="822960" y="1627632"/>
            <a:ext cx="10607040" cy="457200"/>
          </a:xfrm>
          <a:prstGeom prst="rect">
            <a:avLst/>
          </a:prstGeom>
          <a:noFill/>
          <a:ln/>
        </p:spPr>
        <p:txBody>
          <a:bodyPr wrap="square" rtlCol="0" anchor="ctr"/>
          <a:lstStyle/>
          <a:p>
            <a:pPr indent="0" marL="0">
              <a:buNone/>
            </a:pPr>
            <a:r>
              <a:rPr lang="en-US" sz="1400" b="1" dirty="0">
                <a:solidFill>
                  <a:srgbClr val="76A3EE"/>
                </a:solidFill>
                <a:latin typeface="Assistant" pitchFamily="34" charset="0"/>
                <a:ea typeface="Assistant" pitchFamily="34" charset="-122"/>
                <a:cs typeface="Assistant" pitchFamily="34" charset="-120"/>
              </a:rPr>
              <a:t>Base existante (Prof. Gobron / CHUV) : </a:t>
            </a:r>
            <a:pPr indent="0" marL="0">
              <a:buNone/>
            </a:pPr>
            <a:r>
              <a:rPr lang="en-US" sz="1400" dirty="0">
                <a:solidFill>
                  <a:srgbClr val="E3EDFF"/>
                </a:solidFill>
                <a:latin typeface="Assistant" pitchFamily="34" charset="0"/>
                <a:ea typeface="Assistant" pitchFamily="34" charset="-122"/>
                <a:cs typeface="Assistant" pitchFamily="34" charset="-120"/>
              </a:rPr>
              <a:t>le jeu sérieux 3D « End of Life » (Unity).   </a:t>
            </a:r>
            <a:pPr indent="0" marL="0">
              <a:buNone/>
            </a:pPr>
            <a:r>
              <a:rPr lang="en-US" sz="1400" b="1" dirty="0">
                <a:solidFill>
                  <a:srgbClr val="FFFFFF"/>
                </a:solidFill>
                <a:latin typeface="Assistant" pitchFamily="34" charset="0"/>
                <a:ea typeface="Assistant" pitchFamily="34" charset="-122"/>
                <a:cs typeface="Assistant" pitchFamily="34" charset="-120"/>
              </a:rPr>
              <a:t>Sur cette base, ma contribution PA :</a:t>
            </a:r>
            <a:endParaRPr lang="en-US" sz="1400" dirty="0"/>
          </a:p>
        </p:txBody>
      </p:sp>
      <p:sp>
        <p:nvSpPr>
          <p:cNvPr id="14" name="Shape 12"/>
          <p:cNvSpPr/>
          <p:nvPr/>
        </p:nvSpPr>
        <p:spPr>
          <a:xfrm>
            <a:off x="822960" y="2331720"/>
            <a:ext cx="5120640" cy="3291840"/>
          </a:xfrm>
          <a:prstGeom prst="roundRect">
            <a:avLst>
              <a:gd name="adj" fmla="val 3889"/>
            </a:avLst>
          </a:prstGeom>
          <a:solidFill>
            <a:srgbClr val="0A2A66"/>
          </a:solidFill>
          <a:ln/>
        </p:spPr>
      </p:sp>
      <p:sp>
        <p:nvSpPr>
          <p:cNvPr id="15" name="Shape 13"/>
          <p:cNvSpPr/>
          <p:nvPr/>
        </p:nvSpPr>
        <p:spPr>
          <a:xfrm>
            <a:off x="1188720" y="2651760"/>
            <a:ext cx="777240" cy="777240"/>
          </a:xfrm>
          <a:prstGeom prst="ellipse">
            <a:avLst/>
          </a:prstGeom>
          <a:solidFill>
            <a:srgbClr val="76A3EE"/>
          </a:solidFill>
          <a:ln/>
        </p:spPr>
      </p:sp>
      <p:sp>
        <p:nvSpPr>
          <p:cNvPr id="16" name="Text 14"/>
          <p:cNvSpPr/>
          <p:nvPr/>
        </p:nvSpPr>
        <p:spPr>
          <a:xfrm>
            <a:off x="1188720" y="2651760"/>
            <a:ext cx="777240" cy="777240"/>
          </a:xfrm>
          <a:prstGeom prst="rect">
            <a:avLst/>
          </a:prstGeom>
          <a:noFill/>
          <a:ln/>
        </p:spPr>
        <p:txBody>
          <a:bodyPr wrap="square" rtlCol="0" anchor="ctr"/>
          <a:lstStyle/>
          <a:p>
            <a:pPr algn="ctr" indent="0" marL="0">
              <a:buNone/>
            </a:pPr>
            <a:r>
              <a:rPr lang="en-US" sz="1870" b="1" dirty="0">
                <a:solidFill>
                  <a:srgbClr val="001B58"/>
                </a:solidFill>
                <a:latin typeface="Archivo" pitchFamily="34" charset="0"/>
                <a:ea typeface="Archivo" pitchFamily="34" charset="-122"/>
                <a:cs typeface="Archivo" pitchFamily="34" charset="-120"/>
              </a:rPr>
              <a:t>1</a:t>
            </a:r>
            <a:endParaRPr lang="en-US" sz="1870" dirty="0"/>
          </a:p>
        </p:txBody>
      </p:sp>
      <p:sp>
        <p:nvSpPr>
          <p:cNvPr id="17" name="Text 15"/>
          <p:cNvSpPr/>
          <p:nvPr/>
        </p:nvSpPr>
        <p:spPr>
          <a:xfrm>
            <a:off x="1188720" y="3657600"/>
            <a:ext cx="4434840" cy="777240"/>
          </a:xfrm>
          <a:prstGeom prst="rect">
            <a:avLst/>
          </a:prstGeom>
          <a:noFill/>
          <a:ln/>
        </p:spPr>
        <p:txBody>
          <a:bodyPr wrap="square" rtlCol="0" anchor="ctr"/>
          <a:lstStyle/>
          <a:p>
            <a:pPr indent="0" marL="0">
              <a:buNone/>
            </a:pPr>
            <a:r>
              <a:rPr lang="en-US" sz="1900" b="1" dirty="0">
                <a:solidFill>
                  <a:srgbClr val="FFFFFF"/>
                </a:solidFill>
                <a:latin typeface="Archivo" pitchFamily="34" charset="0"/>
                <a:ea typeface="Archivo" pitchFamily="34" charset="-122"/>
                <a:cs typeface="Archivo" pitchFamily="34" charset="-120"/>
              </a:rPr>
              <a:t>Interface d'administration en graphe</a:t>
            </a:r>
            <a:endParaRPr lang="en-US" sz="1900" dirty="0"/>
          </a:p>
        </p:txBody>
      </p:sp>
      <p:sp>
        <p:nvSpPr>
          <p:cNvPr id="18" name="Text 16"/>
          <p:cNvSpPr/>
          <p:nvPr/>
        </p:nvSpPr>
        <p:spPr>
          <a:xfrm>
            <a:off x="1188720" y="4434840"/>
            <a:ext cx="4434840" cy="1097280"/>
          </a:xfrm>
          <a:prstGeom prst="rect">
            <a:avLst/>
          </a:prstGeom>
          <a:noFill/>
          <a:ln/>
        </p:spPr>
        <p:txBody>
          <a:bodyPr wrap="square" rtlCol="0" anchor="ctr"/>
          <a:lstStyle/>
          <a:p>
            <a:pPr indent="0" marL="0">
              <a:lnSpc>
                <a:spcPct val="118000"/>
              </a:lnSpc>
              <a:buNone/>
            </a:pPr>
            <a:r>
              <a:rPr lang="en-US" sz="1350" dirty="0">
                <a:solidFill>
                  <a:srgbClr val="E3EDFF"/>
                </a:solidFill>
                <a:latin typeface="Assistant" pitchFamily="34" charset="0"/>
                <a:ea typeface="Assistant" pitchFamily="34" charset="-122"/>
                <a:cs typeface="Assistant" pitchFamily="34" charset="-120"/>
              </a:rPr>
              <a:t>Un outil web visuel pour créer, modifier et supprimer blocs narratifs et branches — sans aucune compétence en programmation.</a:t>
            </a:r>
            <a:endParaRPr lang="en-US" sz="1350" dirty="0"/>
          </a:p>
        </p:txBody>
      </p:sp>
      <p:sp>
        <p:nvSpPr>
          <p:cNvPr id="19" name="Shape 17"/>
          <p:cNvSpPr/>
          <p:nvPr/>
        </p:nvSpPr>
        <p:spPr>
          <a:xfrm>
            <a:off x="6309360" y="2331720"/>
            <a:ext cx="5120640" cy="3291840"/>
          </a:xfrm>
          <a:prstGeom prst="roundRect">
            <a:avLst>
              <a:gd name="adj" fmla="val 3889"/>
            </a:avLst>
          </a:prstGeom>
          <a:solidFill>
            <a:srgbClr val="0A2A66"/>
          </a:solidFill>
          <a:ln/>
        </p:spPr>
      </p:sp>
      <p:sp>
        <p:nvSpPr>
          <p:cNvPr id="20" name="Shape 18"/>
          <p:cNvSpPr/>
          <p:nvPr/>
        </p:nvSpPr>
        <p:spPr>
          <a:xfrm>
            <a:off x="6675120" y="2651760"/>
            <a:ext cx="777240" cy="777240"/>
          </a:xfrm>
          <a:prstGeom prst="ellipse">
            <a:avLst/>
          </a:prstGeom>
          <a:solidFill>
            <a:srgbClr val="0097A7"/>
          </a:solidFill>
          <a:ln/>
        </p:spPr>
      </p:sp>
      <p:sp>
        <p:nvSpPr>
          <p:cNvPr id="21" name="Text 19"/>
          <p:cNvSpPr/>
          <p:nvPr/>
        </p:nvSpPr>
        <p:spPr>
          <a:xfrm>
            <a:off x="6675120" y="2651760"/>
            <a:ext cx="777240" cy="777240"/>
          </a:xfrm>
          <a:prstGeom prst="rect">
            <a:avLst/>
          </a:prstGeom>
          <a:noFill/>
          <a:ln/>
        </p:spPr>
        <p:txBody>
          <a:bodyPr wrap="square" rtlCol="0" anchor="ctr"/>
          <a:lstStyle/>
          <a:p>
            <a:pPr algn="ctr" indent="0" marL="0">
              <a:buNone/>
            </a:pPr>
            <a:r>
              <a:rPr lang="en-US" sz="1870" b="1" dirty="0">
                <a:solidFill>
                  <a:srgbClr val="001B58"/>
                </a:solidFill>
                <a:latin typeface="Archivo" pitchFamily="34" charset="0"/>
                <a:ea typeface="Archivo" pitchFamily="34" charset="-122"/>
                <a:cs typeface="Archivo" pitchFamily="34" charset="-120"/>
              </a:rPr>
              <a:t>2</a:t>
            </a:r>
            <a:endParaRPr lang="en-US" sz="1870" dirty="0"/>
          </a:p>
        </p:txBody>
      </p:sp>
      <p:sp>
        <p:nvSpPr>
          <p:cNvPr id="22" name="Text 20"/>
          <p:cNvSpPr/>
          <p:nvPr/>
        </p:nvSpPr>
        <p:spPr>
          <a:xfrm>
            <a:off x="6675120" y="3657600"/>
            <a:ext cx="4434840" cy="777240"/>
          </a:xfrm>
          <a:prstGeom prst="rect">
            <a:avLst/>
          </a:prstGeom>
          <a:noFill/>
          <a:ln/>
        </p:spPr>
        <p:txBody>
          <a:bodyPr wrap="square" rtlCol="0" anchor="ctr"/>
          <a:lstStyle/>
          <a:p>
            <a:pPr indent="0" marL="0">
              <a:buNone/>
            </a:pPr>
            <a:r>
              <a:rPr lang="en-US" sz="1900" b="1" dirty="0">
                <a:solidFill>
                  <a:srgbClr val="FFFFFF"/>
                </a:solidFill>
                <a:latin typeface="Archivo" pitchFamily="34" charset="0"/>
                <a:ea typeface="Archivo" pitchFamily="34" charset="-122"/>
                <a:cs typeface="Archivo" pitchFamily="34" charset="-120"/>
              </a:rPr>
              <a:t>Module d'Intelligence Artificielle</a:t>
            </a:r>
            <a:endParaRPr lang="en-US" sz="1900" dirty="0"/>
          </a:p>
        </p:txBody>
      </p:sp>
      <p:sp>
        <p:nvSpPr>
          <p:cNvPr id="23" name="Text 21"/>
          <p:cNvSpPr/>
          <p:nvPr/>
        </p:nvSpPr>
        <p:spPr>
          <a:xfrm>
            <a:off x="6675120" y="4434840"/>
            <a:ext cx="4434840" cy="1097280"/>
          </a:xfrm>
          <a:prstGeom prst="rect">
            <a:avLst/>
          </a:prstGeom>
          <a:noFill/>
          <a:ln/>
        </p:spPr>
        <p:txBody>
          <a:bodyPr wrap="square" rtlCol="0" anchor="ctr"/>
          <a:lstStyle/>
          <a:p>
            <a:pPr indent="0" marL="0">
              <a:lnSpc>
                <a:spcPct val="118000"/>
              </a:lnSpc>
              <a:buNone/>
            </a:pPr>
            <a:r>
              <a:rPr lang="en-US" sz="1350" dirty="0">
                <a:solidFill>
                  <a:srgbClr val="E3EDFF"/>
                </a:solidFill>
                <a:latin typeface="Assistant" pitchFamily="34" charset="0"/>
                <a:ea typeface="Assistant" pitchFamily="34" charset="-122"/>
                <a:cs typeface="Assistant" pitchFamily="34" charset="-120"/>
              </a:rPr>
              <a:t>Côté création : générer des réponses orientées. Côté évaluation : un scoring sémantique explicable des choix de l'apprenant.</a:t>
            </a:r>
            <a:endParaRPr lang="en-US" sz="1350" dirty="0"/>
          </a:p>
        </p:txBody>
      </p:sp>
      <p:sp>
        <p:nvSpPr>
          <p:cNvPr id="24" name="Text 22"/>
          <p:cNvSpPr/>
          <p:nvPr/>
        </p:nvSpPr>
        <p:spPr>
          <a:xfrm>
            <a:off x="822960" y="5897880"/>
            <a:ext cx="10515600" cy="365760"/>
          </a:xfrm>
          <a:prstGeom prst="rect">
            <a:avLst/>
          </a:prstGeom>
          <a:noFill/>
          <a:ln/>
        </p:spPr>
        <p:txBody>
          <a:bodyPr wrap="square" rtlCol="0" anchor="ctr"/>
          <a:lstStyle/>
          <a:p>
            <a:pPr indent="0" marL="0">
              <a:buNone/>
            </a:pPr>
            <a:r>
              <a:rPr lang="en-US" sz="1350" i="1" dirty="0">
                <a:solidFill>
                  <a:srgbClr val="76A3EE"/>
                </a:solidFill>
                <a:latin typeface="Assistant" pitchFamily="34" charset="0"/>
                <a:ea typeface="Assistant" pitchFamily="34" charset="-122"/>
                <a:cs typeface="Assistant" pitchFamily="34" charset="-120"/>
              </a:rPr>
              <a:t>Fil conducteur : un design « human-in-the-loop » — l'IA assiste, l'humain valide.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ÉTAT DE L'ART</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Quatre axes convergent vers le projet</a:t>
            </a:r>
            <a:endParaRPr lang="en-US" sz="2800" dirty="0"/>
          </a:p>
        </p:txBody>
      </p:sp>
      <p:sp>
        <p:nvSpPr>
          <p:cNvPr id="13" name="Shape 11"/>
          <p:cNvSpPr/>
          <p:nvPr/>
        </p:nvSpPr>
        <p:spPr>
          <a:xfrm>
            <a:off x="640080" y="1783080"/>
            <a:ext cx="5303520" cy="1691640"/>
          </a:xfrm>
          <a:prstGeom prst="roundRect">
            <a:avLst>
              <a:gd name="adj" fmla="val 6486"/>
            </a:avLst>
          </a:prstGeom>
          <a:solidFill>
            <a:srgbClr val="E3EDFF"/>
          </a:solidFill>
          <a:ln w="13970">
            <a:solidFill>
              <a:srgbClr val="76A3EE"/>
            </a:solidFill>
            <a:prstDash val="solid"/>
          </a:ln>
        </p:spPr>
      </p:sp>
      <p:sp>
        <p:nvSpPr>
          <p:cNvPr id="14" name="Shape 12"/>
          <p:cNvSpPr/>
          <p:nvPr/>
        </p:nvSpPr>
        <p:spPr>
          <a:xfrm>
            <a:off x="960120" y="2103120"/>
            <a:ext cx="566928" cy="566928"/>
          </a:xfrm>
          <a:prstGeom prst="ellipse">
            <a:avLst/>
          </a:prstGeom>
          <a:solidFill>
            <a:srgbClr val="385CB0"/>
          </a:solidFill>
          <a:ln/>
        </p:spPr>
      </p:sp>
      <p:sp>
        <p:nvSpPr>
          <p:cNvPr id="15" name="Shape 13"/>
          <p:cNvSpPr/>
          <p:nvPr/>
        </p:nvSpPr>
        <p:spPr>
          <a:xfrm>
            <a:off x="1201178" y="2261860"/>
            <a:ext cx="84812" cy="249448"/>
          </a:xfrm>
          <a:prstGeom prst="roundRect">
            <a:avLst>
              <a:gd name="adj" fmla="val 28000"/>
            </a:avLst>
          </a:prstGeom>
          <a:solidFill>
            <a:srgbClr val="FFFFFF"/>
          </a:solidFill>
          <a:ln/>
        </p:spPr>
      </p:sp>
      <p:sp>
        <p:nvSpPr>
          <p:cNvPr id="16" name="Shape 14"/>
          <p:cNvSpPr/>
          <p:nvPr/>
        </p:nvSpPr>
        <p:spPr>
          <a:xfrm>
            <a:off x="1118860" y="2344178"/>
            <a:ext cx="249448" cy="84812"/>
          </a:xfrm>
          <a:prstGeom prst="roundRect">
            <a:avLst>
              <a:gd name="adj" fmla="val 28000"/>
            </a:avLst>
          </a:prstGeom>
          <a:solidFill>
            <a:srgbClr val="FFFFFF"/>
          </a:solidFill>
          <a:ln/>
        </p:spPr>
      </p:sp>
      <p:sp>
        <p:nvSpPr>
          <p:cNvPr id="17" name="Text 15"/>
          <p:cNvSpPr/>
          <p:nvPr/>
        </p:nvSpPr>
        <p:spPr>
          <a:xfrm>
            <a:off x="1737360" y="2057400"/>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Apps pour soignants</a:t>
            </a:r>
            <a:endParaRPr lang="en-US" sz="1600" dirty="0"/>
          </a:p>
        </p:txBody>
      </p:sp>
      <p:sp>
        <p:nvSpPr>
          <p:cNvPr id="18" name="Text 16"/>
          <p:cNvSpPr/>
          <p:nvPr/>
        </p:nvSpPr>
        <p:spPr>
          <a:xfrm>
            <a:off x="1737360" y="2496312"/>
            <a:ext cx="4069080" cy="868680"/>
          </a:xfrm>
          <a:prstGeom prst="rect">
            <a:avLst/>
          </a:prstGeom>
          <a:noFill/>
          <a:ln/>
        </p:spPr>
        <p:txBody>
          <a:bodyPr wrap="square" rtlCol="0" anchor="ctr"/>
          <a:lstStyle/>
          <a:p>
            <a:pPr indent="0" marL="0">
              <a:lnSpc>
                <a:spcPct val="112000"/>
              </a:lnSpc>
              <a:buNone/>
            </a:pPr>
            <a:r>
              <a:rPr lang="en-US" sz="1300" dirty="0">
                <a:solidFill>
                  <a:srgbClr val="33415C"/>
                </a:solidFill>
                <a:latin typeface="Assistant" pitchFamily="34" charset="0"/>
                <a:ea typeface="Assistant" pitchFamily="34" charset="-122"/>
                <a:cs typeface="Assistant" pitchFamily="34" charset="-120"/>
              </a:rPr>
              <a:t>Aide à la décision, mindfulness anti burn-out — mais peu entraînent activement les soft skills.</a:t>
            </a:r>
            <a:endParaRPr lang="en-US" sz="1300" dirty="0"/>
          </a:p>
        </p:txBody>
      </p:sp>
      <p:sp>
        <p:nvSpPr>
          <p:cNvPr id="19" name="Shape 17"/>
          <p:cNvSpPr/>
          <p:nvPr/>
        </p:nvSpPr>
        <p:spPr>
          <a:xfrm>
            <a:off x="6309360" y="1783080"/>
            <a:ext cx="5303520" cy="1691640"/>
          </a:xfrm>
          <a:prstGeom prst="roundRect">
            <a:avLst>
              <a:gd name="adj" fmla="val 6486"/>
            </a:avLst>
          </a:prstGeom>
          <a:solidFill>
            <a:srgbClr val="FFFFFF"/>
          </a:solidFill>
          <a:ln w="13970">
            <a:solidFill>
              <a:srgbClr val="76A3EE"/>
            </a:solidFill>
            <a:prstDash val="solid"/>
          </a:ln>
        </p:spPr>
      </p:sp>
      <p:sp>
        <p:nvSpPr>
          <p:cNvPr id="20" name="Shape 18"/>
          <p:cNvSpPr/>
          <p:nvPr/>
        </p:nvSpPr>
        <p:spPr>
          <a:xfrm>
            <a:off x="6629400" y="2103120"/>
            <a:ext cx="566928" cy="566928"/>
          </a:xfrm>
          <a:prstGeom prst="ellipse">
            <a:avLst/>
          </a:prstGeom>
          <a:solidFill>
            <a:srgbClr val="76A3EE"/>
          </a:solidFill>
          <a:ln/>
        </p:spPr>
      </p:sp>
      <p:sp>
        <p:nvSpPr>
          <p:cNvPr id="21" name="Shape 19"/>
          <p:cNvSpPr/>
          <p:nvPr/>
        </p:nvSpPr>
        <p:spPr>
          <a:xfrm>
            <a:off x="6870458" y="2261860"/>
            <a:ext cx="84812" cy="249448"/>
          </a:xfrm>
          <a:prstGeom prst="roundRect">
            <a:avLst>
              <a:gd name="adj" fmla="val 28000"/>
            </a:avLst>
          </a:prstGeom>
          <a:solidFill>
            <a:srgbClr val="FFFFFF"/>
          </a:solidFill>
          <a:ln/>
        </p:spPr>
      </p:sp>
      <p:sp>
        <p:nvSpPr>
          <p:cNvPr id="22" name="Shape 20"/>
          <p:cNvSpPr/>
          <p:nvPr/>
        </p:nvSpPr>
        <p:spPr>
          <a:xfrm>
            <a:off x="6788140" y="2344178"/>
            <a:ext cx="249448" cy="84812"/>
          </a:xfrm>
          <a:prstGeom prst="roundRect">
            <a:avLst>
              <a:gd name="adj" fmla="val 28000"/>
            </a:avLst>
          </a:prstGeom>
          <a:solidFill>
            <a:srgbClr val="FFFFFF"/>
          </a:solidFill>
          <a:ln/>
        </p:spPr>
      </p:sp>
      <p:sp>
        <p:nvSpPr>
          <p:cNvPr id="23" name="Text 21"/>
          <p:cNvSpPr/>
          <p:nvPr/>
        </p:nvSpPr>
        <p:spPr>
          <a:xfrm>
            <a:off x="7406640" y="2057400"/>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Serious games fin de vie</a:t>
            </a:r>
            <a:endParaRPr lang="en-US" sz="1600" dirty="0"/>
          </a:p>
        </p:txBody>
      </p:sp>
      <p:sp>
        <p:nvSpPr>
          <p:cNvPr id="24" name="Text 22"/>
          <p:cNvSpPr/>
          <p:nvPr/>
        </p:nvSpPr>
        <p:spPr>
          <a:xfrm>
            <a:off x="7406640" y="2496312"/>
            <a:ext cx="4069080" cy="868680"/>
          </a:xfrm>
          <a:prstGeom prst="rect">
            <a:avLst/>
          </a:prstGeom>
          <a:noFill/>
          <a:ln/>
        </p:spPr>
        <p:txBody>
          <a:bodyPr wrap="square" rtlCol="0" anchor="ctr"/>
          <a:lstStyle/>
          <a:p>
            <a:pPr indent="0" marL="0">
              <a:lnSpc>
                <a:spcPct val="112000"/>
              </a:lnSpc>
              <a:buNone/>
            </a:pPr>
            <a:r>
              <a:rPr lang="en-US" sz="1300" dirty="0">
                <a:solidFill>
                  <a:srgbClr val="33415C"/>
                </a:solidFill>
                <a:latin typeface="Assistant" pitchFamily="34" charset="0"/>
                <a:ea typeface="Assistant" pitchFamily="34" charset="-122"/>
                <a:cs typeface="Assistant" pitchFamily="34" charset="-120"/>
              </a:rPr>
              <a:t>Cadre LDR « Live, Die, Repeat » : 88 % des résidents plus confiants après simulation.</a:t>
            </a:r>
            <a:endParaRPr lang="en-US" sz="1300" dirty="0"/>
          </a:p>
        </p:txBody>
      </p:sp>
      <p:sp>
        <p:nvSpPr>
          <p:cNvPr id="25" name="Shape 23"/>
          <p:cNvSpPr/>
          <p:nvPr/>
        </p:nvSpPr>
        <p:spPr>
          <a:xfrm>
            <a:off x="640080" y="3703320"/>
            <a:ext cx="5303520" cy="1691640"/>
          </a:xfrm>
          <a:prstGeom prst="roundRect">
            <a:avLst>
              <a:gd name="adj" fmla="val 6486"/>
            </a:avLst>
          </a:prstGeom>
          <a:solidFill>
            <a:srgbClr val="FFFFFF"/>
          </a:solidFill>
          <a:ln w="13970">
            <a:solidFill>
              <a:srgbClr val="76A3EE"/>
            </a:solidFill>
            <a:prstDash val="solid"/>
          </a:ln>
        </p:spPr>
      </p:sp>
      <p:sp>
        <p:nvSpPr>
          <p:cNvPr id="26" name="Shape 24"/>
          <p:cNvSpPr/>
          <p:nvPr/>
        </p:nvSpPr>
        <p:spPr>
          <a:xfrm>
            <a:off x="960120" y="4023360"/>
            <a:ext cx="566928" cy="566928"/>
          </a:xfrm>
          <a:prstGeom prst="ellipse">
            <a:avLst/>
          </a:prstGeom>
          <a:solidFill>
            <a:srgbClr val="0097A7"/>
          </a:solidFill>
          <a:ln/>
        </p:spPr>
      </p:sp>
      <p:sp>
        <p:nvSpPr>
          <p:cNvPr id="27" name="Shape 25"/>
          <p:cNvSpPr/>
          <p:nvPr/>
        </p:nvSpPr>
        <p:spPr>
          <a:xfrm>
            <a:off x="1201178" y="4182100"/>
            <a:ext cx="84812" cy="249448"/>
          </a:xfrm>
          <a:prstGeom prst="roundRect">
            <a:avLst>
              <a:gd name="adj" fmla="val 28000"/>
            </a:avLst>
          </a:prstGeom>
          <a:solidFill>
            <a:srgbClr val="FFFFFF"/>
          </a:solidFill>
          <a:ln/>
        </p:spPr>
      </p:sp>
      <p:sp>
        <p:nvSpPr>
          <p:cNvPr id="28" name="Shape 26"/>
          <p:cNvSpPr/>
          <p:nvPr/>
        </p:nvSpPr>
        <p:spPr>
          <a:xfrm>
            <a:off x="1118860" y="4264418"/>
            <a:ext cx="249448" cy="84812"/>
          </a:xfrm>
          <a:prstGeom prst="roundRect">
            <a:avLst>
              <a:gd name="adj" fmla="val 28000"/>
            </a:avLst>
          </a:prstGeom>
          <a:solidFill>
            <a:srgbClr val="FFFFFF"/>
          </a:solidFill>
          <a:ln/>
        </p:spPr>
      </p:sp>
      <p:sp>
        <p:nvSpPr>
          <p:cNvPr id="29" name="Text 27"/>
          <p:cNvSpPr/>
          <p:nvPr/>
        </p:nvSpPr>
        <p:spPr>
          <a:xfrm>
            <a:off x="1737360" y="3977640"/>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Livres dont on est le héros</a:t>
            </a:r>
            <a:endParaRPr lang="en-US" sz="1600" dirty="0"/>
          </a:p>
        </p:txBody>
      </p:sp>
      <p:sp>
        <p:nvSpPr>
          <p:cNvPr id="30" name="Text 28"/>
          <p:cNvSpPr/>
          <p:nvPr/>
        </p:nvSpPr>
        <p:spPr>
          <a:xfrm>
            <a:off x="1737360" y="4416552"/>
            <a:ext cx="4069080" cy="868680"/>
          </a:xfrm>
          <a:prstGeom prst="rect">
            <a:avLst/>
          </a:prstGeom>
          <a:noFill/>
          <a:ln/>
        </p:spPr>
        <p:txBody>
          <a:bodyPr wrap="square" rtlCol="0" anchor="ctr"/>
          <a:lstStyle/>
          <a:p>
            <a:pPr indent="0" marL="0">
              <a:lnSpc>
                <a:spcPct val="112000"/>
              </a:lnSpc>
              <a:buNone/>
            </a:pPr>
            <a:r>
              <a:rPr lang="en-US" sz="1300" dirty="0">
                <a:solidFill>
                  <a:srgbClr val="33415C"/>
                </a:solidFill>
                <a:latin typeface="Assistant" pitchFamily="34" charset="0"/>
                <a:ea typeface="Assistant" pitchFamily="34" charset="-122"/>
                <a:cs typeface="Assistant" pitchFamily="34" charset="-120"/>
              </a:rPr>
              <a:t>Récits à embranchements (Twine, CYOA) : chaque choix devient une arête d'un graphe.</a:t>
            </a:r>
            <a:endParaRPr lang="en-US" sz="1300" dirty="0"/>
          </a:p>
        </p:txBody>
      </p:sp>
      <p:sp>
        <p:nvSpPr>
          <p:cNvPr id="31" name="Shape 29"/>
          <p:cNvSpPr/>
          <p:nvPr/>
        </p:nvSpPr>
        <p:spPr>
          <a:xfrm>
            <a:off x="6309360" y="3703320"/>
            <a:ext cx="5303520" cy="1691640"/>
          </a:xfrm>
          <a:prstGeom prst="roundRect">
            <a:avLst>
              <a:gd name="adj" fmla="val 6486"/>
            </a:avLst>
          </a:prstGeom>
          <a:solidFill>
            <a:srgbClr val="FFFFFF"/>
          </a:solidFill>
          <a:ln w="13970">
            <a:solidFill>
              <a:srgbClr val="76A3EE"/>
            </a:solidFill>
            <a:prstDash val="solid"/>
          </a:ln>
        </p:spPr>
      </p:sp>
      <p:sp>
        <p:nvSpPr>
          <p:cNvPr id="32" name="Shape 30"/>
          <p:cNvSpPr/>
          <p:nvPr/>
        </p:nvSpPr>
        <p:spPr>
          <a:xfrm>
            <a:off x="6629400" y="4023360"/>
            <a:ext cx="566928" cy="566928"/>
          </a:xfrm>
          <a:prstGeom prst="ellipse">
            <a:avLst/>
          </a:prstGeom>
          <a:solidFill>
            <a:srgbClr val="385CB0"/>
          </a:solidFill>
          <a:ln/>
        </p:spPr>
      </p:sp>
      <p:sp>
        <p:nvSpPr>
          <p:cNvPr id="33" name="Shape 31"/>
          <p:cNvSpPr/>
          <p:nvPr/>
        </p:nvSpPr>
        <p:spPr>
          <a:xfrm>
            <a:off x="6870458" y="4182100"/>
            <a:ext cx="84812" cy="249448"/>
          </a:xfrm>
          <a:prstGeom prst="roundRect">
            <a:avLst>
              <a:gd name="adj" fmla="val 28000"/>
            </a:avLst>
          </a:prstGeom>
          <a:solidFill>
            <a:srgbClr val="FFFFFF"/>
          </a:solidFill>
          <a:ln/>
        </p:spPr>
      </p:sp>
      <p:sp>
        <p:nvSpPr>
          <p:cNvPr id="34" name="Shape 32"/>
          <p:cNvSpPr/>
          <p:nvPr/>
        </p:nvSpPr>
        <p:spPr>
          <a:xfrm>
            <a:off x="6788140" y="4264418"/>
            <a:ext cx="249448" cy="84812"/>
          </a:xfrm>
          <a:prstGeom prst="roundRect">
            <a:avLst>
              <a:gd name="adj" fmla="val 28000"/>
            </a:avLst>
          </a:prstGeom>
          <a:solidFill>
            <a:srgbClr val="FFFFFF"/>
          </a:solidFill>
          <a:ln/>
        </p:spPr>
      </p:sp>
      <p:sp>
        <p:nvSpPr>
          <p:cNvPr id="35" name="Text 33"/>
          <p:cNvSpPr/>
          <p:nvPr/>
        </p:nvSpPr>
        <p:spPr>
          <a:xfrm>
            <a:off x="7406640" y="3977640"/>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Soft skills &amp; profilage</a:t>
            </a:r>
            <a:endParaRPr lang="en-US" sz="1600" dirty="0"/>
          </a:p>
        </p:txBody>
      </p:sp>
      <p:sp>
        <p:nvSpPr>
          <p:cNvPr id="36" name="Text 34"/>
          <p:cNvSpPr/>
          <p:nvPr/>
        </p:nvSpPr>
        <p:spPr>
          <a:xfrm>
            <a:off x="7406640" y="4416552"/>
            <a:ext cx="4069080" cy="868680"/>
          </a:xfrm>
          <a:prstGeom prst="rect">
            <a:avLst/>
          </a:prstGeom>
          <a:noFill/>
          <a:ln/>
        </p:spPr>
        <p:txBody>
          <a:bodyPr wrap="square" rtlCol="0" anchor="ctr"/>
          <a:lstStyle/>
          <a:p>
            <a:pPr indent="0" marL="0">
              <a:lnSpc>
                <a:spcPct val="112000"/>
              </a:lnSpc>
              <a:buNone/>
            </a:pPr>
            <a:r>
              <a:rPr lang="en-US" sz="1300" dirty="0">
                <a:solidFill>
                  <a:srgbClr val="33415C"/>
                </a:solidFill>
                <a:latin typeface="Assistant" pitchFamily="34" charset="0"/>
                <a:ea typeface="Assistant" pitchFamily="34" charset="-122"/>
                <a:cs typeface="Assistant" pitchFamily="34" charset="-120"/>
              </a:rPr>
              <a:t>Cadres PERCS, échelles IRI / JSE ; évaluation comportementale par Machine Learning.</a:t>
            </a:r>
            <a:endParaRPr lang="en-US" sz="1300" dirty="0"/>
          </a:p>
        </p:txBody>
      </p:sp>
      <p:sp>
        <p:nvSpPr>
          <p:cNvPr id="37" name="Text 35"/>
          <p:cNvSpPr/>
          <p:nvPr/>
        </p:nvSpPr>
        <p:spPr>
          <a:xfrm>
            <a:off x="640080" y="5806440"/>
            <a:ext cx="10972800" cy="365760"/>
          </a:xfrm>
          <a:prstGeom prst="rect">
            <a:avLst/>
          </a:prstGeom>
          <a:noFill/>
          <a:ln/>
        </p:spPr>
        <p:txBody>
          <a:bodyPr wrap="square" rtlCol="0" anchor="ctr"/>
          <a:lstStyle/>
          <a:p>
            <a:pPr indent="0" marL="0">
              <a:buNone/>
            </a:pPr>
            <a:r>
              <a:rPr lang="en-US" sz="1350" b="1" i="1" dirty="0">
                <a:solidFill>
                  <a:srgbClr val="385CB0"/>
                </a:solidFill>
                <a:latin typeface="Assistant" pitchFamily="34" charset="0"/>
                <a:ea typeface="Assistant" pitchFamily="34" charset="-122"/>
                <a:cs typeface="Assistant" pitchFamily="34" charset="-120"/>
              </a:rPr>
              <a:t>Lacune ciblée : un environnement narratif interactif qui entraîne ET évalue les compétences relationnelles.</a:t>
            </a:r>
            <a:endParaRPr lang="en-US" sz="1350" dirty="0"/>
          </a:p>
        </p:txBody>
      </p:sp>
      <p:sp>
        <p:nvSpPr>
          <p:cNvPr id="38" name="Shape 36"/>
          <p:cNvSpPr/>
          <p:nvPr/>
        </p:nvSpPr>
        <p:spPr>
          <a:xfrm>
            <a:off x="9829800" y="6327648"/>
            <a:ext cx="82296" cy="82296"/>
          </a:xfrm>
          <a:prstGeom prst="ellipse">
            <a:avLst/>
          </a:prstGeom>
          <a:solidFill>
            <a:srgbClr val="76A3EE"/>
          </a:solidFill>
          <a:ln/>
        </p:spPr>
      </p:sp>
      <p:sp>
        <p:nvSpPr>
          <p:cNvPr id="39" name="Shape 37"/>
          <p:cNvSpPr/>
          <p:nvPr/>
        </p:nvSpPr>
        <p:spPr>
          <a:xfrm>
            <a:off x="10030968" y="6327648"/>
            <a:ext cx="82296" cy="82296"/>
          </a:xfrm>
          <a:prstGeom prst="ellipse">
            <a:avLst/>
          </a:prstGeom>
          <a:solidFill>
            <a:srgbClr val="76A3EE"/>
          </a:solidFill>
          <a:ln/>
        </p:spPr>
      </p:sp>
      <p:sp>
        <p:nvSpPr>
          <p:cNvPr id="40" name="Shape 38"/>
          <p:cNvSpPr/>
          <p:nvPr/>
        </p:nvSpPr>
        <p:spPr>
          <a:xfrm>
            <a:off x="10232136" y="6327648"/>
            <a:ext cx="82296" cy="82296"/>
          </a:xfrm>
          <a:prstGeom prst="ellipse">
            <a:avLst/>
          </a:prstGeom>
          <a:solidFill>
            <a:srgbClr val="76A3EE"/>
          </a:solidFill>
          <a:ln/>
        </p:spPr>
      </p:sp>
      <p:sp>
        <p:nvSpPr>
          <p:cNvPr id="41" name="Shape 39"/>
          <p:cNvSpPr/>
          <p:nvPr/>
        </p:nvSpPr>
        <p:spPr>
          <a:xfrm>
            <a:off x="10433304" y="6327648"/>
            <a:ext cx="82296" cy="82296"/>
          </a:xfrm>
          <a:prstGeom prst="ellipse">
            <a:avLst/>
          </a:prstGeom>
          <a:solidFill>
            <a:srgbClr val="76A3EE"/>
          </a:solidFill>
          <a:ln/>
        </p:spPr>
      </p:sp>
      <p:sp>
        <p:nvSpPr>
          <p:cNvPr id="42" name="Shape 40"/>
          <p:cNvSpPr/>
          <p:nvPr/>
        </p:nvSpPr>
        <p:spPr>
          <a:xfrm>
            <a:off x="10634472" y="6327648"/>
            <a:ext cx="82296" cy="82296"/>
          </a:xfrm>
          <a:prstGeom prst="ellipse">
            <a:avLst/>
          </a:prstGeom>
          <a:solidFill>
            <a:srgbClr val="385CB0"/>
          </a:solidFill>
          <a:ln/>
        </p:spPr>
      </p:sp>
      <p:sp>
        <p:nvSpPr>
          <p:cNvPr id="43" name="Text 41"/>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MÉTHODE · MODÈLE DE DONNÉES</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Du JSON hiérarchique au graphe orienté</a:t>
            </a:r>
            <a:endParaRPr lang="en-US" sz="2800" dirty="0"/>
          </a:p>
        </p:txBody>
      </p:sp>
      <p:sp>
        <p:nvSpPr>
          <p:cNvPr id="13" name="Shape 11"/>
          <p:cNvSpPr/>
          <p:nvPr/>
        </p:nvSpPr>
        <p:spPr>
          <a:xfrm>
            <a:off x="685800" y="1828800"/>
            <a:ext cx="2468880" cy="566928"/>
          </a:xfrm>
          <a:prstGeom prst="roundRect">
            <a:avLst>
              <a:gd name="adj" fmla="val 12903"/>
            </a:avLst>
          </a:prstGeom>
          <a:solidFill>
            <a:srgbClr val="001B58"/>
          </a:solidFill>
          <a:ln/>
        </p:spPr>
      </p:sp>
      <p:sp>
        <p:nvSpPr>
          <p:cNvPr id="14" name="Text 12"/>
          <p:cNvSpPr/>
          <p:nvPr/>
        </p:nvSpPr>
        <p:spPr>
          <a:xfrm>
            <a:off x="685800" y="1828800"/>
            <a:ext cx="2468880" cy="566928"/>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Chapter</a:t>
            </a:r>
            <a:endParaRPr lang="en-US" sz="1500" dirty="0"/>
          </a:p>
        </p:txBody>
      </p:sp>
      <p:sp>
        <p:nvSpPr>
          <p:cNvPr id="15" name="Text 13"/>
          <p:cNvSpPr/>
          <p:nvPr/>
        </p:nvSpPr>
        <p:spPr>
          <a:xfrm>
            <a:off x="1737360" y="2377440"/>
            <a:ext cx="365760" cy="256032"/>
          </a:xfrm>
          <a:prstGeom prst="rect">
            <a:avLst/>
          </a:prstGeom>
          <a:noFill/>
          <a:ln/>
        </p:spPr>
        <p:txBody>
          <a:bodyPr wrap="square" rtlCol="0" anchor="ctr"/>
          <a:lstStyle/>
          <a:p>
            <a:pPr algn="ctr" indent="0" marL="0">
              <a:buNone/>
            </a:pPr>
            <a:r>
              <a:rPr lang="en-US" sz="1100" dirty="0">
                <a:solidFill>
                  <a:srgbClr val="76A3EE"/>
                </a:solidFill>
                <a:latin typeface="Assistant" pitchFamily="34" charset="0"/>
                <a:ea typeface="Assistant" pitchFamily="34" charset="-122"/>
                <a:cs typeface="Assistant" pitchFamily="34" charset="-120"/>
              </a:rPr>
              <a:t>▼</a:t>
            </a:r>
            <a:endParaRPr lang="en-US" sz="1100" dirty="0"/>
          </a:p>
        </p:txBody>
      </p:sp>
      <p:sp>
        <p:nvSpPr>
          <p:cNvPr id="16" name="Shape 14"/>
          <p:cNvSpPr/>
          <p:nvPr/>
        </p:nvSpPr>
        <p:spPr>
          <a:xfrm>
            <a:off x="685800" y="2670048"/>
            <a:ext cx="2468880" cy="566928"/>
          </a:xfrm>
          <a:prstGeom prst="roundRect">
            <a:avLst>
              <a:gd name="adj" fmla="val 12903"/>
            </a:avLst>
          </a:prstGeom>
          <a:solidFill>
            <a:srgbClr val="385CB0"/>
          </a:solidFill>
          <a:ln/>
        </p:spPr>
      </p:sp>
      <p:sp>
        <p:nvSpPr>
          <p:cNvPr id="17" name="Text 15"/>
          <p:cNvSpPr/>
          <p:nvPr/>
        </p:nvSpPr>
        <p:spPr>
          <a:xfrm>
            <a:off x="685800" y="2670048"/>
            <a:ext cx="2468880" cy="566928"/>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Scene</a:t>
            </a:r>
            <a:endParaRPr lang="en-US" sz="1500" dirty="0"/>
          </a:p>
        </p:txBody>
      </p:sp>
      <p:sp>
        <p:nvSpPr>
          <p:cNvPr id="18" name="Text 16"/>
          <p:cNvSpPr/>
          <p:nvPr/>
        </p:nvSpPr>
        <p:spPr>
          <a:xfrm>
            <a:off x="1737360" y="3218688"/>
            <a:ext cx="365760" cy="256032"/>
          </a:xfrm>
          <a:prstGeom prst="rect">
            <a:avLst/>
          </a:prstGeom>
          <a:noFill/>
          <a:ln/>
        </p:spPr>
        <p:txBody>
          <a:bodyPr wrap="square" rtlCol="0" anchor="ctr"/>
          <a:lstStyle/>
          <a:p>
            <a:pPr algn="ctr" indent="0" marL="0">
              <a:buNone/>
            </a:pPr>
            <a:r>
              <a:rPr lang="en-US" sz="1100" dirty="0">
                <a:solidFill>
                  <a:srgbClr val="76A3EE"/>
                </a:solidFill>
                <a:latin typeface="Assistant" pitchFamily="34" charset="0"/>
                <a:ea typeface="Assistant" pitchFamily="34" charset="-122"/>
                <a:cs typeface="Assistant" pitchFamily="34" charset="-120"/>
              </a:rPr>
              <a:t>▼</a:t>
            </a:r>
            <a:endParaRPr lang="en-US" sz="1100" dirty="0"/>
          </a:p>
        </p:txBody>
      </p:sp>
      <p:sp>
        <p:nvSpPr>
          <p:cNvPr id="19" name="Shape 17"/>
          <p:cNvSpPr/>
          <p:nvPr/>
        </p:nvSpPr>
        <p:spPr>
          <a:xfrm>
            <a:off x="685800" y="3511296"/>
            <a:ext cx="2468880" cy="566928"/>
          </a:xfrm>
          <a:prstGeom prst="roundRect">
            <a:avLst>
              <a:gd name="adj" fmla="val 12903"/>
            </a:avLst>
          </a:prstGeom>
          <a:solidFill>
            <a:srgbClr val="76A3EE"/>
          </a:solidFill>
          <a:ln/>
        </p:spPr>
      </p:sp>
      <p:sp>
        <p:nvSpPr>
          <p:cNvPr id="20" name="Text 18"/>
          <p:cNvSpPr/>
          <p:nvPr/>
        </p:nvSpPr>
        <p:spPr>
          <a:xfrm>
            <a:off x="685800" y="3511296"/>
            <a:ext cx="2468880" cy="566928"/>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Interaction</a:t>
            </a:r>
            <a:endParaRPr lang="en-US" sz="1500" dirty="0"/>
          </a:p>
        </p:txBody>
      </p:sp>
      <p:sp>
        <p:nvSpPr>
          <p:cNvPr id="21" name="Text 19"/>
          <p:cNvSpPr/>
          <p:nvPr/>
        </p:nvSpPr>
        <p:spPr>
          <a:xfrm>
            <a:off x="1737360" y="4059936"/>
            <a:ext cx="365760" cy="256032"/>
          </a:xfrm>
          <a:prstGeom prst="rect">
            <a:avLst/>
          </a:prstGeom>
          <a:noFill/>
          <a:ln/>
        </p:spPr>
        <p:txBody>
          <a:bodyPr wrap="square" rtlCol="0" anchor="ctr"/>
          <a:lstStyle/>
          <a:p>
            <a:pPr algn="ctr" indent="0" marL="0">
              <a:buNone/>
            </a:pPr>
            <a:r>
              <a:rPr lang="en-US" sz="1100" dirty="0">
                <a:solidFill>
                  <a:srgbClr val="76A3EE"/>
                </a:solidFill>
                <a:latin typeface="Assistant" pitchFamily="34" charset="0"/>
                <a:ea typeface="Assistant" pitchFamily="34" charset="-122"/>
                <a:cs typeface="Assistant" pitchFamily="34" charset="-120"/>
              </a:rPr>
              <a:t>▼</a:t>
            </a:r>
            <a:endParaRPr lang="en-US" sz="1100" dirty="0"/>
          </a:p>
        </p:txBody>
      </p:sp>
      <p:sp>
        <p:nvSpPr>
          <p:cNvPr id="22" name="Shape 20"/>
          <p:cNvSpPr/>
          <p:nvPr/>
        </p:nvSpPr>
        <p:spPr>
          <a:xfrm>
            <a:off x="685800" y="4352544"/>
            <a:ext cx="2468880" cy="566928"/>
          </a:xfrm>
          <a:prstGeom prst="roundRect">
            <a:avLst>
              <a:gd name="adj" fmla="val 12903"/>
            </a:avLst>
          </a:prstGeom>
          <a:solidFill>
            <a:srgbClr val="0097A7"/>
          </a:solidFill>
          <a:ln/>
        </p:spPr>
      </p:sp>
      <p:sp>
        <p:nvSpPr>
          <p:cNvPr id="23" name="Text 21"/>
          <p:cNvSpPr/>
          <p:nvPr/>
        </p:nvSpPr>
        <p:spPr>
          <a:xfrm>
            <a:off x="685800" y="4352544"/>
            <a:ext cx="2468880" cy="566928"/>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Response</a:t>
            </a:r>
            <a:endParaRPr lang="en-US" sz="1500" dirty="0"/>
          </a:p>
        </p:txBody>
      </p:sp>
      <p:sp>
        <p:nvSpPr>
          <p:cNvPr id="24" name="Text 22"/>
          <p:cNvSpPr/>
          <p:nvPr/>
        </p:nvSpPr>
        <p:spPr>
          <a:xfrm>
            <a:off x="640080" y="5349240"/>
            <a:ext cx="2606040" cy="640080"/>
          </a:xfrm>
          <a:prstGeom prst="rect">
            <a:avLst/>
          </a:prstGeom>
          <a:noFill/>
          <a:ln/>
        </p:spPr>
        <p:txBody>
          <a:bodyPr wrap="square" rtlCol="0" anchor="ctr"/>
          <a:lstStyle/>
          <a:p>
            <a:pPr algn="ctr" indent="0" marL="0">
              <a:buNone/>
            </a:pPr>
            <a:r>
              <a:rPr lang="en-US" sz="1150" i="1" dirty="0">
                <a:solidFill>
                  <a:srgbClr val="8893AE"/>
                </a:solidFill>
                <a:latin typeface="Assistant" pitchFamily="34" charset="0"/>
                <a:ea typeface="Assistant" pitchFamily="34" charset="-122"/>
                <a:cs typeface="Assistant" pitchFamily="34" charset="-120"/>
              </a:rPr>
              <a:t>Compatibilité JSON conservée</a:t>
            </a:r>
            <a:endParaRPr lang="en-US" sz="1150" dirty="0"/>
          </a:p>
          <a:p>
            <a:pPr algn="ctr" indent="0" marL="0">
              <a:buNone/>
            </a:pPr>
            <a:r>
              <a:rPr lang="en-US" sz="1150" i="1" dirty="0">
                <a:solidFill>
                  <a:srgbClr val="8893AE"/>
                </a:solidFill>
                <a:latin typeface="Assistant" pitchFamily="34" charset="0"/>
                <a:ea typeface="Assistant" pitchFamily="34" charset="-122"/>
                <a:cs typeface="Assistant" pitchFamily="34" charset="-120"/>
              </a:rPr>
              <a:t>(moteur Unity / Naninovel)</a:t>
            </a:r>
            <a:endParaRPr lang="en-US" sz="1150" dirty="0"/>
          </a:p>
        </p:txBody>
      </p:sp>
      <p:sp>
        <p:nvSpPr>
          <p:cNvPr id="25" name="Text 23"/>
          <p:cNvSpPr/>
          <p:nvPr/>
        </p:nvSpPr>
        <p:spPr>
          <a:xfrm>
            <a:off x="3429000" y="3154680"/>
            <a:ext cx="1325880" cy="365760"/>
          </a:xfrm>
          <a:prstGeom prst="rect">
            <a:avLst/>
          </a:prstGeom>
          <a:noFill/>
          <a:ln/>
        </p:spPr>
        <p:txBody>
          <a:bodyPr wrap="square" rtlCol="0" anchor="ctr"/>
          <a:lstStyle/>
          <a:p>
            <a:pPr algn="ctr" indent="0" marL="0">
              <a:buNone/>
            </a:pPr>
            <a:r>
              <a:rPr lang="en-US" sz="1200" b="1" dirty="0">
                <a:solidFill>
                  <a:srgbClr val="0097A7"/>
                </a:solidFill>
                <a:latin typeface="Assistant" pitchFamily="34" charset="0"/>
                <a:ea typeface="Assistant" pitchFamily="34" charset="-122"/>
                <a:cs typeface="Assistant" pitchFamily="34" charset="-120"/>
              </a:rPr>
              <a:t>graph_service →</a:t>
            </a:r>
            <a:endParaRPr lang="en-US" sz="1200" dirty="0"/>
          </a:p>
        </p:txBody>
      </p:sp>
      <p:sp>
        <p:nvSpPr>
          <p:cNvPr id="26" name="Shape 24"/>
          <p:cNvSpPr/>
          <p:nvPr/>
        </p:nvSpPr>
        <p:spPr>
          <a:xfrm>
            <a:off x="7818120" y="2286000"/>
            <a:ext cx="-1828800" cy="1051560"/>
          </a:xfrm>
          <a:prstGeom prst="line">
            <a:avLst/>
          </a:prstGeom>
          <a:noFill/>
          <a:ln w="25400">
            <a:solidFill>
              <a:srgbClr val="76A3EE"/>
            </a:solidFill>
            <a:prstDash val="solid"/>
          </a:ln>
        </p:spPr>
      </p:sp>
      <p:sp>
        <p:nvSpPr>
          <p:cNvPr id="27" name="Shape 25"/>
          <p:cNvSpPr/>
          <p:nvPr/>
        </p:nvSpPr>
        <p:spPr>
          <a:xfrm>
            <a:off x="7818120" y="2286000"/>
            <a:ext cx="1828800" cy="1051560"/>
          </a:xfrm>
          <a:prstGeom prst="line">
            <a:avLst/>
          </a:prstGeom>
          <a:noFill/>
          <a:ln w="25400">
            <a:solidFill>
              <a:srgbClr val="76A3EE"/>
            </a:solidFill>
            <a:prstDash val="solid"/>
          </a:ln>
        </p:spPr>
      </p:sp>
      <p:sp>
        <p:nvSpPr>
          <p:cNvPr id="28" name="Shape 26"/>
          <p:cNvSpPr/>
          <p:nvPr/>
        </p:nvSpPr>
        <p:spPr>
          <a:xfrm>
            <a:off x="5989320" y="3337560"/>
            <a:ext cx="1828800" cy="1051560"/>
          </a:xfrm>
          <a:prstGeom prst="line">
            <a:avLst/>
          </a:prstGeom>
          <a:noFill/>
          <a:ln w="25400">
            <a:solidFill>
              <a:srgbClr val="76A3EE"/>
            </a:solidFill>
            <a:prstDash val="solid"/>
          </a:ln>
        </p:spPr>
      </p:sp>
      <p:sp>
        <p:nvSpPr>
          <p:cNvPr id="29" name="Shape 27"/>
          <p:cNvSpPr/>
          <p:nvPr/>
        </p:nvSpPr>
        <p:spPr>
          <a:xfrm>
            <a:off x="9646920" y="3337560"/>
            <a:ext cx="-1828800" cy="1051560"/>
          </a:xfrm>
          <a:prstGeom prst="line">
            <a:avLst/>
          </a:prstGeom>
          <a:noFill/>
          <a:ln w="25400">
            <a:solidFill>
              <a:srgbClr val="76A3EE"/>
            </a:solidFill>
            <a:prstDash val="solid"/>
          </a:ln>
        </p:spPr>
      </p:sp>
      <p:sp>
        <p:nvSpPr>
          <p:cNvPr id="30" name="Shape 28"/>
          <p:cNvSpPr/>
          <p:nvPr/>
        </p:nvSpPr>
        <p:spPr>
          <a:xfrm>
            <a:off x="7406640" y="1874520"/>
            <a:ext cx="822960" cy="822960"/>
          </a:xfrm>
          <a:prstGeom prst="ellipse">
            <a:avLst/>
          </a:prstGeom>
          <a:solidFill>
            <a:srgbClr val="385CB0"/>
          </a:solidFill>
          <a:ln w="19050">
            <a:solidFill>
              <a:srgbClr val="001B58"/>
            </a:solidFill>
            <a:prstDash val="solid"/>
          </a:ln>
        </p:spPr>
      </p:sp>
      <p:sp>
        <p:nvSpPr>
          <p:cNvPr id="31" name="Text 29"/>
          <p:cNvSpPr/>
          <p:nvPr/>
        </p:nvSpPr>
        <p:spPr>
          <a:xfrm>
            <a:off x="7406640" y="1874520"/>
            <a:ext cx="822960" cy="822960"/>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I1</a:t>
            </a:r>
            <a:endParaRPr lang="en-US" sz="1500" dirty="0"/>
          </a:p>
        </p:txBody>
      </p:sp>
      <p:sp>
        <p:nvSpPr>
          <p:cNvPr id="32" name="Shape 30"/>
          <p:cNvSpPr/>
          <p:nvPr/>
        </p:nvSpPr>
        <p:spPr>
          <a:xfrm>
            <a:off x="5577840" y="2926080"/>
            <a:ext cx="822960" cy="822960"/>
          </a:xfrm>
          <a:prstGeom prst="ellipse">
            <a:avLst/>
          </a:prstGeom>
          <a:solidFill>
            <a:srgbClr val="385CB0"/>
          </a:solidFill>
          <a:ln w="19050">
            <a:solidFill>
              <a:srgbClr val="001B58"/>
            </a:solidFill>
            <a:prstDash val="solid"/>
          </a:ln>
        </p:spPr>
      </p:sp>
      <p:sp>
        <p:nvSpPr>
          <p:cNvPr id="33" name="Text 31"/>
          <p:cNvSpPr/>
          <p:nvPr/>
        </p:nvSpPr>
        <p:spPr>
          <a:xfrm>
            <a:off x="5577840" y="2926080"/>
            <a:ext cx="822960" cy="822960"/>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I2</a:t>
            </a:r>
            <a:endParaRPr lang="en-US" sz="1500" dirty="0"/>
          </a:p>
        </p:txBody>
      </p:sp>
      <p:sp>
        <p:nvSpPr>
          <p:cNvPr id="34" name="Shape 32"/>
          <p:cNvSpPr/>
          <p:nvPr/>
        </p:nvSpPr>
        <p:spPr>
          <a:xfrm>
            <a:off x="9235440" y="2926080"/>
            <a:ext cx="822960" cy="822960"/>
          </a:xfrm>
          <a:prstGeom prst="ellipse">
            <a:avLst/>
          </a:prstGeom>
          <a:solidFill>
            <a:srgbClr val="385CB0"/>
          </a:solidFill>
          <a:ln w="19050">
            <a:solidFill>
              <a:srgbClr val="001B58"/>
            </a:solidFill>
            <a:prstDash val="solid"/>
          </a:ln>
        </p:spPr>
      </p:sp>
      <p:sp>
        <p:nvSpPr>
          <p:cNvPr id="35" name="Text 33"/>
          <p:cNvSpPr/>
          <p:nvPr/>
        </p:nvSpPr>
        <p:spPr>
          <a:xfrm>
            <a:off x="9235440" y="2926080"/>
            <a:ext cx="822960" cy="822960"/>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I3</a:t>
            </a:r>
            <a:endParaRPr lang="en-US" sz="1500" dirty="0"/>
          </a:p>
        </p:txBody>
      </p:sp>
      <p:sp>
        <p:nvSpPr>
          <p:cNvPr id="36" name="Shape 34"/>
          <p:cNvSpPr/>
          <p:nvPr/>
        </p:nvSpPr>
        <p:spPr>
          <a:xfrm>
            <a:off x="7406640" y="3977640"/>
            <a:ext cx="822960" cy="822960"/>
          </a:xfrm>
          <a:prstGeom prst="ellipse">
            <a:avLst/>
          </a:prstGeom>
          <a:solidFill>
            <a:srgbClr val="385CB0"/>
          </a:solidFill>
          <a:ln w="19050">
            <a:solidFill>
              <a:srgbClr val="001B58"/>
            </a:solidFill>
            <a:prstDash val="solid"/>
          </a:ln>
        </p:spPr>
      </p:sp>
      <p:sp>
        <p:nvSpPr>
          <p:cNvPr id="37" name="Text 35"/>
          <p:cNvSpPr/>
          <p:nvPr/>
        </p:nvSpPr>
        <p:spPr>
          <a:xfrm>
            <a:off x="7406640" y="3977640"/>
            <a:ext cx="822960" cy="822960"/>
          </a:xfrm>
          <a:prstGeom prst="rect">
            <a:avLst/>
          </a:prstGeom>
          <a:noFill/>
          <a:ln/>
        </p:spPr>
        <p:txBody>
          <a:bodyPr wrap="square" rtlCol="0" anchor="ctr"/>
          <a:lstStyle/>
          <a:p>
            <a:pPr algn="ctr" indent="0" marL="0">
              <a:buNone/>
            </a:pPr>
            <a:r>
              <a:rPr lang="en-US" sz="1500" b="1" dirty="0">
                <a:solidFill>
                  <a:srgbClr val="FFFFFF"/>
                </a:solidFill>
                <a:latin typeface="Archivo" pitchFamily="34" charset="0"/>
                <a:ea typeface="Archivo" pitchFamily="34" charset="-122"/>
                <a:cs typeface="Archivo" pitchFamily="34" charset="-120"/>
              </a:rPr>
              <a:t>I4</a:t>
            </a:r>
            <a:endParaRPr lang="en-US" sz="1500" dirty="0"/>
          </a:p>
        </p:txBody>
      </p:sp>
      <p:sp>
        <p:nvSpPr>
          <p:cNvPr id="38" name="Text 36"/>
          <p:cNvSpPr/>
          <p:nvPr/>
        </p:nvSpPr>
        <p:spPr>
          <a:xfrm>
            <a:off x="5029200" y="5029200"/>
            <a:ext cx="6583680" cy="365760"/>
          </a:xfrm>
          <a:prstGeom prst="rect">
            <a:avLst/>
          </a:prstGeom>
          <a:noFill/>
          <a:ln/>
        </p:spPr>
        <p:txBody>
          <a:bodyPr wrap="square" rtlCol="0" anchor="ctr"/>
          <a:lstStyle/>
          <a:p>
            <a:pPr algn="ctr" indent="0" marL="0">
              <a:buNone/>
            </a:pPr>
            <a:r>
              <a:rPr lang="en-US" sz="1200" dirty="0">
                <a:solidFill>
                  <a:srgbClr val="33415C"/>
                </a:solidFill>
                <a:latin typeface="Assistant" pitchFamily="34" charset="0"/>
                <a:ea typeface="Assistant" pitchFamily="34" charset="-122"/>
                <a:cs typeface="Assistant" pitchFamily="34" charset="-120"/>
              </a:rPr>
              <a:t>Chaque Interaction = nœud · chaque Response = arête (NextInteractionID).  « -1 » = fin de branche.</a:t>
            </a:r>
            <a:endParaRPr lang="en-US" sz="1200" dirty="0"/>
          </a:p>
        </p:txBody>
      </p:sp>
      <p:sp>
        <p:nvSpPr>
          <p:cNvPr id="39" name="Shape 37"/>
          <p:cNvSpPr/>
          <p:nvPr/>
        </p:nvSpPr>
        <p:spPr>
          <a:xfrm>
            <a:off x="5029200" y="5532120"/>
            <a:ext cx="6583680" cy="731520"/>
          </a:xfrm>
          <a:prstGeom prst="roundRect">
            <a:avLst>
              <a:gd name="adj" fmla="val 12500"/>
            </a:avLst>
          </a:prstGeom>
          <a:solidFill>
            <a:srgbClr val="E3EDFF"/>
          </a:solidFill>
          <a:ln/>
        </p:spPr>
      </p:sp>
      <p:sp>
        <p:nvSpPr>
          <p:cNvPr id="40" name="Text 38"/>
          <p:cNvSpPr/>
          <p:nvPr/>
        </p:nvSpPr>
        <p:spPr>
          <a:xfrm>
            <a:off x="5120640" y="5577840"/>
            <a:ext cx="6400800" cy="301752"/>
          </a:xfrm>
          <a:prstGeom prst="rect">
            <a:avLst/>
          </a:prstGeom>
          <a:noFill/>
          <a:ln/>
        </p:spPr>
        <p:txBody>
          <a:bodyPr wrap="square" rtlCol="0" anchor="ctr"/>
          <a:lstStyle/>
          <a:p>
            <a:pPr algn="ctr" indent="0" marL="0">
              <a:buNone/>
            </a:pPr>
            <a:r>
              <a:rPr lang="en-US" sz="1300" b="1" dirty="0">
                <a:solidFill>
                  <a:srgbClr val="001B58"/>
                </a:solidFill>
                <a:latin typeface="Archivo" pitchFamily="34" charset="0"/>
                <a:ea typeface="Archivo" pitchFamily="34" charset="-122"/>
                <a:cs typeface="Archivo" pitchFamily="34" charset="-120"/>
              </a:rPr>
              <a:t>Scoring étendu : 3 → 7 dimensions soft skills (échelle −3 à +3)</a:t>
            </a:r>
            <a:endParaRPr lang="en-US" sz="1300" dirty="0"/>
          </a:p>
        </p:txBody>
      </p:sp>
      <p:sp>
        <p:nvSpPr>
          <p:cNvPr id="41" name="Text 39"/>
          <p:cNvSpPr/>
          <p:nvPr/>
        </p:nvSpPr>
        <p:spPr>
          <a:xfrm>
            <a:off x="5120640" y="5879592"/>
            <a:ext cx="6400800" cy="301752"/>
          </a:xfrm>
          <a:prstGeom prst="rect">
            <a:avLst/>
          </a:prstGeom>
          <a:noFill/>
          <a:ln/>
        </p:spPr>
        <p:txBody>
          <a:bodyPr wrap="square" rtlCol="0" anchor="ctr"/>
          <a:lstStyle/>
          <a:p>
            <a:pPr algn="ctr" indent="0" marL="0">
              <a:buNone/>
            </a:pPr>
            <a:r>
              <a:rPr lang="en-US" sz="1050" dirty="0">
                <a:solidFill>
                  <a:srgbClr val="33415C"/>
                </a:solidFill>
                <a:latin typeface="Assistant" pitchFamily="34" charset="0"/>
                <a:ea typeface="Assistant" pitchFamily="34" charset="-122"/>
                <a:cs typeface="Assistant" pitchFamily="34" charset="-120"/>
              </a:rPr>
              <a:t>Respect · Empathie · Compassion · Régulation émo. · Clarté · Frontières pro. · Collaboration</a:t>
            </a:r>
            <a:endParaRPr lang="en-US" sz="1050" dirty="0"/>
          </a:p>
        </p:txBody>
      </p:sp>
      <p:sp>
        <p:nvSpPr>
          <p:cNvPr id="42" name="Shape 40"/>
          <p:cNvSpPr/>
          <p:nvPr/>
        </p:nvSpPr>
        <p:spPr>
          <a:xfrm>
            <a:off x="9829800" y="6327648"/>
            <a:ext cx="82296" cy="82296"/>
          </a:xfrm>
          <a:prstGeom prst="ellipse">
            <a:avLst/>
          </a:prstGeom>
          <a:solidFill>
            <a:srgbClr val="385CB0"/>
          </a:solidFill>
          <a:ln/>
        </p:spPr>
      </p:sp>
      <p:sp>
        <p:nvSpPr>
          <p:cNvPr id="43" name="Shape 41"/>
          <p:cNvSpPr/>
          <p:nvPr/>
        </p:nvSpPr>
        <p:spPr>
          <a:xfrm>
            <a:off x="10030968" y="6327648"/>
            <a:ext cx="82296" cy="82296"/>
          </a:xfrm>
          <a:prstGeom prst="ellipse">
            <a:avLst/>
          </a:prstGeom>
          <a:solidFill>
            <a:srgbClr val="76A3EE"/>
          </a:solidFill>
          <a:ln/>
        </p:spPr>
      </p:sp>
      <p:sp>
        <p:nvSpPr>
          <p:cNvPr id="44" name="Shape 42"/>
          <p:cNvSpPr/>
          <p:nvPr/>
        </p:nvSpPr>
        <p:spPr>
          <a:xfrm>
            <a:off x="10232136" y="6327648"/>
            <a:ext cx="82296" cy="82296"/>
          </a:xfrm>
          <a:prstGeom prst="ellipse">
            <a:avLst/>
          </a:prstGeom>
          <a:solidFill>
            <a:srgbClr val="76A3EE"/>
          </a:solidFill>
          <a:ln/>
        </p:spPr>
      </p:sp>
      <p:sp>
        <p:nvSpPr>
          <p:cNvPr id="45" name="Shape 43"/>
          <p:cNvSpPr/>
          <p:nvPr/>
        </p:nvSpPr>
        <p:spPr>
          <a:xfrm>
            <a:off x="10433304" y="6327648"/>
            <a:ext cx="82296" cy="82296"/>
          </a:xfrm>
          <a:prstGeom prst="ellipse">
            <a:avLst/>
          </a:prstGeom>
          <a:solidFill>
            <a:srgbClr val="76A3EE"/>
          </a:solidFill>
          <a:ln/>
        </p:spPr>
      </p:sp>
      <p:sp>
        <p:nvSpPr>
          <p:cNvPr id="46" name="Shape 44"/>
          <p:cNvSpPr/>
          <p:nvPr/>
        </p:nvSpPr>
        <p:spPr>
          <a:xfrm>
            <a:off x="10634472" y="6327648"/>
            <a:ext cx="82296" cy="82296"/>
          </a:xfrm>
          <a:prstGeom prst="ellipse">
            <a:avLst/>
          </a:prstGeom>
          <a:solidFill>
            <a:srgbClr val="76A3EE"/>
          </a:solidFill>
          <a:ln/>
        </p:spPr>
      </p:sp>
      <p:sp>
        <p:nvSpPr>
          <p:cNvPr id="47" name="Text 45"/>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MÉTHODE · ARCHITECTURE</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Clean Architecture en couches</a:t>
            </a:r>
            <a:endParaRPr lang="en-US" sz="2800" dirty="0"/>
          </a:p>
        </p:txBody>
      </p:sp>
      <p:sp>
        <p:nvSpPr>
          <p:cNvPr id="13" name="Shape 11"/>
          <p:cNvSpPr/>
          <p:nvPr/>
        </p:nvSpPr>
        <p:spPr>
          <a:xfrm>
            <a:off x="685800" y="1783080"/>
            <a:ext cx="6949440" cy="804672"/>
          </a:xfrm>
          <a:prstGeom prst="roundRect">
            <a:avLst>
              <a:gd name="adj" fmla="val 10227"/>
            </a:avLst>
          </a:prstGeom>
          <a:solidFill>
            <a:srgbClr val="001B58"/>
          </a:solidFill>
          <a:ln/>
        </p:spPr>
      </p:sp>
      <p:sp>
        <p:nvSpPr>
          <p:cNvPr id="14" name="Text 12"/>
          <p:cNvSpPr/>
          <p:nvPr/>
        </p:nvSpPr>
        <p:spPr>
          <a:xfrm>
            <a:off x="960120" y="1874520"/>
            <a:ext cx="2743200" cy="365760"/>
          </a:xfrm>
          <a:prstGeom prst="rect">
            <a:avLst/>
          </a:prstGeom>
          <a:noFill/>
          <a:ln/>
        </p:spPr>
        <p:txBody>
          <a:bodyPr wrap="square" rtlCol="0" anchor="ctr"/>
          <a:lstStyle/>
          <a:p>
            <a:pPr indent="0" marL="0">
              <a:buNone/>
            </a:pPr>
            <a:r>
              <a:rPr lang="en-US" sz="1600" b="1" dirty="0">
                <a:solidFill>
                  <a:srgbClr val="FFFFFF"/>
                </a:solidFill>
                <a:latin typeface="Archivo" pitchFamily="34" charset="0"/>
                <a:ea typeface="Archivo" pitchFamily="34" charset="-122"/>
                <a:cs typeface="Archivo" pitchFamily="34" charset="-120"/>
              </a:rPr>
              <a:t>Présentation</a:t>
            </a:r>
            <a:endParaRPr lang="en-US" sz="1600" dirty="0"/>
          </a:p>
        </p:txBody>
      </p:sp>
      <p:sp>
        <p:nvSpPr>
          <p:cNvPr id="15" name="Text 13"/>
          <p:cNvSpPr/>
          <p:nvPr/>
        </p:nvSpPr>
        <p:spPr>
          <a:xfrm>
            <a:off x="960120" y="2221992"/>
            <a:ext cx="6492240" cy="310896"/>
          </a:xfrm>
          <a:prstGeom prst="rect">
            <a:avLst/>
          </a:prstGeom>
          <a:noFill/>
          <a:ln/>
        </p:spPr>
        <p:txBody>
          <a:bodyPr wrap="square" rtlCol="0" anchor="ctr"/>
          <a:lstStyle/>
          <a:p>
            <a:pPr indent="0" marL="0">
              <a:buNone/>
            </a:pPr>
            <a:r>
              <a:rPr lang="en-US" sz="1150" dirty="0">
                <a:solidFill>
                  <a:srgbClr val="EAF1FF"/>
                </a:solidFill>
                <a:latin typeface="Consolas" pitchFamily="34" charset="0"/>
                <a:ea typeface="Consolas" pitchFamily="34" charset="-122"/>
                <a:cs typeface="Consolas" pitchFamily="34" charset="-120"/>
              </a:rPr>
              <a:t>Views / Controllers — pages.py (Jinja) · api.py (REST)</a:t>
            </a:r>
            <a:endParaRPr lang="en-US" sz="1150" dirty="0"/>
          </a:p>
        </p:txBody>
      </p:sp>
      <p:sp>
        <p:nvSpPr>
          <p:cNvPr id="16" name="Shape 14"/>
          <p:cNvSpPr/>
          <p:nvPr/>
        </p:nvSpPr>
        <p:spPr>
          <a:xfrm>
            <a:off x="685800" y="2715768"/>
            <a:ext cx="6949440" cy="804672"/>
          </a:xfrm>
          <a:prstGeom prst="roundRect">
            <a:avLst>
              <a:gd name="adj" fmla="val 10227"/>
            </a:avLst>
          </a:prstGeom>
          <a:solidFill>
            <a:srgbClr val="385CB0"/>
          </a:solidFill>
          <a:ln/>
        </p:spPr>
      </p:sp>
      <p:sp>
        <p:nvSpPr>
          <p:cNvPr id="17" name="Text 15"/>
          <p:cNvSpPr/>
          <p:nvPr/>
        </p:nvSpPr>
        <p:spPr>
          <a:xfrm>
            <a:off x="960120" y="2807208"/>
            <a:ext cx="2743200" cy="365760"/>
          </a:xfrm>
          <a:prstGeom prst="rect">
            <a:avLst/>
          </a:prstGeom>
          <a:noFill/>
          <a:ln/>
        </p:spPr>
        <p:txBody>
          <a:bodyPr wrap="square" rtlCol="0" anchor="ctr"/>
          <a:lstStyle/>
          <a:p>
            <a:pPr indent="0" marL="0">
              <a:buNone/>
            </a:pPr>
            <a:r>
              <a:rPr lang="en-US" sz="1600" b="1" dirty="0">
                <a:solidFill>
                  <a:srgbClr val="FFFFFF"/>
                </a:solidFill>
                <a:latin typeface="Archivo" pitchFamily="34" charset="0"/>
                <a:ea typeface="Archivo" pitchFamily="34" charset="-122"/>
                <a:cs typeface="Archivo" pitchFamily="34" charset="-120"/>
              </a:rPr>
              <a:t>Application</a:t>
            </a:r>
            <a:endParaRPr lang="en-US" sz="1600" dirty="0"/>
          </a:p>
        </p:txBody>
      </p:sp>
      <p:sp>
        <p:nvSpPr>
          <p:cNvPr id="18" name="Text 16"/>
          <p:cNvSpPr/>
          <p:nvPr/>
        </p:nvSpPr>
        <p:spPr>
          <a:xfrm>
            <a:off x="960120" y="3154680"/>
            <a:ext cx="6492240" cy="310896"/>
          </a:xfrm>
          <a:prstGeom prst="rect">
            <a:avLst/>
          </a:prstGeom>
          <a:noFill/>
          <a:ln/>
        </p:spPr>
        <p:txBody>
          <a:bodyPr wrap="square" rtlCol="0" anchor="ctr"/>
          <a:lstStyle/>
          <a:p>
            <a:pPr indent="0" marL="0">
              <a:buNone/>
            </a:pPr>
            <a:r>
              <a:rPr lang="en-US" sz="1150" dirty="0">
                <a:solidFill>
                  <a:srgbClr val="EAF1FF"/>
                </a:solidFill>
                <a:latin typeface="Consolas" pitchFamily="34" charset="0"/>
                <a:ea typeface="Consolas" pitchFamily="34" charset="-122"/>
                <a:cs typeface="Consolas" pitchFamily="34" charset="-120"/>
              </a:rPr>
              <a:t>Services — graph_service · validation_service · enrichment/</a:t>
            </a:r>
            <a:endParaRPr lang="en-US" sz="1150" dirty="0"/>
          </a:p>
        </p:txBody>
      </p:sp>
      <p:sp>
        <p:nvSpPr>
          <p:cNvPr id="19" name="Shape 17"/>
          <p:cNvSpPr/>
          <p:nvPr/>
        </p:nvSpPr>
        <p:spPr>
          <a:xfrm>
            <a:off x="685800" y="3648456"/>
            <a:ext cx="6949440" cy="804672"/>
          </a:xfrm>
          <a:prstGeom prst="roundRect">
            <a:avLst>
              <a:gd name="adj" fmla="val 10227"/>
            </a:avLst>
          </a:prstGeom>
          <a:solidFill>
            <a:srgbClr val="76A3EE"/>
          </a:solidFill>
          <a:ln/>
        </p:spPr>
      </p:sp>
      <p:sp>
        <p:nvSpPr>
          <p:cNvPr id="20" name="Text 18"/>
          <p:cNvSpPr/>
          <p:nvPr/>
        </p:nvSpPr>
        <p:spPr>
          <a:xfrm>
            <a:off x="960120" y="3739896"/>
            <a:ext cx="2743200" cy="365760"/>
          </a:xfrm>
          <a:prstGeom prst="rect">
            <a:avLst/>
          </a:prstGeom>
          <a:noFill/>
          <a:ln/>
        </p:spPr>
        <p:txBody>
          <a:bodyPr wrap="square" rtlCol="0" anchor="ctr"/>
          <a:lstStyle/>
          <a:p>
            <a:pPr indent="0" marL="0">
              <a:buNone/>
            </a:pPr>
            <a:r>
              <a:rPr lang="en-US" sz="1600" b="1" dirty="0">
                <a:solidFill>
                  <a:srgbClr val="FFFFFF"/>
                </a:solidFill>
                <a:latin typeface="Archivo" pitchFamily="34" charset="0"/>
                <a:ea typeface="Archivo" pitchFamily="34" charset="-122"/>
                <a:cs typeface="Archivo" pitchFamily="34" charset="-120"/>
              </a:rPr>
              <a:t>Infrastructure</a:t>
            </a:r>
            <a:endParaRPr lang="en-US" sz="1600" dirty="0"/>
          </a:p>
        </p:txBody>
      </p:sp>
      <p:sp>
        <p:nvSpPr>
          <p:cNvPr id="21" name="Text 19"/>
          <p:cNvSpPr/>
          <p:nvPr/>
        </p:nvSpPr>
        <p:spPr>
          <a:xfrm>
            <a:off x="960120" y="4087368"/>
            <a:ext cx="6492240" cy="310896"/>
          </a:xfrm>
          <a:prstGeom prst="rect">
            <a:avLst/>
          </a:prstGeom>
          <a:noFill/>
          <a:ln/>
        </p:spPr>
        <p:txBody>
          <a:bodyPr wrap="square" rtlCol="0" anchor="ctr"/>
          <a:lstStyle/>
          <a:p>
            <a:pPr indent="0" marL="0">
              <a:buNone/>
            </a:pPr>
            <a:r>
              <a:rPr lang="en-US" sz="1150" dirty="0">
                <a:solidFill>
                  <a:srgbClr val="EAF1FF"/>
                </a:solidFill>
                <a:latin typeface="Consolas" pitchFamily="34" charset="0"/>
                <a:ea typeface="Consolas" pitchFamily="34" charset="-122"/>
                <a:cs typeface="Consolas" pitchFamily="34" charset="-120"/>
              </a:rPr>
              <a:t>Repositories — ChapterRepository : lecture / écriture JSON</a:t>
            </a:r>
            <a:endParaRPr lang="en-US" sz="1150" dirty="0"/>
          </a:p>
        </p:txBody>
      </p:sp>
      <p:sp>
        <p:nvSpPr>
          <p:cNvPr id="22" name="Shape 20"/>
          <p:cNvSpPr/>
          <p:nvPr/>
        </p:nvSpPr>
        <p:spPr>
          <a:xfrm>
            <a:off x="685800" y="4581144"/>
            <a:ext cx="6949440" cy="804672"/>
          </a:xfrm>
          <a:prstGeom prst="roundRect">
            <a:avLst>
              <a:gd name="adj" fmla="val 10227"/>
            </a:avLst>
          </a:prstGeom>
          <a:solidFill>
            <a:srgbClr val="0097A7"/>
          </a:solidFill>
          <a:ln/>
        </p:spPr>
      </p:sp>
      <p:sp>
        <p:nvSpPr>
          <p:cNvPr id="23" name="Text 21"/>
          <p:cNvSpPr/>
          <p:nvPr/>
        </p:nvSpPr>
        <p:spPr>
          <a:xfrm>
            <a:off x="960120" y="4672584"/>
            <a:ext cx="2743200" cy="365760"/>
          </a:xfrm>
          <a:prstGeom prst="rect">
            <a:avLst/>
          </a:prstGeom>
          <a:noFill/>
          <a:ln/>
        </p:spPr>
        <p:txBody>
          <a:bodyPr wrap="square" rtlCol="0" anchor="ctr"/>
          <a:lstStyle/>
          <a:p>
            <a:pPr indent="0" marL="0">
              <a:buNone/>
            </a:pPr>
            <a:r>
              <a:rPr lang="en-US" sz="1600" b="1" dirty="0">
                <a:solidFill>
                  <a:srgbClr val="FFFFFF"/>
                </a:solidFill>
                <a:latin typeface="Archivo" pitchFamily="34" charset="0"/>
                <a:ea typeface="Archivo" pitchFamily="34" charset="-122"/>
                <a:cs typeface="Archivo" pitchFamily="34" charset="-120"/>
              </a:rPr>
              <a:t>Domaine</a:t>
            </a:r>
            <a:endParaRPr lang="en-US" sz="1600" dirty="0"/>
          </a:p>
        </p:txBody>
      </p:sp>
      <p:sp>
        <p:nvSpPr>
          <p:cNvPr id="24" name="Text 22"/>
          <p:cNvSpPr/>
          <p:nvPr/>
        </p:nvSpPr>
        <p:spPr>
          <a:xfrm>
            <a:off x="960120" y="5020056"/>
            <a:ext cx="6492240" cy="310896"/>
          </a:xfrm>
          <a:prstGeom prst="rect">
            <a:avLst/>
          </a:prstGeom>
          <a:noFill/>
          <a:ln/>
        </p:spPr>
        <p:txBody>
          <a:bodyPr wrap="square" rtlCol="0" anchor="ctr"/>
          <a:lstStyle/>
          <a:p>
            <a:pPr indent="0" marL="0">
              <a:buNone/>
            </a:pPr>
            <a:r>
              <a:rPr lang="en-US" sz="1150" dirty="0">
                <a:solidFill>
                  <a:srgbClr val="EAF1FF"/>
                </a:solidFill>
                <a:latin typeface="Consolas" pitchFamily="34" charset="0"/>
                <a:ea typeface="Consolas" pitchFamily="34" charset="-122"/>
                <a:cs typeface="Consolas" pitchFamily="34" charset="-120"/>
              </a:rPr>
              <a:t>Models métier purs — Chapter · Scene · Interaction · Response · Actor</a:t>
            </a:r>
            <a:endParaRPr lang="en-US" sz="1150" dirty="0"/>
          </a:p>
        </p:txBody>
      </p:sp>
      <p:sp>
        <p:nvSpPr>
          <p:cNvPr id="25" name="Shape 23"/>
          <p:cNvSpPr/>
          <p:nvPr/>
        </p:nvSpPr>
        <p:spPr>
          <a:xfrm>
            <a:off x="2468880" y="5852160"/>
            <a:ext cx="3383280" cy="502920"/>
          </a:xfrm>
          <a:prstGeom prst="roundRect">
            <a:avLst>
              <a:gd name="adj" fmla="val 10909"/>
            </a:avLst>
          </a:prstGeom>
          <a:solidFill>
            <a:srgbClr val="FFFFFF"/>
          </a:solidFill>
          <a:ln w="15875">
            <a:solidFill>
              <a:srgbClr val="8893AE"/>
            </a:solidFill>
            <a:prstDash val="dash"/>
          </a:ln>
        </p:spPr>
      </p:sp>
      <p:sp>
        <p:nvSpPr>
          <p:cNvPr id="26" name="Text 24"/>
          <p:cNvSpPr/>
          <p:nvPr/>
        </p:nvSpPr>
        <p:spPr>
          <a:xfrm>
            <a:off x="2468880" y="5852160"/>
            <a:ext cx="3383280" cy="502920"/>
          </a:xfrm>
          <a:prstGeom prst="rect">
            <a:avLst/>
          </a:prstGeom>
          <a:noFill/>
          <a:ln/>
        </p:spPr>
        <p:txBody>
          <a:bodyPr wrap="square" rtlCol="0" anchor="ctr"/>
          <a:lstStyle/>
          <a:p>
            <a:pPr algn="ctr" indent="0" marL="0">
              <a:buNone/>
            </a:pPr>
            <a:r>
              <a:rPr lang="en-US" sz="1300" b="1" dirty="0">
                <a:solidFill>
                  <a:srgbClr val="33415C"/>
                </a:solidFill>
                <a:latin typeface="Archivo" pitchFamily="34" charset="0"/>
                <a:ea typeface="Archivo" pitchFamily="34" charset="-122"/>
                <a:cs typeface="Archivo" pitchFamily="34" charset="-120"/>
              </a:rPr>
              <a:t>JSON files (Unity)</a:t>
            </a:r>
            <a:endParaRPr lang="en-US" sz="1300" dirty="0"/>
          </a:p>
        </p:txBody>
      </p:sp>
      <p:sp>
        <p:nvSpPr>
          <p:cNvPr id="27" name="Shape 25"/>
          <p:cNvSpPr/>
          <p:nvPr/>
        </p:nvSpPr>
        <p:spPr>
          <a:xfrm>
            <a:off x="7955280" y="1783080"/>
            <a:ext cx="3611880" cy="4526280"/>
          </a:xfrm>
          <a:prstGeom prst="roundRect">
            <a:avLst>
              <a:gd name="adj" fmla="val 3544"/>
            </a:avLst>
          </a:prstGeom>
          <a:solidFill>
            <a:srgbClr val="E3EDFF"/>
          </a:solidFill>
          <a:ln/>
        </p:spPr>
      </p:sp>
      <p:sp>
        <p:nvSpPr>
          <p:cNvPr id="28" name="Text 26"/>
          <p:cNvSpPr/>
          <p:nvPr/>
        </p:nvSpPr>
        <p:spPr>
          <a:xfrm>
            <a:off x="8229600" y="2011680"/>
            <a:ext cx="3108960" cy="320040"/>
          </a:xfrm>
          <a:prstGeom prst="rect">
            <a:avLst/>
          </a:prstGeom>
          <a:noFill/>
          <a:ln/>
        </p:spPr>
        <p:txBody>
          <a:bodyPr wrap="square" rtlCol="0" anchor="ctr"/>
          <a:lstStyle/>
          <a:p>
            <a:pPr indent="0" marL="0">
              <a:buNone/>
            </a:pPr>
            <a:r>
              <a:rPr lang="en-US" sz="1200" b="1" spc="200" kern="0" dirty="0">
                <a:solidFill>
                  <a:srgbClr val="0097A7"/>
                </a:solidFill>
                <a:latin typeface="Assistant" pitchFamily="34" charset="0"/>
                <a:ea typeface="Assistant" pitchFamily="34" charset="-122"/>
                <a:cs typeface="Assistant" pitchFamily="34" charset="-120"/>
              </a:rPr>
              <a:t>POURQUOI ?</a:t>
            </a:r>
            <a:endParaRPr lang="en-US" sz="1200" dirty="0"/>
          </a:p>
        </p:txBody>
      </p:sp>
      <p:sp>
        <p:nvSpPr>
          <p:cNvPr id="29" name="Shape 27"/>
          <p:cNvSpPr/>
          <p:nvPr/>
        </p:nvSpPr>
        <p:spPr>
          <a:xfrm>
            <a:off x="8295985" y="2450592"/>
            <a:ext cx="68397" cy="201168"/>
          </a:xfrm>
          <a:prstGeom prst="roundRect">
            <a:avLst>
              <a:gd name="adj" fmla="val 28000"/>
            </a:avLst>
          </a:prstGeom>
          <a:solidFill>
            <a:srgbClr val="385CB0"/>
          </a:solidFill>
          <a:ln/>
        </p:spPr>
      </p:sp>
      <p:sp>
        <p:nvSpPr>
          <p:cNvPr id="30" name="Shape 28"/>
          <p:cNvSpPr/>
          <p:nvPr/>
        </p:nvSpPr>
        <p:spPr>
          <a:xfrm>
            <a:off x="8229600" y="2516977"/>
            <a:ext cx="201168" cy="68397"/>
          </a:xfrm>
          <a:prstGeom prst="roundRect">
            <a:avLst>
              <a:gd name="adj" fmla="val 28000"/>
            </a:avLst>
          </a:prstGeom>
          <a:solidFill>
            <a:srgbClr val="385CB0"/>
          </a:solidFill>
          <a:ln/>
        </p:spPr>
      </p:sp>
      <p:sp>
        <p:nvSpPr>
          <p:cNvPr id="31" name="Text 29"/>
          <p:cNvSpPr/>
          <p:nvPr/>
        </p:nvSpPr>
        <p:spPr>
          <a:xfrm>
            <a:off x="8549640" y="2423160"/>
            <a:ext cx="2788920" cy="868680"/>
          </a:xfrm>
          <a:prstGeom prst="rect">
            <a:avLst/>
          </a:prstGeom>
          <a:noFill/>
          <a:ln/>
        </p:spPr>
        <p:txBody>
          <a:bodyPr wrap="square" rtlCol="0" anchor="ctr"/>
          <a:lstStyle/>
          <a:p>
            <a:pPr indent="0" marL="0">
              <a:lnSpc>
                <a:spcPct val="110000"/>
              </a:lnSpc>
              <a:buNone/>
            </a:pPr>
            <a:r>
              <a:rPr lang="en-US" sz="1250" dirty="0">
                <a:solidFill>
                  <a:srgbClr val="33415C"/>
                </a:solidFill>
                <a:latin typeface="Assistant" pitchFamily="34" charset="0"/>
                <a:ea typeface="Assistant" pitchFamily="34" charset="-122"/>
                <a:cs typeface="Assistant" pitchFamily="34" charset="-120"/>
              </a:rPr>
              <a:t>Modèles métier indépendants du web, de l'IA et de la persistance</a:t>
            </a:r>
            <a:endParaRPr lang="en-US" sz="1250" dirty="0"/>
          </a:p>
        </p:txBody>
      </p:sp>
      <p:sp>
        <p:nvSpPr>
          <p:cNvPr id="32" name="Shape 30"/>
          <p:cNvSpPr/>
          <p:nvPr/>
        </p:nvSpPr>
        <p:spPr>
          <a:xfrm>
            <a:off x="8295985" y="3383280"/>
            <a:ext cx="68397" cy="201168"/>
          </a:xfrm>
          <a:prstGeom prst="roundRect">
            <a:avLst>
              <a:gd name="adj" fmla="val 28000"/>
            </a:avLst>
          </a:prstGeom>
          <a:solidFill>
            <a:srgbClr val="385CB0"/>
          </a:solidFill>
          <a:ln/>
        </p:spPr>
      </p:sp>
      <p:sp>
        <p:nvSpPr>
          <p:cNvPr id="33" name="Shape 31"/>
          <p:cNvSpPr/>
          <p:nvPr/>
        </p:nvSpPr>
        <p:spPr>
          <a:xfrm>
            <a:off x="8229600" y="3449665"/>
            <a:ext cx="201168" cy="68397"/>
          </a:xfrm>
          <a:prstGeom prst="roundRect">
            <a:avLst>
              <a:gd name="adj" fmla="val 28000"/>
            </a:avLst>
          </a:prstGeom>
          <a:solidFill>
            <a:srgbClr val="385CB0"/>
          </a:solidFill>
          <a:ln/>
        </p:spPr>
      </p:sp>
      <p:sp>
        <p:nvSpPr>
          <p:cNvPr id="34" name="Text 32"/>
          <p:cNvSpPr/>
          <p:nvPr/>
        </p:nvSpPr>
        <p:spPr>
          <a:xfrm>
            <a:off x="8549640" y="3355848"/>
            <a:ext cx="2788920" cy="868680"/>
          </a:xfrm>
          <a:prstGeom prst="rect">
            <a:avLst/>
          </a:prstGeom>
          <a:noFill/>
          <a:ln/>
        </p:spPr>
        <p:txBody>
          <a:bodyPr wrap="square" rtlCol="0" anchor="ctr"/>
          <a:lstStyle/>
          <a:p>
            <a:pPr indent="0" marL="0">
              <a:lnSpc>
                <a:spcPct val="110000"/>
              </a:lnSpc>
              <a:buNone/>
            </a:pPr>
            <a:r>
              <a:rPr lang="en-US" sz="1250" dirty="0">
                <a:solidFill>
                  <a:srgbClr val="33415C"/>
                </a:solidFill>
                <a:latin typeface="Assistant" pitchFamily="34" charset="0"/>
                <a:ea typeface="Assistant" pitchFamily="34" charset="-122"/>
                <a:cs typeface="Assistant" pitchFamily="34" charset="-120"/>
              </a:rPr>
              <a:t>Composants remplaçables (ex. backend IA) sans toucher au domaine</a:t>
            </a:r>
            <a:endParaRPr lang="en-US" sz="1250" dirty="0"/>
          </a:p>
        </p:txBody>
      </p:sp>
      <p:sp>
        <p:nvSpPr>
          <p:cNvPr id="35" name="Shape 33"/>
          <p:cNvSpPr/>
          <p:nvPr/>
        </p:nvSpPr>
        <p:spPr>
          <a:xfrm>
            <a:off x="8295985" y="4315968"/>
            <a:ext cx="68397" cy="201168"/>
          </a:xfrm>
          <a:prstGeom prst="roundRect">
            <a:avLst>
              <a:gd name="adj" fmla="val 28000"/>
            </a:avLst>
          </a:prstGeom>
          <a:solidFill>
            <a:srgbClr val="385CB0"/>
          </a:solidFill>
          <a:ln/>
        </p:spPr>
      </p:sp>
      <p:sp>
        <p:nvSpPr>
          <p:cNvPr id="36" name="Shape 34"/>
          <p:cNvSpPr/>
          <p:nvPr/>
        </p:nvSpPr>
        <p:spPr>
          <a:xfrm>
            <a:off x="8229600" y="4382353"/>
            <a:ext cx="201168" cy="68397"/>
          </a:xfrm>
          <a:prstGeom prst="roundRect">
            <a:avLst>
              <a:gd name="adj" fmla="val 28000"/>
            </a:avLst>
          </a:prstGeom>
          <a:solidFill>
            <a:srgbClr val="385CB0"/>
          </a:solidFill>
          <a:ln/>
        </p:spPr>
      </p:sp>
      <p:sp>
        <p:nvSpPr>
          <p:cNvPr id="37" name="Text 35"/>
          <p:cNvSpPr/>
          <p:nvPr/>
        </p:nvSpPr>
        <p:spPr>
          <a:xfrm>
            <a:off x="8549640" y="4288536"/>
            <a:ext cx="2788920" cy="868680"/>
          </a:xfrm>
          <a:prstGeom prst="rect">
            <a:avLst/>
          </a:prstGeom>
          <a:noFill/>
          <a:ln/>
        </p:spPr>
        <p:txBody>
          <a:bodyPr wrap="square" rtlCol="0" anchor="ctr"/>
          <a:lstStyle/>
          <a:p>
            <a:pPr indent="0" marL="0">
              <a:lnSpc>
                <a:spcPct val="110000"/>
              </a:lnSpc>
              <a:buNone/>
            </a:pPr>
            <a:r>
              <a:rPr lang="en-US" sz="1250" dirty="0">
                <a:solidFill>
                  <a:srgbClr val="33415C"/>
                </a:solidFill>
                <a:latin typeface="Assistant" pitchFamily="34" charset="0"/>
                <a:ea typeface="Assistant" pitchFamily="34" charset="-122"/>
                <a:cs typeface="Assistant" pitchFamily="34" charset="-120"/>
              </a:rPr>
              <a:t>Stack : Python / Flask · Jinja2 · JS ES Modules · vis-network</a:t>
            </a:r>
            <a:endParaRPr lang="en-US" sz="1250" dirty="0"/>
          </a:p>
        </p:txBody>
      </p:sp>
      <p:sp>
        <p:nvSpPr>
          <p:cNvPr id="38" name="Shape 36"/>
          <p:cNvSpPr/>
          <p:nvPr/>
        </p:nvSpPr>
        <p:spPr>
          <a:xfrm>
            <a:off x="8295985" y="5248656"/>
            <a:ext cx="68397" cy="201168"/>
          </a:xfrm>
          <a:prstGeom prst="roundRect">
            <a:avLst>
              <a:gd name="adj" fmla="val 28000"/>
            </a:avLst>
          </a:prstGeom>
          <a:solidFill>
            <a:srgbClr val="385CB0"/>
          </a:solidFill>
          <a:ln/>
        </p:spPr>
      </p:sp>
      <p:sp>
        <p:nvSpPr>
          <p:cNvPr id="39" name="Shape 37"/>
          <p:cNvSpPr/>
          <p:nvPr/>
        </p:nvSpPr>
        <p:spPr>
          <a:xfrm>
            <a:off x="8229600" y="5315041"/>
            <a:ext cx="201168" cy="68397"/>
          </a:xfrm>
          <a:prstGeom prst="roundRect">
            <a:avLst>
              <a:gd name="adj" fmla="val 28000"/>
            </a:avLst>
          </a:prstGeom>
          <a:solidFill>
            <a:srgbClr val="385CB0"/>
          </a:solidFill>
          <a:ln/>
        </p:spPr>
      </p:sp>
      <p:sp>
        <p:nvSpPr>
          <p:cNvPr id="40" name="Text 38"/>
          <p:cNvSpPr/>
          <p:nvPr/>
        </p:nvSpPr>
        <p:spPr>
          <a:xfrm>
            <a:off x="8549640" y="5221224"/>
            <a:ext cx="2788920" cy="868680"/>
          </a:xfrm>
          <a:prstGeom prst="rect">
            <a:avLst/>
          </a:prstGeom>
          <a:noFill/>
          <a:ln/>
        </p:spPr>
        <p:txBody>
          <a:bodyPr wrap="square" rtlCol="0" anchor="ctr"/>
          <a:lstStyle/>
          <a:p>
            <a:pPr indent="0" marL="0">
              <a:lnSpc>
                <a:spcPct val="110000"/>
              </a:lnSpc>
              <a:buNone/>
            </a:pPr>
            <a:r>
              <a:rPr lang="en-US" sz="1250" dirty="0">
                <a:solidFill>
                  <a:srgbClr val="33415C"/>
                </a:solidFill>
                <a:latin typeface="Assistant" pitchFamily="34" charset="0"/>
                <a:ea typeface="Assistant" pitchFamily="34" charset="-122"/>
                <a:cs typeface="Assistant" pitchFamily="34" charset="-120"/>
              </a:rPr>
              <a:t>Code testable, maintenable et extensible au-delà du projet</a:t>
            </a:r>
            <a:endParaRPr lang="en-US" sz="1250" dirty="0"/>
          </a:p>
        </p:txBody>
      </p:sp>
      <p:sp>
        <p:nvSpPr>
          <p:cNvPr id="41" name="Shape 39"/>
          <p:cNvSpPr/>
          <p:nvPr/>
        </p:nvSpPr>
        <p:spPr>
          <a:xfrm>
            <a:off x="9829800" y="6327648"/>
            <a:ext cx="82296" cy="82296"/>
          </a:xfrm>
          <a:prstGeom prst="ellipse">
            <a:avLst/>
          </a:prstGeom>
          <a:solidFill>
            <a:srgbClr val="76A3EE"/>
          </a:solidFill>
          <a:ln/>
        </p:spPr>
      </p:sp>
      <p:sp>
        <p:nvSpPr>
          <p:cNvPr id="42" name="Shape 40"/>
          <p:cNvSpPr/>
          <p:nvPr/>
        </p:nvSpPr>
        <p:spPr>
          <a:xfrm>
            <a:off x="10030968" y="6327648"/>
            <a:ext cx="82296" cy="82296"/>
          </a:xfrm>
          <a:prstGeom prst="ellipse">
            <a:avLst/>
          </a:prstGeom>
          <a:solidFill>
            <a:srgbClr val="385CB0"/>
          </a:solidFill>
          <a:ln/>
        </p:spPr>
      </p:sp>
      <p:sp>
        <p:nvSpPr>
          <p:cNvPr id="43" name="Shape 41"/>
          <p:cNvSpPr/>
          <p:nvPr/>
        </p:nvSpPr>
        <p:spPr>
          <a:xfrm>
            <a:off x="10232136" y="6327648"/>
            <a:ext cx="82296" cy="82296"/>
          </a:xfrm>
          <a:prstGeom prst="ellipse">
            <a:avLst/>
          </a:prstGeom>
          <a:solidFill>
            <a:srgbClr val="76A3EE"/>
          </a:solidFill>
          <a:ln/>
        </p:spPr>
      </p:sp>
      <p:sp>
        <p:nvSpPr>
          <p:cNvPr id="44" name="Shape 42"/>
          <p:cNvSpPr/>
          <p:nvPr/>
        </p:nvSpPr>
        <p:spPr>
          <a:xfrm>
            <a:off x="10433304" y="6327648"/>
            <a:ext cx="82296" cy="82296"/>
          </a:xfrm>
          <a:prstGeom prst="ellipse">
            <a:avLst/>
          </a:prstGeom>
          <a:solidFill>
            <a:srgbClr val="76A3EE"/>
          </a:solidFill>
          <a:ln/>
        </p:spPr>
      </p:sp>
      <p:sp>
        <p:nvSpPr>
          <p:cNvPr id="45" name="Shape 43"/>
          <p:cNvSpPr/>
          <p:nvPr/>
        </p:nvSpPr>
        <p:spPr>
          <a:xfrm>
            <a:off x="10634472" y="6327648"/>
            <a:ext cx="82296" cy="82296"/>
          </a:xfrm>
          <a:prstGeom prst="ellipse">
            <a:avLst/>
          </a:prstGeom>
          <a:solidFill>
            <a:srgbClr val="76A3EE"/>
          </a:solidFill>
          <a:ln/>
        </p:spPr>
      </p:sp>
      <p:sp>
        <p:nvSpPr>
          <p:cNvPr id="46" name="Text 44"/>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RÉSULTATS · PLATEFORME</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Interface d'administration livrée</a:t>
            </a:r>
            <a:endParaRPr lang="en-US" sz="2800" dirty="0"/>
          </a:p>
        </p:txBody>
      </p:sp>
      <p:sp>
        <p:nvSpPr>
          <p:cNvPr id="13" name="Shape 11"/>
          <p:cNvSpPr/>
          <p:nvPr/>
        </p:nvSpPr>
        <p:spPr>
          <a:xfrm>
            <a:off x="685800" y="1783080"/>
            <a:ext cx="5943600" cy="4160520"/>
          </a:xfrm>
          <a:prstGeom prst="roundRect">
            <a:avLst>
              <a:gd name="adj" fmla="val 2637"/>
            </a:avLst>
          </a:prstGeom>
          <a:solidFill>
            <a:srgbClr val="E3EDFF"/>
          </a:solidFill>
          <a:ln/>
        </p:spPr>
      </p:sp>
      <p:sp>
        <p:nvSpPr>
          <p:cNvPr id="14" name="Text 12"/>
          <p:cNvSpPr/>
          <p:nvPr/>
        </p:nvSpPr>
        <p:spPr>
          <a:xfrm>
            <a:off x="914400" y="1965960"/>
            <a:ext cx="5486400" cy="365760"/>
          </a:xfrm>
          <a:prstGeom prst="rect">
            <a:avLst/>
          </a:prstGeom>
          <a:noFill/>
          <a:ln/>
        </p:spPr>
        <p:txBody>
          <a:bodyPr wrap="square" rtlCol="0" anchor="ctr"/>
          <a:lstStyle/>
          <a:p>
            <a:pPr indent="0" marL="0">
              <a:buNone/>
            </a:pPr>
            <a:r>
              <a:rPr lang="en-US" sz="1400" b="1" dirty="0">
                <a:solidFill>
                  <a:srgbClr val="001B58"/>
                </a:solidFill>
                <a:latin typeface="Archivo" pitchFamily="34" charset="0"/>
                <a:ea typeface="Archivo" pitchFamily="34" charset="-122"/>
                <a:cs typeface="Archivo" pitchFamily="34" charset="-120"/>
              </a:rPr>
              <a:t>Éditeur de graphe narratif</a:t>
            </a:r>
            <a:endParaRPr lang="en-US" sz="1400" dirty="0"/>
          </a:p>
        </p:txBody>
      </p:sp>
      <p:sp>
        <p:nvSpPr>
          <p:cNvPr id="15" name="Shape 13"/>
          <p:cNvSpPr/>
          <p:nvPr/>
        </p:nvSpPr>
        <p:spPr>
          <a:xfrm>
            <a:off x="1645920" y="2907792"/>
            <a:ext cx="1600200" cy="0"/>
          </a:xfrm>
          <a:prstGeom prst="line">
            <a:avLst/>
          </a:prstGeom>
          <a:noFill/>
          <a:ln w="19050">
            <a:solidFill>
              <a:srgbClr val="76A3EE"/>
            </a:solidFill>
            <a:prstDash val="solid"/>
          </a:ln>
        </p:spPr>
      </p:sp>
      <p:sp>
        <p:nvSpPr>
          <p:cNvPr id="16" name="Shape 14"/>
          <p:cNvSpPr/>
          <p:nvPr/>
        </p:nvSpPr>
        <p:spPr>
          <a:xfrm>
            <a:off x="3246120" y="2907792"/>
            <a:ext cx="1691640" cy="0"/>
          </a:xfrm>
          <a:prstGeom prst="line">
            <a:avLst/>
          </a:prstGeom>
          <a:noFill/>
          <a:ln w="19050">
            <a:solidFill>
              <a:srgbClr val="76A3EE"/>
            </a:solidFill>
            <a:prstDash val="solid"/>
          </a:ln>
        </p:spPr>
      </p:sp>
      <p:sp>
        <p:nvSpPr>
          <p:cNvPr id="17" name="Shape 15"/>
          <p:cNvSpPr/>
          <p:nvPr/>
        </p:nvSpPr>
        <p:spPr>
          <a:xfrm>
            <a:off x="3246120" y="2907792"/>
            <a:ext cx="-822960" cy="1143000"/>
          </a:xfrm>
          <a:prstGeom prst="line">
            <a:avLst/>
          </a:prstGeom>
          <a:noFill/>
          <a:ln w="19050">
            <a:solidFill>
              <a:srgbClr val="76A3EE"/>
            </a:solidFill>
            <a:prstDash val="solid"/>
          </a:ln>
        </p:spPr>
      </p:sp>
      <p:sp>
        <p:nvSpPr>
          <p:cNvPr id="18" name="Shape 16"/>
          <p:cNvSpPr/>
          <p:nvPr/>
        </p:nvSpPr>
        <p:spPr>
          <a:xfrm>
            <a:off x="3246120" y="2907792"/>
            <a:ext cx="868680" cy="1143000"/>
          </a:xfrm>
          <a:prstGeom prst="line">
            <a:avLst/>
          </a:prstGeom>
          <a:noFill/>
          <a:ln w="19050">
            <a:solidFill>
              <a:srgbClr val="76A3EE"/>
            </a:solidFill>
            <a:prstDash val="solid"/>
          </a:ln>
        </p:spPr>
      </p:sp>
      <p:sp>
        <p:nvSpPr>
          <p:cNvPr id="19" name="Shape 17"/>
          <p:cNvSpPr/>
          <p:nvPr/>
        </p:nvSpPr>
        <p:spPr>
          <a:xfrm>
            <a:off x="2423160" y="4050792"/>
            <a:ext cx="822960" cy="1005840"/>
          </a:xfrm>
          <a:prstGeom prst="line">
            <a:avLst/>
          </a:prstGeom>
          <a:noFill/>
          <a:ln w="19050">
            <a:solidFill>
              <a:srgbClr val="76A3EE"/>
            </a:solidFill>
            <a:prstDash val="solid"/>
          </a:ln>
        </p:spPr>
      </p:sp>
      <p:sp>
        <p:nvSpPr>
          <p:cNvPr id="20" name="Shape 18"/>
          <p:cNvSpPr/>
          <p:nvPr/>
        </p:nvSpPr>
        <p:spPr>
          <a:xfrm>
            <a:off x="4114800" y="4050792"/>
            <a:ext cx="-868680" cy="1005840"/>
          </a:xfrm>
          <a:prstGeom prst="line">
            <a:avLst/>
          </a:prstGeom>
          <a:noFill/>
          <a:ln w="19050">
            <a:solidFill>
              <a:srgbClr val="76A3EE"/>
            </a:solidFill>
            <a:prstDash val="solid"/>
          </a:ln>
        </p:spPr>
      </p:sp>
      <p:sp>
        <p:nvSpPr>
          <p:cNvPr id="21" name="Shape 19"/>
          <p:cNvSpPr/>
          <p:nvPr/>
        </p:nvSpPr>
        <p:spPr>
          <a:xfrm>
            <a:off x="1325880" y="2743200"/>
            <a:ext cx="640080" cy="329184"/>
          </a:xfrm>
          <a:prstGeom prst="roundRect">
            <a:avLst>
              <a:gd name="adj" fmla="val 13889"/>
            </a:avLst>
          </a:prstGeom>
          <a:solidFill>
            <a:srgbClr val="385CB0"/>
          </a:solidFill>
          <a:ln w="9525">
            <a:solidFill>
              <a:srgbClr val="001B58"/>
            </a:solidFill>
            <a:prstDash val="solid"/>
          </a:ln>
        </p:spPr>
      </p:sp>
      <p:sp>
        <p:nvSpPr>
          <p:cNvPr id="22" name="Shape 20"/>
          <p:cNvSpPr/>
          <p:nvPr/>
        </p:nvSpPr>
        <p:spPr>
          <a:xfrm>
            <a:off x="2926080" y="2743200"/>
            <a:ext cx="640080" cy="329184"/>
          </a:xfrm>
          <a:prstGeom prst="roundRect">
            <a:avLst>
              <a:gd name="adj" fmla="val 13889"/>
            </a:avLst>
          </a:prstGeom>
          <a:solidFill>
            <a:srgbClr val="385CB0"/>
          </a:solidFill>
          <a:ln w="9525">
            <a:solidFill>
              <a:srgbClr val="001B58"/>
            </a:solidFill>
            <a:prstDash val="solid"/>
          </a:ln>
        </p:spPr>
      </p:sp>
      <p:sp>
        <p:nvSpPr>
          <p:cNvPr id="23" name="Shape 21"/>
          <p:cNvSpPr/>
          <p:nvPr/>
        </p:nvSpPr>
        <p:spPr>
          <a:xfrm>
            <a:off x="4617720" y="2743200"/>
            <a:ext cx="640080" cy="329184"/>
          </a:xfrm>
          <a:prstGeom prst="roundRect">
            <a:avLst>
              <a:gd name="adj" fmla="val 13889"/>
            </a:avLst>
          </a:prstGeom>
          <a:solidFill>
            <a:srgbClr val="385CB0"/>
          </a:solidFill>
          <a:ln w="9525">
            <a:solidFill>
              <a:srgbClr val="001B58"/>
            </a:solidFill>
            <a:prstDash val="solid"/>
          </a:ln>
        </p:spPr>
      </p:sp>
      <p:sp>
        <p:nvSpPr>
          <p:cNvPr id="24" name="Shape 22"/>
          <p:cNvSpPr/>
          <p:nvPr/>
        </p:nvSpPr>
        <p:spPr>
          <a:xfrm>
            <a:off x="2103120" y="3886200"/>
            <a:ext cx="640080" cy="329184"/>
          </a:xfrm>
          <a:prstGeom prst="roundRect">
            <a:avLst>
              <a:gd name="adj" fmla="val 13889"/>
            </a:avLst>
          </a:prstGeom>
          <a:solidFill>
            <a:srgbClr val="385CB0"/>
          </a:solidFill>
          <a:ln w="9525">
            <a:solidFill>
              <a:srgbClr val="001B58"/>
            </a:solidFill>
            <a:prstDash val="solid"/>
          </a:ln>
        </p:spPr>
      </p:sp>
      <p:sp>
        <p:nvSpPr>
          <p:cNvPr id="25" name="Shape 23"/>
          <p:cNvSpPr/>
          <p:nvPr/>
        </p:nvSpPr>
        <p:spPr>
          <a:xfrm>
            <a:off x="3794760" y="3886200"/>
            <a:ext cx="640080" cy="329184"/>
          </a:xfrm>
          <a:prstGeom prst="roundRect">
            <a:avLst>
              <a:gd name="adj" fmla="val 13889"/>
            </a:avLst>
          </a:prstGeom>
          <a:solidFill>
            <a:srgbClr val="385CB0"/>
          </a:solidFill>
          <a:ln w="9525">
            <a:solidFill>
              <a:srgbClr val="001B58"/>
            </a:solidFill>
            <a:prstDash val="solid"/>
          </a:ln>
        </p:spPr>
      </p:sp>
      <p:sp>
        <p:nvSpPr>
          <p:cNvPr id="26" name="Shape 24"/>
          <p:cNvSpPr/>
          <p:nvPr/>
        </p:nvSpPr>
        <p:spPr>
          <a:xfrm>
            <a:off x="2926080" y="4892040"/>
            <a:ext cx="640080" cy="329184"/>
          </a:xfrm>
          <a:prstGeom prst="roundRect">
            <a:avLst>
              <a:gd name="adj" fmla="val 13889"/>
            </a:avLst>
          </a:prstGeom>
          <a:solidFill>
            <a:srgbClr val="0097A7"/>
          </a:solidFill>
          <a:ln w="9525">
            <a:solidFill>
              <a:srgbClr val="001B58"/>
            </a:solidFill>
            <a:prstDash val="solid"/>
          </a:ln>
        </p:spPr>
      </p:sp>
      <p:sp>
        <p:nvSpPr>
          <p:cNvPr id="27" name="Text 25"/>
          <p:cNvSpPr/>
          <p:nvPr/>
        </p:nvSpPr>
        <p:spPr>
          <a:xfrm>
            <a:off x="914400" y="5440680"/>
            <a:ext cx="5486400" cy="365760"/>
          </a:xfrm>
          <a:prstGeom prst="rect">
            <a:avLst/>
          </a:prstGeom>
          <a:noFill/>
          <a:ln/>
        </p:spPr>
        <p:txBody>
          <a:bodyPr wrap="square" rtlCol="0" anchor="ctr"/>
          <a:lstStyle/>
          <a:p>
            <a:pPr indent="0" marL="0">
              <a:buNone/>
            </a:pPr>
            <a:r>
              <a:rPr lang="en-US" sz="1200" i="1" dirty="0">
                <a:solidFill>
                  <a:srgbClr val="33415C"/>
                </a:solidFill>
                <a:latin typeface="Assistant" pitchFamily="34" charset="0"/>
                <a:ea typeface="Assistant" pitchFamily="34" charset="-122"/>
                <a:cs typeface="Assistant" pitchFamily="34" charset="-120"/>
              </a:rPr>
              <a:t>Liste des scènes · graphe central · panneau de propriétés</a:t>
            </a:r>
            <a:endParaRPr lang="en-US" sz="1200" dirty="0"/>
          </a:p>
        </p:txBody>
      </p:sp>
      <p:sp>
        <p:nvSpPr>
          <p:cNvPr id="28" name="Shape 26"/>
          <p:cNvSpPr/>
          <p:nvPr/>
        </p:nvSpPr>
        <p:spPr>
          <a:xfrm>
            <a:off x="7040880" y="1828800"/>
            <a:ext cx="384048" cy="384048"/>
          </a:xfrm>
          <a:prstGeom prst="ellipse">
            <a:avLst/>
          </a:prstGeom>
          <a:solidFill>
            <a:srgbClr val="385CB0"/>
          </a:solidFill>
          <a:ln/>
        </p:spPr>
      </p:sp>
      <p:sp>
        <p:nvSpPr>
          <p:cNvPr id="29" name="Text 27"/>
          <p:cNvSpPr/>
          <p:nvPr/>
        </p:nvSpPr>
        <p:spPr>
          <a:xfrm>
            <a:off x="7040880" y="1828800"/>
            <a:ext cx="384048" cy="384048"/>
          </a:xfrm>
          <a:prstGeom prst="rect">
            <a:avLst/>
          </a:prstGeom>
          <a:noFill/>
          <a:ln/>
        </p:spPr>
        <p:txBody>
          <a:bodyPr wrap="square" rtlCol="0" anchor="ctr"/>
          <a:lstStyle/>
          <a:p>
            <a:pPr algn="ctr" indent="0" marL="0">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30" name="Text 28"/>
          <p:cNvSpPr/>
          <p:nvPr/>
        </p:nvSpPr>
        <p:spPr>
          <a:xfrm>
            <a:off x="7543800" y="1792224"/>
            <a:ext cx="4114800" cy="329184"/>
          </a:xfrm>
          <a:prstGeom prst="rect">
            <a:avLst/>
          </a:prstGeom>
          <a:noFill/>
          <a:ln/>
        </p:spPr>
        <p:txBody>
          <a:bodyPr wrap="square" rtlCol="0" anchor="ctr"/>
          <a:lstStyle/>
          <a:p>
            <a:pPr indent="0" marL="0">
              <a:buNone/>
            </a:pPr>
            <a:r>
              <a:rPr lang="en-US" sz="1450" b="1" dirty="0">
                <a:solidFill>
                  <a:srgbClr val="001B58"/>
                </a:solidFill>
                <a:latin typeface="Archivo" pitchFamily="34" charset="0"/>
                <a:ea typeface="Archivo" pitchFamily="34" charset="-122"/>
                <a:cs typeface="Archivo" pitchFamily="34" charset="-120"/>
              </a:rPr>
              <a:t>Édition CRUD complète</a:t>
            </a:r>
            <a:endParaRPr lang="en-US" sz="1450" dirty="0"/>
          </a:p>
        </p:txBody>
      </p:sp>
      <p:sp>
        <p:nvSpPr>
          <p:cNvPr id="31" name="Text 29"/>
          <p:cNvSpPr/>
          <p:nvPr/>
        </p:nvSpPr>
        <p:spPr>
          <a:xfrm>
            <a:off x="7543800" y="2121408"/>
            <a:ext cx="4114800" cy="457200"/>
          </a:xfrm>
          <a:prstGeom prst="rect">
            <a:avLst/>
          </a:prstGeom>
          <a:noFill/>
          <a:ln/>
        </p:spPr>
        <p:txBody>
          <a:bodyPr wrap="square" rtlCol="0" anchor="ctr"/>
          <a:lstStyle/>
          <a:p>
            <a:pPr indent="0" marL="0">
              <a:buNone/>
            </a:pPr>
            <a:r>
              <a:rPr lang="en-US" sz="1200" dirty="0">
                <a:solidFill>
                  <a:srgbClr val="33415C"/>
                </a:solidFill>
                <a:latin typeface="Assistant" pitchFamily="34" charset="0"/>
                <a:ea typeface="Assistant" pitchFamily="34" charset="-122"/>
                <a:cs typeface="Assistant" pitchFamily="34" charset="-120"/>
              </a:rPr>
              <a:t>Textes, noms, scores et références narratives</a:t>
            </a:r>
            <a:endParaRPr lang="en-US" sz="1200" dirty="0"/>
          </a:p>
        </p:txBody>
      </p:sp>
      <p:sp>
        <p:nvSpPr>
          <p:cNvPr id="32" name="Shape 30"/>
          <p:cNvSpPr/>
          <p:nvPr/>
        </p:nvSpPr>
        <p:spPr>
          <a:xfrm>
            <a:off x="7040880" y="2670048"/>
            <a:ext cx="384048" cy="384048"/>
          </a:xfrm>
          <a:prstGeom prst="ellipse">
            <a:avLst/>
          </a:prstGeom>
          <a:solidFill>
            <a:srgbClr val="385CB0"/>
          </a:solidFill>
          <a:ln/>
        </p:spPr>
      </p:sp>
      <p:sp>
        <p:nvSpPr>
          <p:cNvPr id="33" name="Text 31"/>
          <p:cNvSpPr/>
          <p:nvPr/>
        </p:nvSpPr>
        <p:spPr>
          <a:xfrm>
            <a:off x="7040880" y="2670048"/>
            <a:ext cx="384048" cy="384048"/>
          </a:xfrm>
          <a:prstGeom prst="rect">
            <a:avLst/>
          </a:prstGeom>
          <a:noFill/>
          <a:ln/>
        </p:spPr>
        <p:txBody>
          <a:bodyPr wrap="square" rtlCol="0" anchor="ctr"/>
          <a:lstStyle/>
          <a:p>
            <a:pPr algn="ctr" indent="0" marL="0">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34" name="Text 32"/>
          <p:cNvSpPr/>
          <p:nvPr/>
        </p:nvSpPr>
        <p:spPr>
          <a:xfrm>
            <a:off x="7543800" y="2633472"/>
            <a:ext cx="4114800" cy="329184"/>
          </a:xfrm>
          <a:prstGeom prst="rect">
            <a:avLst/>
          </a:prstGeom>
          <a:noFill/>
          <a:ln/>
        </p:spPr>
        <p:txBody>
          <a:bodyPr wrap="square" rtlCol="0" anchor="ctr"/>
          <a:lstStyle/>
          <a:p>
            <a:pPr indent="0" marL="0">
              <a:buNone/>
            </a:pPr>
            <a:r>
              <a:rPr lang="en-US" sz="1450" b="1" dirty="0">
                <a:solidFill>
                  <a:srgbClr val="001B58"/>
                </a:solidFill>
                <a:latin typeface="Archivo" pitchFamily="34" charset="0"/>
                <a:ea typeface="Archivo" pitchFamily="34" charset="-122"/>
                <a:cs typeface="Archivo" pitchFamily="34" charset="-120"/>
              </a:rPr>
              <a:t>Validation EG-7 temps réel</a:t>
            </a:r>
            <a:endParaRPr lang="en-US" sz="1450" dirty="0"/>
          </a:p>
        </p:txBody>
      </p:sp>
      <p:sp>
        <p:nvSpPr>
          <p:cNvPr id="35" name="Text 33"/>
          <p:cNvSpPr/>
          <p:nvPr/>
        </p:nvSpPr>
        <p:spPr>
          <a:xfrm>
            <a:off x="7543800" y="2962656"/>
            <a:ext cx="4114800" cy="457200"/>
          </a:xfrm>
          <a:prstGeom prst="rect">
            <a:avLst/>
          </a:prstGeom>
          <a:noFill/>
          <a:ln/>
        </p:spPr>
        <p:txBody>
          <a:bodyPr wrap="square" rtlCol="0" anchor="ctr"/>
          <a:lstStyle/>
          <a:p>
            <a:pPr indent="0" marL="0">
              <a:buNone/>
            </a:pPr>
            <a:r>
              <a:rPr lang="en-US" sz="1200" dirty="0">
                <a:solidFill>
                  <a:srgbClr val="33415C"/>
                </a:solidFill>
                <a:latin typeface="Assistant" pitchFamily="34" charset="0"/>
                <a:ea typeface="Assistant" pitchFamily="34" charset="-122"/>
                <a:cs typeface="Assistant" pitchFamily="34" charset="-120"/>
              </a:rPr>
              <a:t>Détecte les NextInteractionID invalides (branches cassées)</a:t>
            </a:r>
            <a:endParaRPr lang="en-US" sz="1200" dirty="0"/>
          </a:p>
        </p:txBody>
      </p:sp>
      <p:sp>
        <p:nvSpPr>
          <p:cNvPr id="36" name="Shape 34"/>
          <p:cNvSpPr/>
          <p:nvPr/>
        </p:nvSpPr>
        <p:spPr>
          <a:xfrm>
            <a:off x="7040880" y="3511296"/>
            <a:ext cx="384048" cy="384048"/>
          </a:xfrm>
          <a:prstGeom prst="ellipse">
            <a:avLst/>
          </a:prstGeom>
          <a:solidFill>
            <a:srgbClr val="385CB0"/>
          </a:solidFill>
          <a:ln/>
        </p:spPr>
      </p:sp>
      <p:sp>
        <p:nvSpPr>
          <p:cNvPr id="37" name="Text 35"/>
          <p:cNvSpPr/>
          <p:nvPr/>
        </p:nvSpPr>
        <p:spPr>
          <a:xfrm>
            <a:off x="7040880" y="3511296"/>
            <a:ext cx="384048" cy="384048"/>
          </a:xfrm>
          <a:prstGeom prst="rect">
            <a:avLst/>
          </a:prstGeom>
          <a:noFill/>
          <a:ln/>
        </p:spPr>
        <p:txBody>
          <a:bodyPr wrap="square" rtlCol="0" anchor="ctr"/>
          <a:lstStyle/>
          <a:p>
            <a:pPr algn="ctr" indent="0" marL="0">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38" name="Text 36"/>
          <p:cNvSpPr/>
          <p:nvPr/>
        </p:nvSpPr>
        <p:spPr>
          <a:xfrm>
            <a:off x="7543800" y="3474720"/>
            <a:ext cx="4114800" cy="329184"/>
          </a:xfrm>
          <a:prstGeom prst="rect">
            <a:avLst/>
          </a:prstGeom>
          <a:noFill/>
          <a:ln/>
        </p:spPr>
        <p:txBody>
          <a:bodyPr wrap="square" rtlCol="0" anchor="ctr"/>
          <a:lstStyle/>
          <a:p>
            <a:pPr indent="0" marL="0">
              <a:buNone/>
            </a:pPr>
            <a:r>
              <a:rPr lang="en-US" sz="1450" b="1" dirty="0">
                <a:solidFill>
                  <a:srgbClr val="001B58"/>
                </a:solidFill>
                <a:latin typeface="Archivo" pitchFamily="34" charset="0"/>
                <a:ea typeface="Archivo" pitchFamily="34" charset="-122"/>
                <a:cs typeface="Archivo" pitchFamily="34" charset="-120"/>
              </a:rPr>
              <a:t>Sauvegarde atomique</a:t>
            </a:r>
            <a:endParaRPr lang="en-US" sz="1450" dirty="0"/>
          </a:p>
        </p:txBody>
      </p:sp>
      <p:sp>
        <p:nvSpPr>
          <p:cNvPr id="39" name="Text 37"/>
          <p:cNvSpPr/>
          <p:nvPr/>
        </p:nvSpPr>
        <p:spPr>
          <a:xfrm>
            <a:off x="7543800" y="3803904"/>
            <a:ext cx="4114800" cy="457200"/>
          </a:xfrm>
          <a:prstGeom prst="rect">
            <a:avLst/>
          </a:prstGeom>
          <a:noFill/>
          <a:ln/>
        </p:spPr>
        <p:txBody>
          <a:bodyPr wrap="square" rtlCol="0" anchor="ctr"/>
          <a:lstStyle/>
          <a:p>
            <a:pPr indent="0" marL="0">
              <a:buNone/>
            </a:pPr>
            <a:r>
              <a:rPr lang="en-US" sz="1200" dirty="0">
                <a:solidFill>
                  <a:srgbClr val="33415C"/>
                </a:solidFill>
                <a:latin typeface="Assistant" pitchFamily="34" charset="0"/>
                <a:ea typeface="Assistant" pitchFamily="34" charset="-122"/>
                <a:cs typeface="Assistant" pitchFamily="34" charset="-120"/>
              </a:rPr>
              <a:t>Fichier temporaire + os.replace — zéro corruption</a:t>
            </a:r>
            <a:endParaRPr lang="en-US" sz="1200" dirty="0"/>
          </a:p>
        </p:txBody>
      </p:sp>
      <p:sp>
        <p:nvSpPr>
          <p:cNvPr id="40" name="Shape 38"/>
          <p:cNvSpPr/>
          <p:nvPr/>
        </p:nvSpPr>
        <p:spPr>
          <a:xfrm>
            <a:off x="7040880" y="4352544"/>
            <a:ext cx="384048" cy="384048"/>
          </a:xfrm>
          <a:prstGeom prst="ellipse">
            <a:avLst/>
          </a:prstGeom>
          <a:solidFill>
            <a:srgbClr val="385CB0"/>
          </a:solidFill>
          <a:ln/>
        </p:spPr>
      </p:sp>
      <p:sp>
        <p:nvSpPr>
          <p:cNvPr id="41" name="Text 39"/>
          <p:cNvSpPr/>
          <p:nvPr/>
        </p:nvSpPr>
        <p:spPr>
          <a:xfrm>
            <a:off x="7040880" y="4352544"/>
            <a:ext cx="384048" cy="384048"/>
          </a:xfrm>
          <a:prstGeom prst="rect">
            <a:avLst/>
          </a:prstGeom>
          <a:noFill/>
          <a:ln/>
        </p:spPr>
        <p:txBody>
          <a:bodyPr wrap="square" rtlCol="0" anchor="ctr"/>
          <a:lstStyle/>
          <a:p>
            <a:pPr algn="ctr" indent="0" marL="0">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42" name="Text 40"/>
          <p:cNvSpPr/>
          <p:nvPr/>
        </p:nvSpPr>
        <p:spPr>
          <a:xfrm>
            <a:off x="7543800" y="4315968"/>
            <a:ext cx="4114800" cy="329184"/>
          </a:xfrm>
          <a:prstGeom prst="rect">
            <a:avLst/>
          </a:prstGeom>
          <a:noFill/>
          <a:ln/>
        </p:spPr>
        <p:txBody>
          <a:bodyPr wrap="square" rtlCol="0" anchor="ctr"/>
          <a:lstStyle/>
          <a:p>
            <a:pPr indent="0" marL="0">
              <a:buNone/>
            </a:pPr>
            <a:r>
              <a:rPr lang="en-US" sz="1450" b="1" dirty="0">
                <a:solidFill>
                  <a:srgbClr val="001B58"/>
                </a:solidFill>
                <a:latin typeface="Archivo" pitchFamily="34" charset="0"/>
                <a:ea typeface="Archivo" pitchFamily="34" charset="-122"/>
                <a:cs typeface="Archivo" pitchFamily="34" charset="-120"/>
              </a:rPr>
              <a:t>Mode parcours joueur</a:t>
            </a:r>
            <a:endParaRPr lang="en-US" sz="1450" dirty="0"/>
          </a:p>
        </p:txBody>
      </p:sp>
      <p:sp>
        <p:nvSpPr>
          <p:cNvPr id="43" name="Text 41"/>
          <p:cNvSpPr/>
          <p:nvPr/>
        </p:nvSpPr>
        <p:spPr>
          <a:xfrm>
            <a:off x="7543800" y="4645152"/>
            <a:ext cx="4114800" cy="457200"/>
          </a:xfrm>
          <a:prstGeom prst="rect">
            <a:avLst/>
          </a:prstGeom>
          <a:noFill/>
          <a:ln/>
        </p:spPr>
        <p:txBody>
          <a:bodyPr wrap="square" rtlCol="0" anchor="ctr"/>
          <a:lstStyle/>
          <a:p>
            <a:pPr indent="0" marL="0">
              <a:buNone/>
            </a:pPr>
            <a:r>
              <a:rPr lang="en-US" sz="1200" dirty="0">
                <a:solidFill>
                  <a:srgbClr val="33415C"/>
                </a:solidFill>
                <a:latin typeface="Assistant" pitchFamily="34" charset="0"/>
                <a:ea typeface="Assistant" pitchFamily="34" charset="-122"/>
                <a:cs typeface="Assistant" pitchFamily="34" charset="-120"/>
              </a:rPr>
              <a:t>Simule une session, scores cumulés, sans relancer Unity</a:t>
            </a:r>
            <a:endParaRPr lang="en-US" sz="1200" dirty="0"/>
          </a:p>
        </p:txBody>
      </p:sp>
      <p:sp>
        <p:nvSpPr>
          <p:cNvPr id="44" name="Shape 42"/>
          <p:cNvSpPr/>
          <p:nvPr/>
        </p:nvSpPr>
        <p:spPr>
          <a:xfrm>
            <a:off x="7040880" y="5193792"/>
            <a:ext cx="384048" cy="384048"/>
          </a:xfrm>
          <a:prstGeom prst="ellipse">
            <a:avLst/>
          </a:prstGeom>
          <a:solidFill>
            <a:srgbClr val="385CB0"/>
          </a:solidFill>
          <a:ln/>
        </p:spPr>
      </p:sp>
      <p:sp>
        <p:nvSpPr>
          <p:cNvPr id="45" name="Text 43"/>
          <p:cNvSpPr/>
          <p:nvPr/>
        </p:nvSpPr>
        <p:spPr>
          <a:xfrm>
            <a:off x="7040880" y="5193792"/>
            <a:ext cx="384048" cy="384048"/>
          </a:xfrm>
          <a:prstGeom prst="rect">
            <a:avLst/>
          </a:prstGeom>
          <a:noFill/>
          <a:ln/>
        </p:spPr>
        <p:txBody>
          <a:bodyPr wrap="square" rtlCol="0" anchor="ctr"/>
          <a:lstStyle/>
          <a:p>
            <a:pPr algn="ctr" indent="0" marL="0">
              <a:buNone/>
            </a:pPr>
            <a:r>
              <a:rPr lang="en-US" sz="924" b="1" dirty="0">
                <a:solidFill>
                  <a:srgbClr val="FFFFFF"/>
                </a:solidFill>
                <a:latin typeface="Archivo" pitchFamily="34" charset="0"/>
                <a:ea typeface="Archivo" pitchFamily="34" charset="-122"/>
                <a:cs typeface="Archivo" pitchFamily="34" charset="-120"/>
              </a:rPr>
              <a:t>✓</a:t>
            </a:r>
            <a:endParaRPr lang="en-US" sz="924" dirty="0"/>
          </a:p>
        </p:txBody>
      </p:sp>
      <p:sp>
        <p:nvSpPr>
          <p:cNvPr id="46" name="Text 44"/>
          <p:cNvSpPr/>
          <p:nvPr/>
        </p:nvSpPr>
        <p:spPr>
          <a:xfrm>
            <a:off x="7543800" y="5157216"/>
            <a:ext cx="4114800" cy="329184"/>
          </a:xfrm>
          <a:prstGeom prst="rect">
            <a:avLst/>
          </a:prstGeom>
          <a:noFill/>
          <a:ln/>
        </p:spPr>
        <p:txBody>
          <a:bodyPr wrap="square" rtlCol="0" anchor="ctr"/>
          <a:lstStyle/>
          <a:p>
            <a:pPr indent="0" marL="0">
              <a:buNone/>
            </a:pPr>
            <a:r>
              <a:rPr lang="en-US" sz="1450" b="1" dirty="0">
                <a:solidFill>
                  <a:srgbClr val="001B58"/>
                </a:solidFill>
                <a:latin typeface="Archivo" pitchFamily="34" charset="0"/>
                <a:ea typeface="Archivo" pitchFamily="34" charset="-122"/>
                <a:cs typeface="Archivo" pitchFamily="34" charset="-120"/>
              </a:rPr>
              <a:t>Export Mermaid</a:t>
            </a:r>
            <a:endParaRPr lang="en-US" sz="1450" dirty="0"/>
          </a:p>
        </p:txBody>
      </p:sp>
      <p:sp>
        <p:nvSpPr>
          <p:cNvPr id="47" name="Text 45"/>
          <p:cNvSpPr/>
          <p:nvPr/>
        </p:nvSpPr>
        <p:spPr>
          <a:xfrm>
            <a:off x="7543800" y="5486400"/>
            <a:ext cx="4114800" cy="457200"/>
          </a:xfrm>
          <a:prstGeom prst="rect">
            <a:avLst/>
          </a:prstGeom>
          <a:noFill/>
          <a:ln/>
        </p:spPr>
        <p:txBody>
          <a:bodyPr wrap="square" rtlCol="0" anchor="ctr"/>
          <a:lstStyle/>
          <a:p>
            <a:pPr indent="0" marL="0">
              <a:buNone/>
            </a:pPr>
            <a:r>
              <a:rPr lang="en-US" sz="1200" dirty="0">
                <a:solidFill>
                  <a:srgbClr val="33415C"/>
                </a:solidFill>
                <a:latin typeface="Assistant" pitchFamily="34" charset="0"/>
                <a:ea typeface="Assistant" pitchFamily="34" charset="-122"/>
                <a:cs typeface="Assistant" pitchFamily="34" charset="-120"/>
              </a:rPr>
              <a:t>Représentation versionnable rendue dans GitHub</a:t>
            </a:r>
            <a:endParaRPr lang="en-US" sz="1200" dirty="0"/>
          </a:p>
        </p:txBody>
      </p:sp>
      <p:sp>
        <p:nvSpPr>
          <p:cNvPr id="48" name="Shape 46"/>
          <p:cNvSpPr/>
          <p:nvPr/>
        </p:nvSpPr>
        <p:spPr>
          <a:xfrm>
            <a:off x="9829800" y="6327648"/>
            <a:ext cx="82296" cy="82296"/>
          </a:xfrm>
          <a:prstGeom prst="ellipse">
            <a:avLst/>
          </a:prstGeom>
          <a:solidFill>
            <a:srgbClr val="76A3EE"/>
          </a:solidFill>
          <a:ln/>
        </p:spPr>
      </p:sp>
      <p:sp>
        <p:nvSpPr>
          <p:cNvPr id="49" name="Shape 47"/>
          <p:cNvSpPr/>
          <p:nvPr/>
        </p:nvSpPr>
        <p:spPr>
          <a:xfrm>
            <a:off x="10030968" y="6327648"/>
            <a:ext cx="82296" cy="82296"/>
          </a:xfrm>
          <a:prstGeom prst="ellipse">
            <a:avLst/>
          </a:prstGeom>
          <a:solidFill>
            <a:srgbClr val="76A3EE"/>
          </a:solidFill>
          <a:ln/>
        </p:spPr>
      </p:sp>
      <p:sp>
        <p:nvSpPr>
          <p:cNvPr id="50" name="Shape 48"/>
          <p:cNvSpPr/>
          <p:nvPr/>
        </p:nvSpPr>
        <p:spPr>
          <a:xfrm>
            <a:off x="10232136" y="6327648"/>
            <a:ext cx="82296" cy="82296"/>
          </a:xfrm>
          <a:prstGeom prst="ellipse">
            <a:avLst/>
          </a:prstGeom>
          <a:solidFill>
            <a:srgbClr val="385CB0"/>
          </a:solidFill>
          <a:ln/>
        </p:spPr>
      </p:sp>
      <p:sp>
        <p:nvSpPr>
          <p:cNvPr id="51" name="Shape 49"/>
          <p:cNvSpPr/>
          <p:nvPr/>
        </p:nvSpPr>
        <p:spPr>
          <a:xfrm>
            <a:off x="10433304" y="6327648"/>
            <a:ext cx="82296" cy="82296"/>
          </a:xfrm>
          <a:prstGeom prst="ellipse">
            <a:avLst/>
          </a:prstGeom>
          <a:solidFill>
            <a:srgbClr val="76A3EE"/>
          </a:solidFill>
          <a:ln/>
        </p:spPr>
      </p:sp>
      <p:sp>
        <p:nvSpPr>
          <p:cNvPr id="52" name="Shape 50"/>
          <p:cNvSpPr/>
          <p:nvPr/>
        </p:nvSpPr>
        <p:spPr>
          <a:xfrm>
            <a:off x="10634472" y="6327648"/>
            <a:ext cx="82296" cy="82296"/>
          </a:xfrm>
          <a:prstGeom prst="ellipse">
            <a:avLst/>
          </a:prstGeom>
          <a:solidFill>
            <a:srgbClr val="76A3EE"/>
          </a:solidFill>
          <a:ln/>
        </p:spPr>
      </p:sp>
      <p:sp>
        <p:nvSpPr>
          <p:cNvPr id="53" name="Text 51"/>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RÉSULTATS · MODULE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Génération orientée &amp; scoring assisté</a:t>
            </a:r>
            <a:endParaRPr lang="en-US" sz="2800" dirty="0"/>
          </a:p>
        </p:txBody>
      </p:sp>
      <p:sp>
        <p:nvSpPr>
          <p:cNvPr id="13" name="Shape 11"/>
          <p:cNvSpPr/>
          <p:nvPr/>
        </p:nvSpPr>
        <p:spPr>
          <a:xfrm>
            <a:off x="685800" y="1783080"/>
            <a:ext cx="1993392" cy="914400"/>
          </a:xfrm>
          <a:prstGeom prst="roundRect">
            <a:avLst>
              <a:gd name="adj" fmla="val 8000"/>
            </a:avLst>
          </a:prstGeom>
          <a:solidFill>
            <a:srgbClr val="385CB0"/>
          </a:solidFill>
          <a:ln/>
        </p:spPr>
      </p:sp>
      <p:sp>
        <p:nvSpPr>
          <p:cNvPr id="14" name="Text 12"/>
          <p:cNvSpPr/>
          <p:nvPr/>
        </p:nvSpPr>
        <p:spPr>
          <a:xfrm>
            <a:off x="685800" y="1783080"/>
            <a:ext cx="1993392" cy="914400"/>
          </a:xfrm>
          <a:prstGeom prst="rect">
            <a:avLst/>
          </a:prstGeom>
          <a:noFill/>
          <a:ln/>
        </p:spPr>
        <p:txBody>
          <a:bodyPr wrap="square" rtlCol="0" anchor="ctr"/>
          <a:lstStyle/>
          <a:p>
            <a:pPr algn="ctr" indent="0" marL="0">
              <a:buNone/>
            </a:pPr>
            <a:r>
              <a:rPr lang="en-US" sz="1150" b="1" dirty="0">
                <a:solidFill>
                  <a:srgbClr val="FFFFFF"/>
                </a:solidFill>
                <a:latin typeface="Assistant" pitchFamily="34" charset="0"/>
                <a:ea typeface="Assistant" pitchFamily="34" charset="-122"/>
                <a:cs typeface="Assistant" pitchFamily="34" charset="-120"/>
              </a:rPr>
              <a:t>Paramètres IA</a:t>
            </a:r>
            <a:endParaRPr lang="en-US" sz="1150" dirty="0"/>
          </a:p>
          <a:p>
            <a:pPr algn="ctr" indent="0" marL="0">
              <a:buNone/>
            </a:pPr>
            <a:r>
              <a:rPr lang="en-US" sz="1150" b="1" dirty="0">
                <a:solidFill>
                  <a:srgbClr val="FFFFFF"/>
                </a:solidFill>
                <a:latin typeface="Assistant" pitchFamily="34" charset="0"/>
                <a:ea typeface="Assistant" pitchFamily="34" charset="-122"/>
                <a:cs typeface="Assistant" pitchFamily="34" charset="-120"/>
              </a:rPr>
              <a:t>(curseurs −3…+3)</a:t>
            </a:r>
            <a:endParaRPr lang="en-US" sz="1150" dirty="0"/>
          </a:p>
        </p:txBody>
      </p:sp>
      <p:sp>
        <p:nvSpPr>
          <p:cNvPr id="15" name="Text 13"/>
          <p:cNvSpPr/>
          <p:nvPr/>
        </p:nvSpPr>
        <p:spPr>
          <a:xfrm>
            <a:off x="2651760" y="1993392"/>
            <a:ext cx="310896" cy="457200"/>
          </a:xfrm>
          <a:prstGeom prst="rect">
            <a:avLst/>
          </a:prstGeom>
          <a:noFill/>
          <a:ln/>
        </p:spPr>
        <p:txBody>
          <a:bodyPr wrap="square" rtlCol="0" anchor="ctr"/>
          <a:lstStyle/>
          <a:p>
            <a:pPr algn="ctr" indent="0" marL="0">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16" name="Shape 14"/>
          <p:cNvSpPr/>
          <p:nvPr/>
        </p:nvSpPr>
        <p:spPr>
          <a:xfrm>
            <a:off x="2935224" y="1783080"/>
            <a:ext cx="1993392" cy="914400"/>
          </a:xfrm>
          <a:prstGeom prst="roundRect">
            <a:avLst>
              <a:gd name="adj" fmla="val 8000"/>
            </a:avLst>
          </a:prstGeom>
          <a:solidFill>
            <a:srgbClr val="385CB0"/>
          </a:solidFill>
          <a:ln/>
        </p:spPr>
      </p:sp>
      <p:sp>
        <p:nvSpPr>
          <p:cNvPr id="17" name="Text 15"/>
          <p:cNvSpPr/>
          <p:nvPr/>
        </p:nvSpPr>
        <p:spPr>
          <a:xfrm>
            <a:off x="2935224" y="1783080"/>
            <a:ext cx="1993392" cy="914400"/>
          </a:xfrm>
          <a:prstGeom prst="rect">
            <a:avLst/>
          </a:prstGeom>
          <a:noFill/>
          <a:ln/>
        </p:spPr>
        <p:txBody>
          <a:bodyPr wrap="square" rtlCol="0" anchor="ctr"/>
          <a:lstStyle/>
          <a:p>
            <a:pPr algn="ctr" indent="0" marL="0">
              <a:buNone/>
            </a:pPr>
            <a:r>
              <a:rPr lang="en-US" sz="1150" b="1" dirty="0">
                <a:solidFill>
                  <a:srgbClr val="FFFFFF"/>
                </a:solidFill>
                <a:latin typeface="Assistant" pitchFamily="34" charset="0"/>
                <a:ea typeface="Assistant" pitchFamily="34" charset="-122"/>
                <a:cs typeface="Assistant" pitchFamily="34" charset="-120"/>
              </a:rPr>
              <a:t>build_ctx</a:t>
            </a:r>
            <a:endParaRPr lang="en-US" sz="1150" dirty="0"/>
          </a:p>
          <a:p>
            <a:pPr algn="ctr" indent="0" marL="0">
              <a:buNone/>
            </a:pPr>
            <a:r>
              <a:rPr lang="en-US" sz="1150" b="1" dirty="0">
                <a:solidFill>
                  <a:srgbClr val="FFFFFF"/>
                </a:solidFill>
                <a:latin typeface="Assistant" pitchFamily="34" charset="0"/>
                <a:ea typeface="Assistant" pitchFamily="34" charset="-122"/>
                <a:cs typeface="Assistant" pitchFamily="34" charset="-120"/>
              </a:rPr>
              <a:t>+ format_msg</a:t>
            </a:r>
            <a:endParaRPr lang="en-US" sz="1150" dirty="0"/>
          </a:p>
        </p:txBody>
      </p:sp>
      <p:sp>
        <p:nvSpPr>
          <p:cNvPr id="18" name="Text 16"/>
          <p:cNvSpPr/>
          <p:nvPr/>
        </p:nvSpPr>
        <p:spPr>
          <a:xfrm>
            <a:off x="4901184" y="1993392"/>
            <a:ext cx="310896" cy="457200"/>
          </a:xfrm>
          <a:prstGeom prst="rect">
            <a:avLst/>
          </a:prstGeom>
          <a:noFill/>
          <a:ln/>
        </p:spPr>
        <p:txBody>
          <a:bodyPr wrap="square" rtlCol="0" anchor="ctr"/>
          <a:lstStyle/>
          <a:p>
            <a:pPr algn="ctr" indent="0" marL="0">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19" name="Shape 17"/>
          <p:cNvSpPr/>
          <p:nvPr/>
        </p:nvSpPr>
        <p:spPr>
          <a:xfrm>
            <a:off x="5184648" y="1783080"/>
            <a:ext cx="1993392" cy="914400"/>
          </a:xfrm>
          <a:prstGeom prst="roundRect">
            <a:avLst>
              <a:gd name="adj" fmla="val 8000"/>
            </a:avLst>
          </a:prstGeom>
          <a:solidFill>
            <a:srgbClr val="385CB0"/>
          </a:solidFill>
          <a:ln/>
        </p:spPr>
      </p:sp>
      <p:sp>
        <p:nvSpPr>
          <p:cNvPr id="20" name="Text 18"/>
          <p:cNvSpPr/>
          <p:nvPr/>
        </p:nvSpPr>
        <p:spPr>
          <a:xfrm>
            <a:off x="5184648" y="1783080"/>
            <a:ext cx="1993392" cy="914400"/>
          </a:xfrm>
          <a:prstGeom prst="rect">
            <a:avLst/>
          </a:prstGeom>
          <a:noFill/>
          <a:ln/>
        </p:spPr>
        <p:txBody>
          <a:bodyPr wrap="square" rtlCol="0" anchor="ctr"/>
          <a:lstStyle/>
          <a:p>
            <a:pPr algn="ctr" indent="0" marL="0">
              <a:buNone/>
            </a:pPr>
            <a:r>
              <a:rPr lang="en-US" sz="1150" b="1" dirty="0">
                <a:solidFill>
                  <a:srgbClr val="FFFFFF"/>
                </a:solidFill>
                <a:latin typeface="Assistant" pitchFamily="34" charset="0"/>
                <a:ea typeface="Assistant" pitchFamily="34" charset="-122"/>
                <a:cs typeface="Assistant" pitchFamily="34" charset="-120"/>
              </a:rPr>
              <a:t>LLM Backend</a:t>
            </a:r>
            <a:endParaRPr lang="en-US" sz="1150" dirty="0"/>
          </a:p>
          <a:p>
            <a:pPr algn="ctr" indent="0" marL="0">
              <a:buNone/>
            </a:pPr>
            <a:r>
              <a:rPr lang="en-US" sz="1150" b="1" dirty="0">
                <a:solidFill>
                  <a:srgbClr val="FFFFFF"/>
                </a:solidFill>
                <a:latin typeface="Assistant" pitchFamily="34" charset="0"/>
                <a:ea typeface="Assistant" pitchFamily="34" charset="-122"/>
                <a:cs typeface="Assistant" pitchFamily="34" charset="-120"/>
              </a:rPr>
              <a:t>OpenAI / Ollama</a:t>
            </a:r>
            <a:endParaRPr lang="en-US" sz="1150" dirty="0"/>
          </a:p>
        </p:txBody>
      </p:sp>
      <p:sp>
        <p:nvSpPr>
          <p:cNvPr id="21" name="Text 19"/>
          <p:cNvSpPr/>
          <p:nvPr/>
        </p:nvSpPr>
        <p:spPr>
          <a:xfrm>
            <a:off x="7150608" y="1993392"/>
            <a:ext cx="310896" cy="457200"/>
          </a:xfrm>
          <a:prstGeom prst="rect">
            <a:avLst/>
          </a:prstGeom>
          <a:noFill/>
          <a:ln/>
        </p:spPr>
        <p:txBody>
          <a:bodyPr wrap="square" rtlCol="0" anchor="ctr"/>
          <a:lstStyle/>
          <a:p>
            <a:pPr algn="ctr" indent="0" marL="0">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22" name="Shape 20"/>
          <p:cNvSpPr/>
          <p:nvPr/>
        </p:nvSpPr>
        <p:spPr>
          <a:xfrm>
            <a:off x="7434072" y="1783080"/>
            <a:ext cx="1993392" cy="914400"/>
          </a:xfrm>
          <a:prstGeom prst="roundRect">
            <a:avLst>
              <a:gd name="adj" fmla="val 8000"/>
            </a:avLst>
          </a:prstGeom>
          <a:solidFill>
            <a:srgbClr val="385CB0"/>
          </a:solidFill>
          <a:ln/>
        </p:spPr>
      </p:sp>
      <p:sp>
        <p:nvSpPr>
          <p:cNvPr id="23" name="Text 21"/>
          <p:cNvSpPr/>
          <p:nvPr/>
        </p:nvSpPr>
        <p:spPr>
          <a:xfrm>
            <a:off x="7434072" y="1783080"/>
            <a:ext cx="1993392" cy="914400"/>
          </a:xfrm>
          <a:prstGeom prst="rect">
            <a:avLst/>
          </a:prstGeom>
          <a:noFill/>
          <a:ln/>
        </p:spPr>
        <p:txBody>
          <a:bodyPr wrap="square" rtlCol="0" anchor="ctr"/>
          <a:lstStyle/>
          <a:p>
            <a:pPr algn="ctr" indent="0" marL="0">
              <a:buNone/>
            </a:pPr>
            <a:r>
              <a:rPr lang="en-US" sz="1150" b="1" dirty="0">
                <a:solidFill>
                  <a:srgbClr val="FFFFFF"/>
                </a:solidFill>
                <a:latin typeface="Assistant" pitchFamily="34" charset="0"/>
                <a:ea typeface="Assistant" pitchFamily="34" charset="-122"/>
                <a:cs typeface="Assistant" pitchFamily="34" charset="-120"/>
              </a:rPr>
              <a:t>Filtrage</a:t>
            </a:r>
            <a:endParaRPr lang="en-US" sz="1150" dirty="0"/>
          </a:p>
          <a:p>
            <a:pPr algn="ctr" indent="0" marL="0">
              <a:buNone/>
            </a:pPr>
            <a:r>
              <a:rPr lang="en-US" sz="1150" b="1" dirty="0">
                <a:solidFill>
                  <a:srgbClr val="FFFFFF"/>
                </a:solidFill>
                <a:latin typeface="Assistant" pitchFamily="34" charset="0"/>
                <a:ea typeface="Assistant" pitchFamily="34" charset="-122"/>
                <a:cs typeface="Assistant" pitchFamily="34" charset="-120"/>
              </a:rPr>
              <a:t>doublons</a:t>
            </a:r>
            <a:endParaRPr lang="en-US" sz="1150" dirty="0"/>
          </a:p>
        </p:txBody>
      </p:sp>
      <p:sp>
        <p:nvSpPr>
          <p:cNvPr id="24" name="Text 22"/>
          <p:cNvSpPr/>
          <p:nvPr/>
        </p:nvSpPr>
        <p:spPr>
          <a:xfrm>
            <a:off x="9400032" y="1993392"/>
            <a:ext cx="310896" cy="457200"/>
          </a:xfrm>
          <a:prstGeom prst="rect">
            <a:avLst/>
          </a:prstGeom>
          <a:noFill/>
          <a:ln/>
        </p:spPr>
        <p:txBody>
          <a:bodyPr wrap="square" rtlCol="0" anchor="ctr"/>
          <a:lstStyle/>
          <a:p>
            <a:pPr algn="ctr" indent="0" marL="0">
              <a:buNone/>
            </a:pPr>
            <a:r>
              <a:rPr lang="en-US" sz="2400" b="1" dirty="0">
                <a:solidFill>
                  <a:srgbClr val="76A3EE"/>
                </a:solidFill>
                <a:latin typeface="Archivo" pitchFamily="34" charset="0"/>
                <a:ea typeface="Archivo" pitchFamily="34" charset="-122"/>
                <a:cs typeface="Archivo" pitchFamily="34" charset="-120"/>
              </a:rPr>
              <a:t>›</a:t>
            </a:r>
            <a:endParaRPr lang="en-US" sz="2400" dirty="0"/>
          </a:p>
        </p:txBody>
      </p:sp>
      <p:sp>
        <p:nvSpPr>
          <p:cNvPr id="25" name="Shape 23"/>
          <p:cNvSpPr/>
          <p:nvPr/>
        </p:nvSpPr>
        <p:spPr>
          <a:xfrm>
            <a:off x="9683496" y="1783080"/>
            <a:ext cx="1993392" cy="914400"/>
          </a:xfrm>
          <a:prstGeom prst="roundRect">
            <a:avLst>
              <a:gd name="adj" fmla="val 8000"/>
            </a:avLst>
          </a:prstGeom>
          <a:solidFill>
            <a:srgbClr val="0097A7"/>
          </a:solidFill>
          <a:ln/>
        </p:spPr>
      </p:sp>
      <p:sp>
        <p:nvSpPr>
          <p:cNvPr id="26" name="Text 24"/>
          <p:cNvSpPr/>
          <p:nvPr/>
        </p:nvSpPr>
        <p:spPr>
          <a:xfrm>
            <a:off x="9683496" y="1783080"/>
            <a:ext cx="1993392" cy="914400"/>
          </a:xfrm>
          <a:prstGeom prst="rect">
            <a:avLst/>
          </a:prstGeom>
          <a:noFill/>
          <a:ln/>
        </p:spPr>
        <p:txBody>
          <a:bodyPr wrap="square" rtlCol="0" anchor="ctr"/>
          <a:lstStyle/>
          <a:p>
            <a:pPr algn="ctr" indent="0" marL="0">
              <a:buNone/>
            </a:pPr>
            <a:r>
              <a:rPr lang="en-US" sz="1150" b="1" dirty="0">
                <a:solidFill>
                  <a:srgbClr val="FFFFFF"/>
                </a:solidFill>
                <a:latin typeface="Assistant" pitchFamily="34" charset="0"/>
                <a:ea typeface="Assistant" pitchFamily="34" charset="-122"/>
                <a:cs typeface="Assistant" pitchFamily="34" charset="-120"/>
              </a:rPr>
              <a:t>Validation</a:t>
            </a:r>
            <a:endParaRPr lang="en-US" sz="1150" dirty="0"/>
          </a:p>
          <a:p>
            <a:pPr algn="ctr" indent="0" marL="0">
              <a:buNone/>
            </a:pPr>
            <a:r>
              <a:rPr lang="en-US" sz="1150" b="1" dirty="0">
                <a:solidFill>
                  <a:srgbClr val="FFFFFF"/>
                </a:solidFill>
                <a:latin typeface="Assistant" pitchFamily="34" charset="0"/>
                <a:ea typeface="Assistant" pitchFamily="34" charset="-122"/>
                <a:cs typeface="Assistant" pitchFamily="34" charset="-120"/>
              </a:rPr>
              <a:t>humaine</a:t>
            </a:r>
            <a:endParaRPr lang="en-US" sz="1150" dirty="0"/>
          </a:p>
        </p:txBody>
      </p:sp>
      <p:sp>
        <p:nvSpPr>
          <p:cNvPr id="27" name="Text 25"/>
          <p:cNvSpPr/>
          <p:nvPr/>
        </p:nvSpPr>
        <p:spPr>
          <a:xfrm>
            <a:off x="685800" y="2834640"/>
            <a:ext cx="10972800" cy="365760"/>
          </a:xfrm>
          <a:prstGeom prst="rect">
            <a:avLst/>
          </a:prstGeom>
          <a:noFill/>
          <a:ln/>
        </p:spPr>
        <p:txBody>
          <a:bodyPr wrap="square" rtlCol="0" anchor="ctr"/>
          <a:lstStyle/>
          <a:p>
            <a:pPr indent="0" marL="0">
              <a:buNone/>
            </a:pPr>
            <a:r>
              <a:rPr lang="en-US" sz="1300" i="1" dirty="0">
                <a:solidFill>
                  <a:srgbClr val="001B58"/>
                </a:solidFill>
                <a:latin typeface="Assistant" pitchFamily="34" charset="0"/>
                <a:ea typeface="Assistant" pitchFamily="34" charset="-122"/>
                <a:cs typeface="Assistant" pitchFamily="34" charset="-120"/>
              </a:rPr>
              <a:t>Human-in-the-loop : aucune réponse IA n'entre dans un scénario sans validation de l'auteur.</a:t>
            </a:r>
            <a:endParaRPr lang="en-US" sz="1300" dirty="0"/>
          </a:p>
        </p:txBody>
      </p:sp>
      <p:sp>
        <p:nvSpPr>
          <p:cNvPr id="28" name="Shape 26"/>
          <p:cNvSpPr/>
          <p:nvPr/>
        </p:nvSpPr>
        <p:spPr>
          <a:xfrm>
            <a:off x="685800" y="3383280"/>
            <a:ext cx="5303520" cy="1600200"/>
          </a:xfrm>
          <a:prstGeom prst="roundRect">
            <a:avLst>
              <a:gd name="adj" fmla="val 5714"/>
            </a:avLst>
          </a:prstGeom>
          <a:solidFill>
            <a:srgbClr val="E3EDFF"/>
          </a:solidFill>
          <a:ln/>
        </p:spPr>
      </p:sp>
      <p:sp>
        <p:nvSpPr>
          <p:cNvPr id="29" name="Shape 27"/>
          <p:cNvSpPr/>
          <p:nvPr/>
        </p:nvSpPr>
        <p:spPr>
          <a:xfrm>
            <a:off x="960120" y="3611880"/>
            <a:ext cx="457200" cy="457200"/>
          </a:xfrm>
          <a:prstGeom prst="ellipse">
            <a:avLst/>
          </a:prstGeom>
          <a:solidFill>
            <a:srgbClr val="385CB0"/>
          </a:solidFill>
          <a:ln/>
        </p:spPr>
      </p:sp>
      <p:sp>
        <p:nvSpPr>
          <p:cNvPr id="30" name="Shape 28"/>
          <p:cNvSpPr/>
          <p:nvPr/>
        </p:nvSpPr>
        <p:spPr>
          <a:xfrm>
            <a:off x="1154521" y="3739896"/>
            <a:ext cx="68397" cy="201168"/>
          </a:xfrm>
          <a:prstGeom prst="roundRect">
            <a:avLst>
              <a:gd name="adj" fmla="val 28000"/>
            </a:avLst>
          </a:prstGeom>
          <a:solidFill>
            <a:srgbClr val="FFFFFF"/>
          </a:solidFill>
          <a:ln/>
        </p:spPr>
      </p:sp>
      <p:sp>
        <p:nvSpPr>
          <p:cNvPr id="31" name="Shape 29"/>
          <p:cNvSpPr/>
          <p:nvPr/>
        </p:nvSpPr>
        <p:spPr>
          <a:xfrm>
            <a:off x="1088136" y="3806281"/>
            <a:ext cx="201168" cy="68397"/>
          </a:xfrm>
          <a:prstGeom prst="roundRect">
            <a:avLst>
              <a:gd name="adj" fmla="val 28000"/>
            </a:avLst>
          </a:prstGeom>
          <a:solidFill>
            <a:srgbClr val="FFFFFF"/>
          </a:solidFill>
          <a:ln/>
        </p:spPr>
      </p:sp>
      <p:sp>
        <p:nvSpPr>
          <p:cNvPr id="32" name="Text 30"/>
          <p:cNvSpPr/>
          <p:nvPr/>
        </p:nvSpPr>
        <p:spPr>
          <a:xfrm>
            <a:off x="1554480" y="3584448"/>
            <a:ext cx="4206240" cy="457200"/>
          </a:xfrm>
          <a:prstGeom prst="rect">
            <a:avLst/>
          </a:prstGeom>
          <a:noFill/>
          <a:ln/>
        </p:spPr>
        <p:txBody>
          <a:bodyPr wrap="square" rtlCol="0" anchor="ctr"/>
          <a:lstStyle/>
          <a:p>
            <a:pPr indent="0" marL="0">
              <a:buNone/>
            </a:pPr>
            <a:r>
              <a:rPr lang="en-US" sz="1700" b="1" dirty="0">
                <a:solidFill>
                  <a:srgbClr val="001B58"/>
                </a:solidFill>
                <a:latin typeface="Archivo" pitchFamily="34" charset="0"/>
                <a:ea typeface="Archivo" pitchFamily="34" charset="-122"/>
                <a:cs typeface="Archivo" pitchFamily="34" charset="-120"/>
              </a:rPr>
              <a:t>Génération orientée</a:t>
            </a:r>
            <a:endParaRPr lang="en-US" sz="1700" dirty="0"/>
          </a:p>
        </p:txBody>
      </p:sp>
      <p:sp>
        <p:nvSpPr>
          <p:cNvPr id="33" name="Text 31"/>
          <p:cNvSpPr/>
          <p:nvPr/>
        </p:nvSpPr>
        <p:spPr>
          <a:xfrm>
            <a:off x="1005840" y="4114800"/>
            <a:ext cx="4754880" cy="822960"/>
          </a:xfrm>
          <a:prstGeom prst="rect">
            <a:avLst/>
          </a:prstGeom>
          <a:noFill/>
          <a:ln/>
        </p:spPr>
        <p:txBody>
          <a:bodyPr wrap="square" rtlCol="0" anchor="ctr"/>
          <a:lstStyle/>
          <a:p>
            <a:pPr indent="0" marL="0">
              <a:lnSpc>
                <a:spcPct val="115000"/>
              </a:lnSpc>
              <a:buNone/>
            </a:pPr>
            <a:r>
              <a:rPr lang="en-US" sz="1250" dirty="0">
                <a:solidFill>
                  <a:srgbClr val="33415C"/>
                </a:solidFill>
                <a:latin typeface="Assistant" pitchFamily="34" charset="0"/>
                <a:ea typeface="Assistant" pitchFamily="34" charset="-122"/>
                <a:cs typeface="Assistant" pitchFamily="34" charset="-120"/>
              </a:rPr>
              <a:t>L'auteur fixe une cible sur les 7 dimensions. Le LLM propose des réponses cohérentes avec la branche + une justification.</a:t>
            </a:r>
            <a:endParaRPr lang="en-US" sz="1250" dirty="0"/>
          </a:p>
        </p:txBody>
      </p:sp>
      <p:sp>
        <p:nvSpPr>
          <p:cNvPr id="34" name="Shape 32"/>
          <p:cNvSpPr/>
          <p:nvPr/>
        </p:nvSpPr>
        <p:spPr>
          <a:xfrm>
            <a:off x="6355080" y="3383280"/>
            <a:ext cx="5303520" cy="1600200"/>
          </a:xfrm>
          <a:prstGeom prst="roundRect">
            <a:avLst>
              <a:gd name="adj" fmla="val 5714"/>
            </a:avLst>
          </a:prstGeom>
          <a:solidFill>
            <a:srgbClr val="E3EDFF"/>
          </a:solidFill>
          <a:ln/>
        </p:spPr>
      </p:sp>
      <p:sp>
        <p:nvSpPr>
          <p:cNvPr id="35" name="Shape 33"/>
          <p:cNvSpPr/>
          <p:nvPr/>
        </p:nvSpPr>
        <p:spPr>
          <a:xfrm>
            <a:off x="6629400" y="3611880"/>
            <a:ext cx="457200" cy="457200"/>
          </a:xfrm>
          <a:prstGeom prst="ellipse">
            <a:avLst/>
          </a:prstGeom>
          <a:solidFill>
            <a:srgbClr val="0097A7"/>
          </a:solidFill>
          <a:ln/>
        </p:spPr>
      </p:sp>
      <p:sp>
        <p:nvSpPr>
          <p:cNvPr id="36" name="Shape 34"/>
          <p:cNvSpPr/>
          <p:nvPr/>
        </p:nvSpPr>
        <p:spPr>
          <a:xfrm>
            <a:off x="6823801" y="3739896"/>
            <a:ext cx="68397" cy="201168"/>
          </a:xfrm>
          <a:prstGeom prst="roundRect">
            <a:avLst>
              <a:gd name="adj" fmla="val 28000"/>
            </a:avLst>
          </a:prstGeom>
          <a:solidFill>
            <a:srgbClr val="FFFFFF"/>
          </a:solidFill>
          <a:ln/>
        </p:spPr>
      </p:sp>
      <p:sp>
        <p:nvSpPr>
          <p:cNvPr id="37" name="Shape 35"/>
          <p:cNvSpPr/>
          <p:nvPr/>
        </p:nvSpPr>
        <p:spPr>
          <a:xfrm>
            <a:off x="6757416" y="3806281"/>
            <a:ext cx="201168" cy="68397"/>
          </a:xfrm>
          <a:prstGeom prst="roundRect">
            <a:avLst>
              <a:gd name="adj" fmla="val 28000"/>
            </a:avLst>
          </a:prstGeom>
          <a:solidFill>
            <a:srgbClr val="FFFFFF"/>
          </a:solidFill>
          <a:ln/>
        </p:spPr>
      </p:sp>
      <p:sp>
        <p:nvSpPr>
          <p:cNvPr id="38" name="Text 36"/>
          <p:cNvSpPr/>
          <p:nvPr/>
        </p:nvSpPr>
        <p:spPr>
          <a:xfrm>
            <a:off x="7223760" y="3584448"/>
            <a:ext cx="4206240" cy="457200"/>
          </a:xfrm>
          <a:prstGeom prst="rect">
            <a:avLst/>
          </a:prstGeom>
          <a:noFill/>
          <a:ln/>
        </p:spPr>
        <p:txBody>
          <a:bodyPr wrap="square" rtlCol="0" anchor="ctr"/>
          <a:lstStyle/>
          <a:p>
            <a:pPr indent="0" marL="0">
              <a:buNone/>
            </a:pPr>
            <a:r>
              <a:rPr lang="en-US" sz="1700" b="1" dirty="0">
                <a:solidFill>
                  <a:srgbClr val="001B58"/>
                </a:solidFill>
                <a:latin typeface="Archivo" pitchFamily="34" charset="0"/>
                <a:ea typeface="Archivo" pitchFamily="34" charset="-122"/>
                <a:cs typeface="Archivo" pitchFamily="34" charset="-120"/>
              </a:rPr>
              <a:t>Scoring assisté</a:t>
            </a:r>
            <a:endParaRPr lang="en-US" sz="1700" dirty="0"/>
          </a:p>
        </p:txBody>
      </p:sp>
      <p:sp>
        <p:nvSpPr>
          <p:cNvPr id="39" name="Text 37"/>
          <p:cNvSpPr/>
          <p:nvPr/>
        </p:nvSpPr>
        <p:spPr>
          <a:xfrm>
            <a:off x="6675120" y="4114800"/>
            <a:ext cx="4754880" cy="822960"/>
          </a:xfrm>
          <a:prstGeom prst="rect">
            <a:avLst/>
          </a:prstGeom>
          <a:noFill/>
          <a:ln/>
        </p:spPr>
        <p:txBody>
          <a:bodyPr wrap="square" rtlCol="0" anchor="ctr"/>
          <a:lstStyle/>
          <a:p>
            <a:pPr indent="0" marL="0">
              <a:lnSpc>
                <a:spcPct val="115000"/>
              </a:lnSpc>
              <a:buNone/>
            </a:pPr>
            <a:r>
              <a:rPr lang="en-US" sz="1250" dirty="0">
                <a:solidFill>
                  <a:srgbClr val="33415C"/>
                </a:solidFill>
                <a:latin typeface="Assistant" pitchFamily="34" charset="0"/>
                <a:ea typeface="Assistant" pitchFamily="34" charset="-122"/>
                <a:cs typeface="Assistant" pitchFamily="34" charset="-120"/>
              </a:rPr>
              <a:t>Sur une réponse existante, le LLM propose un vecteur de scores sur 7 dimensions, avec une justification explicable.</a:t>
            </a:r>
            <a:endParaRPr lang="en-US" sz="1250" dirty="0"/>
          </a:p>
        </p:txBody>
      </p:sp>
      <p:sp>
        <p:nvSpPr>
          <p:cNvPr id="40" name="Shape 38"/>
          <p:cNvSpPr/>
          <p:nvPr/>
        </p:nvSpPr>
        <p:spPr>
          <a:xfrm>
            <a:off x="685800" y="5212080"/>
            <a:ext cx="10881360" cy="960120"/>
          </a:xfrm>
          <a:prstGeom prst="roundRect">
            <a:avLst>
              <a:gd name="adj" fmla="val 9524"/>
            </a:avLst>
          </a:prstGeom>
          <a:solidFill>
            <a:srgbClr val="001B58"/>
          </a:solidFill>
          <a:ln/>
        </p:spPr>
      </p:sp>
      <p:sp>
        <p:nvSpPr>
          <p:cNvPr id="41" name="Text 39"/>
          <p:cNvSpPr/>
          <p:nvPr/>
        </p:nvSpPr>
        <p:spPr>
          <a:xfrm>
            <a:off x="960120" y="5349240"/>
            <a:ext cx="2377440" cy="365760"/>
          </a:xfrm>
          <a:prstGeom prst="rect">
            <a:avLst/>
          </a:prstGeom>
          <a:noFill/>
          <a:ln/>
        </p:spPr>
        <p:txBody>
          <a:bodyPr wrap="square" rtlCol="0" anchor="ctr"/>
          <a:lstStyle/>
          <a:p>
            <a:pPr indent="0" marL="0">
              <a:buNone/>
            </a:pPr>
            <a:r>
              <a:rPr lang="en-US" sz="1500" b="1" dirty="0">
                <a:solidFill>
                  <a:srgbClr val="76A3EE"/>
                </a:solidFill>
                <a:latin typeface="Archivo" pitchFamily="34" charset="0"/>
                <a:ea typeface="Archivo" pitchFamily="34" charset="-122"/>
                <a:cs typeface="Archivo" pitchFamily="34" charset="-120"/>
              </a:rPr>
              <a:t>Pattern Strategy</a:t>
            </a:r>
            <a:endParaRPr lang="en-US" sz="1500" dirty="0"/>
          </a:p>
        </p:txBody>
      </p:sp>
      <p:sp>
        <p:nvSpPr>
          <p:cNvPr id="42" name="Text 40"/>
          <p:cNvSpPr/>
          <p:nvPr/>
        </p:nvSpPr>
        <p:spPr>
          <a:xfrm>
            <a:off x="960120" y="5687568"/>
            <a:ext cx="10424160" cy="411480"/>
          </a:xfrm>
          <a:prstGeom prst="rect">
            <a:avLst/>
          </a:prstGeom>
          <a:noFill/>
          <a:ln/>
        </p:spPr>
        <p:txBody>
          <a:bodyPr wrap="square" rtlCol="0" anchor="ctr"/>
          <a:lstStyle/>
          <a:p>
            <a:pPr indent="0" marL="0">
              <a:buNone/>
            </a:pPr>
            <a:r>
              <a:rPr lang="en-US" sz="1300" dirty="0">
                <a:solidFill>
                  <a:srgbClr val="E3EDFF"/>
                </a:solidFill>
                <a:latin typeface="Assistant" pitchFamily="34" charset="0"/>
                <a:ea typeface="Assistant" pitchFamily="34" charset="-122"/>
                <a:cs typeface="Assistant" pitchFamily="34" charset="-120"/>
              </a:rPr>
              <a:t>Backend choisi par variable d'environnement — OpenAI (qualité/rapidité) ou Ollama (local, RGPD) — sans modifier le code applicatif.</a:t>
            </a:r>
            <a:endParaRPr lang="en-US" sz="1300" dirty="0"/>
          </a:p>
        </p:txBody>
      </p:sp>
      <p:sp>
        <p:nvSpPr>
          <p:cNvPr id="43" name="Shape 41"/>
          <p:cNvSpPr/>
          <p:nvPr/>
        </p:nvSpPr>
        <p:spPr>
          <a:xfrm>
            <a:off x="9829800" y="6327648"/>
            <a:ext cx="82296" cy="82296"/>
          </a:xfrm>
          <a:prstGeom prst="ellipse">
            <a:avLst/>
          </a:prstGeom>
          <a:solidFill>
            <a:srgbClr val="76A3EE"/>
          </a:solidFill>
          <a:ln/>
        </p:spPr>
      </p:sp>
      <p:sp>
        <p:nvSpPr>
          <p:cNvPr id="44" name="Shape 42"/>
          <p:cNvSpPr/>
          <p:nvPr/>
        </p:nvSpPr>
        <p:spPr>
          <a:xfrm>
            <a:off x="10030968" y="6327648"/>
            <a:ext cx="82296" cy="82296"/>
          </a:xfrm>
          <a:prstGeom prst="ellipse">
            <a:avLst/>
          </a:prstGeom>
          <a:solidFill>
            <a:srgbClr val="76A3EE"/>
          </a:solidFill>
          <a:ln/>
        </p:spPr>
      </p:sp>
      <p:sp>
        <p:nvSpPr>
          <p:cNvPr id="45" name="Shape 43"/>
          <p:cNvSpPr/>
          <p:nvPr/>
        </p:nvSpPr>
        <p:spPr>
          <a:xfrm>
            <a:off x="10232136" y="6327648"/>
            <a:ext cx="82296" cy="82296"/>
          </a:xfrm>
          <a:prstGeom prst="ellipse">
            <a:avLst/>
          </a:prstGeom>
          <a:solidFill>
            <a:srgbClr val="76A3EE"/>
          </a:solidFill>
          <a:ln/>
        </p:spPr>
      </p:sp>
      <p:sp>
        <p:nvSpPr>
          <p:cNvPr id="46" name="Shape 44"/>
          <p:cNvSpPr/>
          <p:nvPr/>
        </p:nvSpPr>
        <p:spPr>
          <a:xfrm>
            <a:off x="10433304" y="6327648"/>
            <a:ext cx="82296" cy="82296"/>
          </a:xfrm>
          <a:prstGeom prst="ellipse">
            <a:avLst/>
          </a:prstGeom>
          <a:solidFill>
            <a:srgbClr val="385CB0"/>
          </a:solidFill>
          <a:ln/>
        </p:spPr>
      </p:sp>
      <p:sp>
        <p:nvSpPr>
          <p:cNvPr id="47" name="Shape 45"/>
          <p:cNvSpPr/>
          <p:nvPr/>
        </p:nvSpPr>
        <p:spPr>
          <a:xfrm>
            <a:off x="10634472" y="6327648"/>
            <a:ext cx="82296" cy="82296"/>
          </a:xfrm>
          <a:prstGeom prst="ellipse">
            <a:avLst/>
          </a:prstGeom>
          <a:solidFill>
            <a:srgbClr val="76A3EE"/>
          </a:solidFill>
          <a:ln/>
        </p:spPr>
      </p:sp>
      <p:sp>
        <p:nvSpPr>
          <p:cNvPr id="48" name="Text 46"/>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MA CONTRIBUTION · MODULE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Génération de nouvelles réponses avec l'IA</a:t>
            </a:r>
            <a:endParaRPr lang="en-US" sz="2800" dirty="0"/>
          </a:p>
        </p:txBody>
      </p:sp>
      <p:sp>
        <p:nvSpPr>
          <p:cNvPr id="13" name="Text 11"/>
          <p:cNvSpPr/>
          <p:nvPr/>
        </p:nvSpPr>
        <p:spPr>
          <a:xfrm>
            <a:off x="685800" y="1691640"/>
            <a:ext cx="6309360" cy="274320"/>
          </a:xfrm>
          <a:prstGeom prst="rect">
            <a:avLst/>
          </a:prstGeom>
          <a:noFill/>
          <a:ln/>
        </p:spPr>
        <p:txBody>
          <a:bodyPr wrap="square" rtlCol="0" anchor="ctr"/>
          <a:lstStyle/>
          <a:p>
            <a:pPr indent="0" marL="0">
              <a:buNone/>
            </a:pPr>
            <a:r>
              <a:rPr lang="en-US" sz="1200" b="1" spc="100" kern="0" dirty="0">
                <a:solidFill>
                  <a:srgbClr val="0097A7"/>
                </a:solidFill>
                <a:latin typeface="Assistant" pitchFamily="34" charset="0"/>
                <a:ea typeface="Assistant" pitchFamily="34" charset="-122"/>
                <a:cs typeface="Assistant" pitchFamily="34" charset="-120"/>
              </a:rPr>
              <a:t>① L'AUTEUR ORIENTE LA GÉNÉRATION</a:t>
            </a:r>
            <a:endParaRPr lang="en-US" sz="1200" dirty="0"/>
          </a:p>
        </p:txBody>
      </p:sp>
      <p:sp>
        <p:nvSpPr>
          <p:cNvPr id="14" name="Shape 12"/>
          <p:cNvSpPr/>
          <p:nvPr/>
        </p:nvSpPr>
        <p:spPr>
          <a:xfrm>
            <a:off x="685800" y="2011680"/>
            <a:ext cx="3063240" cy="749808"/>
          </a:xfrm>
          <a:prstGeom prst="roundRect">
            <a:avLst>
              <a:gd name="adj" fmla="val 9756"/>
            </a:avLst>
          </a:prstGeom>
          <a:solidFill>
            <a:srgbClr val="E3EDFF"/>
          </a:solidFill>
          <a:ln/>
        </p:spPr>
      </p:sp>
      <p:sp>
        <p:nvSpPr>
          <p:cNvPr id="15" name="Shape 13"/>
          <p:cNvSpPr/>
          <p:nvPr/>
        </p:nvSpPr>
        <p:spPr>
          <a:xfrm>
            <a:off x="892454" y="2295144"/>
            <a:ext cx="62179" cy="182880"/>
          </a:xfrm>
          <a:prstGeom prst="roundRect">
            <a:avLst>
              <a:gd name="adj" fmla="val 28000"/>
            </a:avLst>
          </a:prstGeom>
          <a:solidFill>
            <a:srgbClr val="385CB0"/>
          </a:solidFill>
          <a:ln/>
        </p:spPr>
      </p:sp>
      <p:sp>
        <p:nvSpPr>
          <p:cNvPr id="16" name="Shape 14"/>
          <p:cNvSpPr/>
          <p:nvPr/>
        </p:nvSpPr>
        <p:spPr>
          <a:xfrm>
            <a:off x="832104" y="2355494"/>
            <a:ext cx="182880" cy="62179"/>
          </a:xfrm>
          <a:prstGeom prst="roundRect">
            <a:avLst>
              <a:gd name="adj" fmla="val 28000"/>
            </a:avLst>
          </a:prstGeom>
          <a:solidFill>
            <a:srgbClr val="385CB0"/>
          </a:solidFill>
          <a:ln/>
        </p:spPr>
      </p:sp>
      <p:sp>
        <p:nvSpPr>
          <p:cNvPr id="17" name="Text 15"/>
          <p:cNvSpPr/>
          <p:nvPr/>
        </p:nvSpPr>
        <p:spPr>
          <a:xfrm>
            <a:off x="1097280" y="2048256"/>
            <a:ext cx="2542032" cy="676656"/>
          </a:xfrm>
          <a:prstGeom prst="rect">
            <a:avLst/>
          </a:prstGeom>
          <a:noFill/>
          <a:ln/>
        </p:spPr>
        <p:txBody>
          <a:bodyPr wrap="square" rtlCol="0" anchor="ctr"/>
          <a:lstStyle/>
          <a:p>
            <a:pPr indent="0" marL="0">
              <a:lnSpc>
                <a:spcPct val="100000"/>
              </a:lnSpc>
              <a:buNone/>
            </a:pPr>
            <a:r>
              <a:rPr lang="en-US" sz="1080" dirty="0">
                <a:solidFill>
                  <a:srgbClr val="33415C"/>
                </a:solidFill>
                <a:latin typeface="Assistant" pitchFamily="34" charset="0"/>
                <a:ea typeface="Assistant" pitchFamily="34" charset="-122"/>
                <a:cs typeface="Assistant" pitchFamily="34" charset="-120"/>
              </a:rPr>
              <a:t>Interaction courante &amp; interaction cible (NextInteractionID)</a:t>
            </a:r>
            <a:endParaRPr lang="en-US" sz="1080" dirty="0"/>
          </a:p>
        </p:txBody>
      </p:sp>
      <p:sp>
        <p:nvSpPr>
          <p:cNvPr id="18" name="Shape 16"/>
          <p:cNvSpPr/>
          <p:nvPr/>
        </p:nvSpPr>
        <p:spPr>
          <a:xfrm>
            <a:off x="3931920" y="2011680"/>
            <a:ext cx="3063240" cy="749808"/>
          </a:xfrm>
          <a:prstGeom prst="roundRect">
            <a:avLst>
              <a:gd name="adj" fmla="val 9756"/>
            </a:avLst>
          </a:prstGeom>
          <a:solidFill>
            <a:srgbClr val="E3EDFF"/>
          </a:solidFill>
          <a:ln/>
        </p:spPr>
      </p:sp>
      <p:sp>
        <p:nvSpPr>
          <p:cNvPr id="19" name="Shape 17"/>
          <p:cNvSpPr/>
          <p:nvPr/>
        </p:nvSpPr>
        <p:spPr>
          <a:xfrm>
            <a:off x="4138574" y="2295144"/>
            <a:ext cx="62179" cy="182880"/>
          </a:xfrm>
          <a:prstGeom prst="roundRect">
            <a:avLst>
              <a:gd name="adj" fmla="val 28000"/>
            </a:avLst>
          </a:prstGeom>
          <a:solidFill>
            <a:srgbClr val="385CB0"/>
          </a:solidFill>
          <a:ln/>
        </p:spPr>
      </p:sp>
      <p:sp>
        <p:nvSpPr>
          <p:cNvPr id="20" name="Shape 18"/>
          <p:cNvSpPr/>
          <p:nvPr/>
        </p:nvSpPr>
        <p:spPr>
          <a:xfrm>
            <a:off x="4078224" y="2355494"/>
            <a:ext cx="182880" cy="62179"/>
          </a:xfrm>
          <a:prstGeom prst="roundRect">
            <a:avLst>
              <a:gd name="adj" fmla="val 28000"/>
            </a:avLst>
          </a:prstGeom>
          <a:solidFill>
            <a:srgbClr val="385CB0"/>
          </a:solidFill>
          <a:ln/>
        </p:spPr>
      </p:sp>
      <p:sp>
        <p:nvSpPr>
          <p:cNvPr id="21" name="Text 19"/>
          <p:cNvSpPr/>
          <p:nvPr/>
        </p:nvSpPr>
        <p:spPr>
          <a:xfrm>
            <a:off x="4343400" y="2048256"/>
            <a:ext cx="2542032" cy="676656"/>
          </a:xfrm>
          <a:prstGeom prst="rect">
            <a:avLst/>
          </a:prstGeom>
          <a:noFill/>
          <a:ln/>
        </p:spPr>
        <p:txBody>
          <a:bodyPr wrap="square" rtlCol="0" anchor="ctr"/>
          <a:lstStyle/>
          <a:p>
            <a:pPr indent="0" marL="0">
              <a:lnSpc>
                <a:spcPct val="100000"/>
              </a:lnSpc>
              <a:buNone/>
            </a:pPr>
            <a:r>
              <a:rPr lang="en-US" sz="1080" dirty="0">
                <a:solidFill>
                  <a:srgbClr val="33415C"/>
                </a:solidFill>
                <a:latin typeface="Assistant" pitchFamily="34" charset="0"/>
                <a:ea typeface="Assistant" pitchFamily="34" charset="-122"/>
                <a:cs typeface="Assistant" pitchFamily="34" charset="-120"/>
              </a:rPr>
              <a:t>7 curseurs soft skills · échelle −3 … +3</a:t>
            </a:r>
            <a:endParaRPr lang="en-US" sz="1080" dirty="0"/>
          </a:p>
        </p:txBody>
      </p:sp>
      <p:sp>
        <p:nvSpPr>
          <p:cNvPr id="22" name="Shape 20"/>
          <p:cNvSpPr/>
          <p:nvPr/>
        </p:nvSpPr>
        <p:spPr>
          <a:xfrm>
            <a:off x="685800" y="2852928"/>
            <a:ext cx="3063240" cy="749808"/>
          </a:xfrm>
          <a:prstGeom prst="roundRect">
            <a:avLst>
              <a:gd name="adj" fmla="val 9756"/>
            </a:avLst>
          </a:prstGeom>
          <a:solidFill>
            <a:srgbClr val="E3EDFF"/>
          </a:solidFill>
          <a:ln/>
        </p:spPr>
      </p:sp>
      <p:sp>
        <p:nvSpPr>
          <p:cNvPr id="23" name="Shape 21"/>
          <p:cNvSpPr/>
          <p:nvPr/>
        </p:nvSpPr>
        <p:spPr>
          <a:xfrm>
            <a:off x="892454" y="3136392"/>
            <a:ext cx="62179" cy="182880"/>
          </a:xfrm>
          <a:prstGeom prst="roundRect">
            <a:avLst>
              <a:gd name="adj" fmla="val 28000"/>
            </a:avLst>
          </a:prstGeom>
          <a:solidFill>
            <a:srgbClr val="385CB0"/>
          </a:solidFill>
          <a:ln/>
        </p:spPr>
      </p:sp>
      <p:sp>
        <p:nvSpPr>
          <p:cNvPr id="24" name="Shape 22"/>
          <p:cNvSpPr/>
          <p:nvPr/>
        </p:nvSpPr>
        <p:spPr>
          <a:xfrm>
            <a:off x="832104" y="3196742"/>
            <a:ext cx="182880" cy="62179"/>
          </a:xfrm>
          <a:prstGeom prst="roundRect">
            <a:avLst>
              <a:gd name="adj" fmla="val 28000"/>
            </a:avLst>
          </a:prstGeom>
          <a:solidFill>
            <a:srgbClr val="385CB0"/>
          </a:solidFill>
          <a:ln/>
        </p:spPr>
      </p:sp>
      <p:sp>
        <p:nvSpPr>
          <p:cNvPr id="25" name="Text 23"/>
          <p:cNvSpPr/>
          <p:nvPr/>
        </p:nvSpPr>
        <p:spPr>
          <a:xfrm>
            <a:off x="1097280" y="2889504"/>
            <a:ext cx="2542032" cy="676656"/>
          </a:xfrm>
          <a:prstGeom prst="rect">
            <a:avLst/>
          </a:prstGeom>
          <a:noFill/>
          <a:ln/>
        </p:spPr>
        <p:txBody>
          <a:bodyPr wrap="square" rtlCol="0" anchor="ctr"/>
          <a:lstStyle/>
          <a:p>
            <a:pPr indent="0" marL="0">
              <a:lnSpc>
                <a:spcPct val="100000"/>
              </a:lnSpc>
              <a:buNone/>
            </a:pPr>
            <a:r>
              <a:rPr lang="en-US" sz="1080" dirty="0">
                <a:solidFill>
                  <a:srgbClr val="33415C"/>
                </a:solidFill>
                <a:latin typeface="Assistant" pitchFamily="34" charset="0"/>
                <a:ea typeface="Assistant" pitchFamily="34" charset="-122"/>
                <a:cs typeface="Assistant" pitchFamily="34" charset="-120"/>
              </a:rPr>
              <a:t>Consigne libre (ton, objectif) — optionnelle</a:t>
            </a:r>
            <a:endParaRPr lang="en-US" sz="1080" dirty="0"/>
          </a:p>
        </p:txBody>
      </p:sp>
      <p:sp>
        <p:nvSpPr>
          <p:cNvPr id="26" name="Shape 24"/>
          <p:cNvSpPr/>
          <p:nvPr/>
        </p:nvSpPr>
        <p:spPr>
          <a:xfrm>
            <a:off x="3931920" y="2852928"/>
            <a:ext cx="3063240" cy="749808"/>
          </a:xfrm>
          <a:prstGeom prst="roundRect">
            <a:avLst>
              <a:gd name="adj" fmla="val 9756"/>
            </a:avLst>
          </a:prstGeom>
          <a:solidFill>
            <a:srgbClr val="E3EDFF"/>
          </a:solidFill>
          <a:ln/>
        </p:spPr>
      </p:sp>
      <p:sp>
        <p:nvSpPr>
          <p:cNvPr id="27" name="Shape 25"/>
          <p:cNvSpPr/>
          <p:nvPr/>
        </p:nvSpPr>
        <p:spPr>
          <a:xfrm>
            <a:off x="4138574" y="3136392"/>
            <a:ext cx="62179" cy="182880"/>
          </a:xfrm>
          <a:prstGeom prst="roundRect">
            <a:avLst>
              <a:gd name="adj" fmla="val 28000"/>
            </a:avLst>
          </a:prstGeom>
          <a:solidFill>
            <a:srgbClr val="385CB0"/>
          </a:solidFill>
          <a:ln/>
        </p:spPr>
      </p:sp>
      <p:sp>
        <p:nvSpPr>
          <p:cNvPr id="28" name="Shape 26"/>
          <p:cNvSpPr/>
          <p:nvPr/>
        </p:nvSpPr>
        <p:spPr>
          <a:xfrm>
            <a:off x="4078224" y="3196742"/>
            <a:ext cx="182880" cy="62179"/>
          </a:xfrm>
          <a:prstGeom prst="roundRect">
            <a:avLst>
              <a:gd name="adj" fmla="val 28000"/>
            </a:avLst>
          </a:prstGeom>
          <a:solidFill>
            <a:srgbClr val="385CB0"/>
          </a:solidFill>
          <a:ln/>
        </p:spPr>
      </p:sp>
      <p:sp>
        <p:nvSpPr>
          <p:cNvPr id="29" name="Text 27"/>
          <p:cNvSpPr/>
          <p:nvPr/>
        </p:nvSpPr>
        <p:spPr>
          <a:xfrm>
            <a:off x="4343400" y="2889504"/>
            <a:ext cx="2542032" cy="676656"/>
          </a:xfrm>
          <a:prstGeom prst="rect">
            <a:avLst/>
          </a:prstGeom>
          <a:noFill/>
          <a:ln/>
        </p:spPr>
        <p:txBody>
          <a:bodyPr wrap="square" rtlCol="0" anchor="ctr"/>
          <a:lstStyle/>
          <a:p>
            <a:pPr indent="0" marL="0">
              <a:lnSpc>
                <a:spcPct val="100000"/>
              </a:lnSpc>
              <a:buNone/>
            </a:pPr>
            <a:r>
              <a:rPr lang="en-US" sz="1080" dirty="0">
                <a:solidFill>
                  <a:srgbClr val="33415C"/>
                </a:solidFill>
                <a:latin typeface="Assistant" pitchFamily="34" charset="0"/>
                <a:ea typeface="Assistant" pitchFamily="34" charset="-122"/>
                <a:cs typeface="Assistant" pitchFamily="34" charset="-120"/>
              </a:rPr>
              <a:t>Contexte narratif injecté auto (scène, personnage, réponses)</a:t>
            </a:r>
            <a:endParaRPr lang="en-US" sz="1080" dirty="0"/>
          </a:p>
        </p:txBody>
      </p:sp>
      <p:sp>
        <p:nvSpPr>
          <p:cNvPr id="30" name="Text 28"/>
          <p:cNvSpPr/>
          <p:nvPr/>
        </p:nvSpPr>
        <p:spPr>
          <a:xfrm>
            <a:off x="685800" y="3822192"/>
            <a:ext cx="6309360" cy="274320"/>
          </a:xfrm>
          <a:prstGeom prst="rect">
            <a:avLst/>
          </a:prstGeom>
          <a:noFill/>
          <a:ln/>
        </p:spPr>
        <p:txBody>
          <a:bodyPr wrap="square" rtlCol="0" anchor="ctr"/>
          <a:lstStyle/>
          <a:p>
            <a:pPr indent="0" marL="0">
              <a:buNone/>
            </a:pPr>
            <a:r>
              <a:rPr lang="en-US" sz="1200" b="1" spc="100" kern="0" dirty="0">
                <a:solidFill>
                  <a:srgbClr val="0097A7"/>
                </a:solidFill>
                <a:latin typeface="Assistant" pitchFamily="34" charset="0"/>
                <a:ea typeface="Assistant" pitchFamily="34" charset="-122"/>
                <a:cs typeface="Assistant" pitchFamily="34" charset="-120"/>
              </a:rPr>
              <a:t>② PIPELINE DE GÉNÉRATION</a:t>
            </a:r>
            <a:endParaRPr lang="en-US" sz="1200" dirty="0"/>
          </a:p>
        </p:txBody>
      </p:sp>
      <p:sp>
        <p:nvSpPr>
          <p:cNvPr id="31" name="Shape 29"/>
          <p:cNvSpPr/>
          <p:nvPr/>
        </p:nvSpPr>
        <p:spPr>
          <a:xfrm>
            <a:off x="685800" y="4160520"/>
            <a:ext cx="1371600" cy="868680"/>
          </a:xfrm>
          <a:prstGeom prst="roundRect">
            <a:avLst>
              <a:gd name="adj" fmla="val 8421"/>
            </a:avLst>
          </a:prstGeom>
          <a:solidFill>
            <a:srgbClr val="385CB0"/>
          </a:solidFill>
          <a:ln/>
        </p:spPr>
      </p:sp>
      <p:sp>
        <p:nvSpPr>
          <p:cNvPr id="32" name="Text 30"/>
          <p:cNvSpPr/>
          <p:nvPr/>
        </p:nvSpPr>
        <p:spPr>
          <a:xfrm>
            <a:off x="685800" y="4160520"/>
            <a:ext cx="1371600" cy="868680"/>
          </a:xfrm>
          <a:prstGeom prst="rect">
            <a:avLst/>
          </a:prstGeom>
          <a:noFill/>
          <a:ln/>
        </p:spPr>
        <p:txBody>
          <a:bodyPr wrap="square" rtlCol="0" anchor="ctr"/>
          <a:lstStyle/>
          <a:p>
            <a:pPr algn="ctr" indent="0" marL="0">
              <a:buNone/>
            </a:pPr>
            <a:r>
              <a:rPr lang="en-US" sz="1050" b="1" dirty="0">
                <a:solidFill>
                  <a:srgbClr val="FFFFFF"/>
                </a:solidFill>
                <a:latin typeface="Assistant" pitchFamily="34" charset="0"/>
                <a:ea typeface="Assistant" pitchFamily="34" charset="-122"/>
                <a:cs typeface="Assistant" pitchFamily="34" charset="-120"/>
              </a:rPr>
              <a:t>build_ctx</a:t>
            </a:r>
            <a:endParaRPr lang="en-US" sz="1050" dirty="0"/>
          </a:p>
        </p:txBody>
      </p:sp>
      <p:sp>
        <p:nvSpPr>
          <p:cNvPr id="33" name="Text 31"/>
          <p:cNvSpPr/>
          <p:nvPr/>
        </p:nvSpPr>
        <p:spPr>
          <a:xfrm>
            <a:off x="2039112" y="4297680"/>
            <a:ext cx="237744" cy="457200"/>
          </a:xfrm>
          <a:prstGeom prst="rect">
            <a:avLst/>
          </a:prstGeom>
          <a:noFill/>
          <a:ln/>
        </p:spPr>
        <p:txBody>
          <a:bodyPr wrap="square" rtlCol="0" anchor="ctr"/>
          <a:lstStyle/>
          <a:p>
            <a:pPr algn="ctr" indent="0" marL="0">
              <a:buNone/>
            </a:pPr>
            <a:r>
              <a:rPr lang="en-US" sz="2000" b="1" dirty="0">
                <a:solidFill>
                  <a:srgbClr val="76A3EE"/>
                </a:solidFill>
                <a:latin typeface="Archivo" pitchFamily="34" charset="0"/>
                <a:ea typeface="Archivo" pitchFamily="34" charset="-122"/>
                <a:cs typeface="Archivo" pitchFamily="34" charset="-120"/>
              </a:rPr>
              <a:t>›</a:t>
            </a:r>
            <a:endParaRPr lang="en-US" sz="2000" dirty="0"/>
          </a:p>
        </p:txBody>
      </p:sp>
      <p:sp>
        <p:nvSpPr>
          <p:cNvPr id="34" name="Shape 32"/>
          <p:cNvSpPr/>
          <p:nvPr/>
        </p:nvSpPr>
        <p:spPr>
          <a:xfrm>
            <a:off x="2258568" y="4160520"/>
            <a:ext cx="1371600" cy="868680"/>
          </a:xfrm>
          <a:prstGeom prst="roundRect">
            <a:avLst>
              <a:gd name="adj" fmla="val 8421"/>
            </a:avLst>
          </a:prstGeom>
          <a:solidFill>
            <a:srgbClr val="385CB0"/>
          </a:solidFill>
          <a:ln/>
        </p:spPr>
      </p:sp>
      <p:sp>
        <p:nvSpPr>
          <p:cNvPr id="35" name="Text 33"/>
          <p:cNvSpPr/>
          <p:nvPr/>
        </p:nvSpPr>
        <p:spPr>
          <a:xfrm>
            <a:off x="2258568" y="4160520"/>
            <a:ext cx="1371600" cy="868680"/>
          </a:xfrm>
          <a:prstGeom prst="rect">
            <a:avLst/>
          </a:prstGeom>
          <a:noFill/>
          <a:ln/>
        </p:spPr>
        <p:txBody>
          <a:bodyPr wrap="square" rtlCol="0" anchor="ctr"/>
          <a:lstStyle/>
          <a:p>
            <a:pPr algn="ctr" indent="0" marL="0">
              <a:buNone/>
            </a:pPr>
            <a:r>
              <a:rPr lang="en-US" sz="1050" b="1" dirty="0">
                <a:solidFill>
                  <a:srgbClr val="FFFFFF"/>
                </a:solidFill>
                <a:latin typeface="Assistant" pitchFamily="34" charset="0"/>
                <a:ea typeface="Assistant" pitchFamily="34" charset="-122"/>
                <a:cs typeface="Assistant" pitchFamily="34" charset="-120"/>
              </a:rPr>
              <a:t>format_msg</a:t>
            </a:r>
            <a:endParaRPr lang="en-US" sz="1050" dirty="0"/>
          </a:p>
          <a:p>
            <a:pPr algn="ctr" indent="0" marL="0">
              <a:buNone/>
            </a:pPr>
            <a:r>
              <a:rPr lang="en-US" sz="1050" b="1" dirty="0">
                <a:solidFill>
                  <a:srgbClr val="FFFFFF"/>
                </a:solidFill>
                <a:latin typeface="Assistant" pitchFamily="34" charset="0"/>
                <a:ea typeface="Assistant" pitchFamily="34" charset="-122"/>
                <a:cs typeface="Assistant" pitchFamily="34" charset="-120"/>
              </a:rPr>
              <a:t>(system + user)</a:t>
            </a:r>
            <a:endParaRPr lang="en-US" sz="1050" dirty="0"/>
          </a:p>
        </p:txBody>
      </p:sp>
      <p:sp>
        <p:nvSpPr>
          <p:cNvPr id="36" name="Text 34"/>
          <p:cNvSpPr/>
          <p:nvPr/>
        </p:nvSpPr>
        <p:spPr>
          <a:xfrm>
            <a:off x="3611880" y="4297680"/>
            <a:ext cx="237744" cy="457200"/>
          </a:xfrm>
          <a:prstGeom prst="rect">
            <a:avLst/>
          </a:prstGeom>
          <a:noFill/>
          <a:ln/>
        </p:spPr>
        <p:txBody>
          <a:bodyPr wrap="square" rtlCol="0" anchor="ctr"/>
          <a:lstStyle/>
          <a:p>
            <a:pPr algn="ctr" indent="0" marL="0">
              <a:buNone/>
            </a:pPr>
            <a:r>
              <a:rPr lang="en-US" sz="2000" b="1" dirty="0">
                <a:solidFill>
                  <a:srgbClr val="76A3EE"/>
                </a:solidFill>
                <a:latin typeface="Archivo" pitchFamily="34" charset="0"/>
                <a:ea typeface="Archivo" pitchFamily="34" charset="-122"/>
                <a:cs typeface="Archivo" pitchFamily="34" charset="-120"/>
              </a:rPr>
              <a:t>›</a:t>
            </a:r>
            <a:endParaRPr lang="en-US" sz="2000" dirty="0"/>
          </a:p>
        </p:txBody>
      </p:sp>
      <p:sp>
        <p:nvSpPr>
          <p:cNvPr id="37" name="Shape 35"/>
          <p:cNvSpPr/>
          <p:nvPr/>
        </p:nvSpPr>
        <p:spPr>
          <a:xfrm>
            <a:off x="3831336" y="4160520"/>
            <a:ext cx="1371600" cy="868680"/>
          </a:xfrm>
          <a:prstGeom prst="roundRect">
            <a:avLst>
              <a:gd name="adj" fmla="val 8421"/>
            </a:avLst>
          </a:prstGeom>
          <a:solidFill>
            <a:srgbClr val="385CB0"/>
          </a:solidFill>
          <a:ln/>
        </p:spPr>
      </p:sp>
      <p:sp>
        <p:nvSpPr>
          <p:cNvPr id="38" name="Text 36"/>
          <p:cNvSpPr/>
          <p:nvPr/>
        </p:nvSpPr>
        <p:spPr>
          <a:xfrm>
            <a:off x="3831336" y="4160520"/>
            <a:ext cx="1371600" cy="868680"/>
          </a:xfrm>
          <a:prstGeom prst="rect">
            <a:avLst/>
          </a:prstGeom>
          <a:noFill/>
          <a:ln/>
        </p:spPr>
        <p:txBody>
          <a:bodyPr wrap="square" rtlCol="0" anchor="ctr"/>
          <a:lstStyle/>
          <a:p>
            <a:pPr algn="ctr" indent="0" marL="0">
              <a:buNone/>
            </a:pPr>
            <a:r>
              <a:rPr lang="en-US" sz="1050" b="1" dirty="0">
                <a:solidFill>
                  <a:srgbClr val="FFFFFF"/>
                </a:solidFill>
                <a:latin typeface="Assistant" pitchFamily="34" charset="0"/>
                <a:ea typeface="Assistant" pitchFamily="34" charset="-122"/>
                <a:cs typeface="Assistant" pitchFamily="34" charset="-120"/>
              </a:rPr>
              <a:t>LLM backend</a:t>
            </a:r>
            <a:endParaRPr lang="en-US" sz="1050" dirty="0"/>
          </a:p>
        </p:txBody>
      </p:sp>
      <p:sp>
        <p:nvSpPr>
          <p:cNvPr id="39" name="Text 37"/>
          <p:cNvSpPr/>
          <p:nvPr/>
        </p:nvSpPr>
        <p:spPr>
          <a:xfrm>
            <a:off x="5184648" y="4297680"/>
            <a:ext cx="237744" cy="457200"/>
          </a:xfrm>
          <a:prstGeom prst="rect">
            <a:avLst/>
          </a:prstGeom>
          <a:noFill/>
          <a:ln/>
        </p:spPr>
        <p:txBody>
          <a:bodyPr wrap="square" rtlCol="0" anchor="ctr"/>
          <a:lstStyle/>
          <a:p>
            <a:pPr algn="ctr" indent="0" marL="0">
              <a:buNone/>
            </a:pPr>
            <a:r>
              <a:rPr lang="en-US" sz="2000" b="1" dirty="0">
                <a:solidFill>
                  <a:srgbClr val="76A3EE"/>
                </a:solidFill>
                <a:latin typeface="Archivo" pitchFamily="34" charset="0"/>
                <a:ea typeface="Archivo" pitchFamily="34" charset="-122"/>
                <a:cs typeface="Archivo" pitchFamily="34" charset="-120"/>
              </a:rPr>
              <a:t>›</a:t>
            </a:r>
            <a:endParaRPr lang="en-US" sz="2000" dirty="0"/>
          </a:p>
        </p:txBody>
      </p:sp>
      <p:sp>
        <p:nvSpPr>
          <p:cNvPr id="40" name="Shape 38"/>
          <p:cNvSpPr/>
          <p:nvPr/>
        </p:nvSpPr>
        <p:spPr>
          <a:xfrm>
            <a:off x="5404104" y="4160520"/>
            <a:ext cx="1371600" cy="868680"/>
          </a:xfrm>
          <a:prstGeom prst="roundRect">
            <a:avLst>
              <a:gd name="adj" fmla="val 8421"/>
            </a:avLst>
          </a:prstGeom>
          <a:solidFill>
            <a:srgbClr val="385CB0"/>
          </a:solidFill>
          <a:ln/>
        </p:spPr>
      </p:sp>
      <p:sp>
        <p:nvSpPr>
          <p:cNvPr id="41" name="Text 39"/>
          <p:cNvSpPr/>
          <p:nvPr/>
        </p:nvSpPr>
        <p:spPr>
          <a:xfrm>
            <a:off x="5404104" y="4160520"/>
            <a:ext cx="1371600" cy="868680"/>
          </a:xfrm>
          <a:prstGeom prst="rect">
            <a:avLst/>
          </a:prstGeom>
          <a:noFill/>
          <a:ln/>
        </p:spPr>
        <p:txBody>
          <a:bodyPr wrap="square" rtlCol="0" anchor="ctr"/>
          <a:lstStyle/>
          <a:p>
            <a:pPr algn="ctr" indent="0" marL="0">
              <a:buNone/>
            </a:pPr>
            <a:r>
              <a:rPr lang="en-US" sz="1050" b="1" dirty="0">
                <a:solidFill>
                  <a:srgbClr val="FFFFFF"/>
                </a:solidFill>
                <a:latin typeface="Assistant" pitchFamily="34" charset="0"/>
                <a:ea typeface="Assistant" pitchFamily="34" charset="-122"/>
                <a:cs typeface="Assistant" pitchFamily="34" charset="-120"/>
              </a:rPr>
              <a:t>filtrage</a:t>
            </a:r>
            <a:endParaRPr lang="en-US" sz="1050" dirty="0"/>
          </a:p>
          <a:p>
            <a:pPr algn="ctr" indent="0" marL="0">
              <a:buNone/>
            </a:pPr>
            <a:r>
              <a:rPr lang="en-US" sz="1050" b="1" dirty="0">
                <a:solidFill>
                  <a:srgbClr val="FFFFFF"/>
                </a:solidFill>
                <a:latin typeface="Assistant" pitchFamily="34" charset="0"/>
                <a:ea typeface="Assistant" pitchFamily="34" charset="-122"/>
                <a:cs typeface="Assistant" pitchFamily="34" charset="-120"/>
              </a:rPr>
              <a:t>doublons</a:t>
            </a:r>
            <a:endParaRPr lang="en-US" sz="1050" dirty="0"/>
          </a:p>
        </p:txBody>
      </p:sp>
      <p:sp>
        <p:nvSpPr>
          <p:cNvPr id="42" name="Shape 40"/>
          <p:cNvSpPr/>
          <p:nvPr/>
        </p:nvSpPr>
        <p:spPr>
          <a:xfrm>
            <a:off x="7315200" y="1691640"/>
            <a:ext cx="4206240" cy="3611880"/>
          </a:xfrm>
          <a:prstGeom prst="roundRect">
            <a:avLst>
              <a:gd name="adj" fmla="val 3544"/>
            </a:avLst>
          </a:prstGeom>
          <a:solidFill>
            <a:srgbClr val="001B58"/>
          </a:solidFill>
          <a:ln/>
        </p:spPr>
      </p:sp>
      <p:sp>
        <p:nvSpPr>
          <p:cNvPr id="43" name="Text 41"/>
          <p:cNvSpPr/>
          <p:nvPr/>
        </p:nvSpPr>
        <p:spPr>
          <a:xfrm>
            <a:off x="7589520" y="1874520"/>
            <a:ext cx="3657600" cy="274320"/>
          </a:xfrm>
          <a:prstGeom prst="rect">
            <a:avLst/>
          </a:prstGeom>
          <a:noFill/>
          <a:ln/>
        </p:spPr>
        <p:txBody>
          <a:bodyPr wrap="square" rtlCol="0" anchor="ctr"/>
          <a:lstStyle/>
          <a:p>
            <a:pPr indent="0" marL="0">
              <a:buNone/>
            </a:pPr>
            <a:r>
              <a:rPr lang="en-US" sz="1150" b="1" spc="100" kern="0" dirty="0">
                <a:solidFill>
                  <a:srgbClr val="76A3EE"/>
                </a:solidFill>
                <a:latin typeface="Assistant" pitchFamily="34" charset="0"/>
                <a:ea typeface="Assistant" pitchFamily="34" charset="-122"/>
                <a:cs typeface="Assistant" pitchFamily="34" charset="-120"/>
              </a:rPr>
              <a:t>PROPOSITION GÉNÉRÉE</a:t>
            </a:r>
            <a:endParaRPr lang="en-US" sz="1150" dirty="0"/>
          </a:p>
        </p:txBody>
      </p:sp>
      <p:sp>
        <p:nvSpPr>
          <p:cNvPr id="44" name="Text 42"/>
          <p:cNvSpPr/>
          <p:nvPr/>
        </p:nvSpPr>
        <p:spPr>
          <a:xfrm>
            <a:off x="7589520" y="2194560"/>
            <a:ext cx="3657600" cy="914400"/>
          </a:xfrm>
          <a:prstGeom prst="rect">
            <a:avLst/>
          </a:prstGeom>
          <a:noFill/>
          <a:ln/>
        </p:spPr>
        <p:txBody>
          <a:bodyPr wrap="square" rtlCol="0" anchor="ctr"/>
          <a:lstStyle/>
          <a:p>
            <a:pPr indent="0" marL="0">
              <a:lnSpc>
                <a:spcPct val="105000"/>
              </a:lnSpc>
              <a:buNone/>
            </a:pPr>
            <a:r>
              <a:rPr lang="en-US" sz="1350" i="1" dirty="0">
                <a:solidFill>
                  <a:srgbClr val="FFFFFF"/>
                </a:solidFill>
                <a:latin typeface="Archivo" pitchFamily="34" charset="0"/>
                <a:ea typeface="Archivo" pitchFamily="34" charset="-122"/>
                <a:cs typeface="Archivo" pitchFamily="34" charset="-120"/>
              </a:rPr>
              <a:t>« Je prends un instant pour m'assurer qu'Agathe est prête avant de l'interrompre. »</a:t>
            </a:r>
            <a:endParaRPr lang="en-US" sz="1350" dirty="0"/>
          </a:p>
        </p:txBody>
      </p:sp>
      <p:sp>
        <p:nvSpPr>
          <p:cNvPr id="45" name="Shape 43"/>
          <p:cNvSpPr/>
          <p:nvPr/>
        </p:nvSpPr>
        <p:spPr>
          <a:xfrm>
            <a:off x="7589520" y="3200400"/>
            <a:ext cx="1417320" cy="365760"/>
          </a:xfrm>
          <a:prstGeom prst="roundRect">
            <a:avLst>
              <a:gd name="adj" fmla="val 50000"/>
            </a:avLst>
          </a:prstGeom>
          <a:solidFill>
            <a:srgbClr val="0097A7"/>
          </a:solidFill>
          <a:ln/>
        </p:spPr>
      </p:sp>
      <p:sp>
        <p:nvSpPr>
          <p:cNvPr id="46" name="Text 44"/>
          <p:cNvSpPr/>
          <p:nvPr/>
        </p:nvSpPr>
        <p:spPr>
          <a:xfrm>
            <a:off x="7589520" y="3200400"/>
            <a:ext cx="1417320" cy="365760"/>
          </a:xfrm>
          <a:prstGeom prst="rect">
            <a:avLst/>
          </a:prstGeom>
          <a:noFill/>
          <a:ln/>
        </p:spPr>
        <p:txBody>
          <a:bodyPr wrap="square" rtlCol="0" anchor="ctr"/>
          <a:lstStyle/>
          <a:p>
            <a:pPr algn="ctr" indent="0" marL="0">
              <a:buNone/>
            </a:pPr>
            <a:r>
              <a:rPr lang="en-US" sz="1100" b="1" dirty="0">
                <a:solidFill>
                  <a:srgbClr val="FFFFFF"/>
                </a:solidFill>
                <a:latin typeface="Assistant" pitchFamily="34" charset="0"/>
                <a:ea typeface="Assistant" pitchFamily="34" charset="-122"/>
                <a:cs typeface="Assistant" pitchFamily="34" charset="-120"/>
              </a:rPr>
              <a:t>Exemplaire</a:t>
            </a:r>
            <a:endParaRPr lang="en-US" sz="1100" dirty="0"/>
          </a:p>
        </p:txBody>
      </p:sp>
      <p:sp>
        <p:nvSpPr>
          <p:cNvPr id="47" name="Text 45"/>
          <p:cNvSpPr/>
          <p:nvPr/>
        </p:nvSpPr>
        <p:spPr>
          <a:xfrm>
            <a:off x="7589520" y="3703320"/>
            <a:ext cx="3657600" cy="457200"/>
          </a:xfrm>
          <a:prstGeom prst="rect">
            <a:avLst/>
          </a:prstGeom>
          <a:noFill/>
          <a:ln/>
        </p:spPr>
        <p:txBody>
          <a:bodyPr wrap="square" rtlCol="0" anchor="ctr"/>
          <a:lstStyle/>
          <a:p>
            <a:pPr indent="0" marL="0">
              <a:lnSpc>
                <a:spcPct val="105000"/>
              </a:lnSpc>
              <a:buNone/>
            </a:pPr>
            <a:r>
              <a:rPr lang="en-US" sz="1150" b="1" dirty="0">
                <a:solidFill>
                  <a:srgbClr val="E3EDFF"/>
                </a:solidFill>
                <a:latin typeface="Assistant" pitchFamily="34" charset="0"/>
                <a:ea typeface="Assistant" pitchFamily="34" charset="-122"/>
                <a:cs typeface="Assistant" pitchFamily="34" charset="-120"/>
              </a:rPr>
              <a:t>Empathie +3 · Respect +2 · Compassion +2 · Clarté +1</a:t>
            </a:r>
            <a:endParaRPr lang="en-US" sz="1150" dirty="0"/>
          </a:p>
        </p:txBody>
      </p:sp>
      <p:sp>
        <p:nvSpPr>
          <p:cNvPr id="48" name="Text 46"/>
          <p:cNvSpPr/>
          <p:nvPr/>
        </p:nvSpPr>
        <p:spPr>
          <a:xfrm>
            <a:off x="7589520" y="4206240"/>
            <a:ext cx="3657600" cy="960120"/>
          </a:xfrm>
          <a:prstGeom prst="rect">
            <a:avLst/>
          </a:prstGeom>
          <a:noFill/>
          <a:ln/>
        </p:spPr>
        <p:txBody>
          <a:bodyPr wrap="square" rtlCol="0" anchor="ctr"/>
          <a:lstStyle/>
          <a:p>
            <a:pPr indent="0" marL="0">
              <a:lnSpc>
                <a:spcPct val="112000"/>
              </a:lnSpc>
              <a:buNone/>
            </a:pPr>
            <a:r>
              <a:rPr lang="en-US" sz="1150" b="1" dirty="0">
                <a:solidFill>
                  <a:srgbClr val="76A3EE"/>
                </a:solidFill>
                <a:latin typeface="Assistant" pitchFamily="34" charset="0"/>
                <a:ea typeface="Assistant" pitchFamily="34" charset="-122"/>
                <a:cs typeface="Assistant" pitchFamily="34" charset="-120"/>
              </a:rPr>
              <a:t>Justification : </a:t>
            </a:r>
            <a:pPr indent="0" marL="0">
              <a:lnSpc>
                <a:spcPct val="112000"/>
              </a:lnSpc>
              <a:buNone/>
            </a:pPr>
            <a:r>
              <a:rPr lang="en-US" sz="1150" dirty="0">
                <a:solidFill>
                  <a:srgbClr val="E3EDFF"/>
                </a:solidFill>
                <a:latin typeface="Assistant" pitchFamily="34" charset="0"/>
                <a:ea typeface="Assistant" pitchFamily="34" charset="-122"/>
                <a:cs typeface="Assistant" pitchFamily="34" charset="-120"/>
              </a:rPr>
              <a:t>l'infirmière se synchronise au rythme de la patiente sans s'imposer.</a:t>
            </a:r>
            <a:endParaRPr lang="en-US" sz="1150" dirty="0"/>
          </a:p>
        </p:txBody>
      </p:sp>
      <p:sp>
        <p:nvSpPr>
          <p:cNvPr id="49" name="Shape 47"/>
          <p:cNvSpPr/>
          <p:nvPr/>
        </p:nvSpPr>
        <p:spPr>
          <a:xfrm>
            <a:off x="685800" y="5440680"/>
            <a:ext cx="10835640" cy="685800"/>
          </a:xfrm>
          <a:prstGeom prst="roundRect">
            <a:avLst>
              <a:gd name="adj" fmla="val 13333"/>
            </a:avLst>
          </a:prstGeom>
          <a:solidFill>
            <a:srgbClr val="E3EDFF"/>
          </a:solidFill>
          <a:ln/>
        </p:spPr>
      </p:sp>
      <p:sp>
        <p:nvSpPr>
          <p:cNvPr id="50" name="Shape 48"/>
          <p:cNvSpPr/>
          <p:nvPr/>
        </p:nvSpPr>
        <p:spPr>
          <a:xfrm>
            <a:off x="998891" y="5650992"/>
            <a:ext cx="87051" cy="256032"/>
          </a:xfrm>
          <a:prstGeom prst="roundRect">
            <a:avLst>
              <a:gd name="adj" fmla="val 28000"/>
            </a:avLst>
          </a:prstGeom>
          <a:solidFill>
            <a:srgbClr val="385CB0"/>
          </a:solidFill>
          <a:ln/>
        </p:spPr>
      </p:sp>
      <p:sp>
        <p:nvSpPr>
          <p:cNvPr id="51" name="Shape 49"/>
          <p:cNvSpPr/>
          <p:nvPr/>
        </p:nvSpPr>
        <p:spPr>
          <a:xfrm>
            <a:off x="914400" y="5735483"/>
            <a:ext cx="256032" cy="87051"/>
          </a:xfrm>
          <a:prstGeom prst="roundRect">
            <a:avLst>
              <a:gd name="adj" fmla="val 28000"/>
            </a:avLst>
          </a:prstGeom>
          <a:solidFill>
            <a:srgbClr val="385CB0"/>
          </a:solidFill>
          <a:ln/>
        </p:spPr>
      </p:sp>
      <p:sp>
        <p:nvSpPr>
          <p:cNvPr id="52" name="Text 50"/>
          <p:cNvSpPr/>
          <p:nvPr/>
        </p:nvSpPr>
        <p:spPr>
          <a:xfrm>
            <a:off x="1371600" y="5468112"/>
            <a:ext cx="9966960" cy="640080"/>
          </a:xfrm>
          <a:prstGeom prst="rect">
            <a:avLst/>
          </a:prstGeom>
          <a:noFill/>
          <a:ln/>
        </p:spPr>
        <p:txBody>
          <a:bodyPr wrap="square" rtlCol="0" anchor="ctr"/>
          <a:lstStyle/>
          <a:p>
            <a:pPr indent="0" marL="0">
              <a:buNone/>
            </a:pPr>
            <a:r>
              <a:rPr lang="en-US" sz="1250" b="1" dirty="0">
                <a:solidFill>
                  <a:srgbClr val="001B58"/>
                </a:solidFill>
                <a:latin typeface="Assistant" pitchFamily="34" charset="0"/>
                <a:ea typeface="Assistant" pitchFamily="34" charset="-122"/>
                <a:cs typeface="Assistant" pitchFamily="34" charset="-120"/>
              </a:rPr>
              <a:t>Human-in-the-loop : chaque proposition est relue puis acceptée ou rejetée — aucune insertion automatique dans le scénario.</a:t>
            </a:r>
            <a:endParaRPr lang="en-US" sz="1250" dirty="0"/>
          </a:p>
        </p:txBody>
      </p:sp>
      <p:sp>
        <p:nvSpPr>
          <p:cNvPr id="53" name="Shape 51"/>
          <p:cNvSpPr/>
          <p:nvPr/>
        </p:nvSpPr>
        <p:spPr>
          <a:xfrm>
            <a:off x="9829800" y="6327648"/>
            <a:ext cx="82296" cy="82296"/>
          </a:xfrm>
          <a:prstGeom prst="ellipse">
            <a:avLst/>
          </a:prstGeom>
          <a:solidFill>
            <a:srgbClr val="76A3EE"/>
          </a:solidFill>
          <a:ln/>
        </p:spPr>
      </p:sp>
      <p:sp>
        <p:nvSpPr>
          <p:cNvPr id="54" name="Shape 52"/>
          <p:cNvSpPr/>
          <p:nvPr/>
        </p:nvSpPr>
        <p:spPr>
          <a:xfrm>
            <a:off x="10030968" y="6327648"/>
            <a:ext cx="82296" cy="82296"/>
          </a:xfrm>
          <a:prstGeom prst="ellipse">
            <a:avLst/>
          </a:prstGeom>
          <a:solidFill>
            <a:srgbClr val="76A3EE"/>
          </a:solidFill>
          <a:ln/>
        </p:spPr>
      </p:sp>
      <p:sp>
        <p:nvSpPr>
          <p:cNvPr id="55" name="Shape 53"/>
          <p:cNvSpPr/>
          <p:nvPr/>
        </p:nvSpPr>
        <p:spPr>
          <a:xfrm>
            <a:off x="10232136" y="6327648"/>
            <a:ext cx="82296" cy="82296"/>
          </a:xfrm>
          <a:prstGeom prst="ellipse">
            <a:avLst/>
          </a:prstGeom>
          <a:solidFill>
            <a:srgbClr val="76A3EE"/>
          </a:solidFill>
          <a:ln/>
        </p:spPr>
      </p:sp>
      <p:sp>
        <p:nvSpPr>
          <p:cNvPr id="56" name="Shape 54"/>
          <p:cNvSpPr/>
          <p:nvPr/>
        </p:nvSpPr>
        <p:spPr>
          <a:xfrm>
            <a:off x="10433304" y="6327648"/>
            <a:ext cx="82296" cy="82296"/>
          </a:xfrm>
          <a:prstGeom prst="ellipse">
            <a:avLst/>
          </a:prstGeom>
          <a:solidFill>
            <a:srgbClr val="76A3EE"/>
          </a:solidFill>
          <a:ln/>
        </p:spPr>
      </p:sp>
      <p:sp>
        <p:nvSpPr>
          <p:cNvPr id="57" name="Shape 55"/>
          <p:cNvSpPr/>
          <p:nvPr/>
        </p:nvSpPr>
        <p:spPr>
          <a:xfrm>
            <a:off x="10634472" y="6327648"/>
            <a:ext cx="82296" cy="82296"/>
          </a:xfrm>
          <a:prstGeom prst="ellipse">
            <a:avLst/>
          </a:prstGeom>
          <a:solidFill>
            <a:srgbClr val="385CB0"/>
          </a:solidFill>
          <a:ln/>
        </p:spPr>
      </p:sp>
      <p:sp>
        <p:nvSpPr>
          <p:cNvPr id="58" name="Text 56"/>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MA CONTRIBUTION · MODULE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Scoring assisté d'une réponse</a:t>
            </a:r>
            <a:endParaRPr lang="en-US" sz="2800" dirty="0"/>
          </a:p>
        </p:txBody>
      </p:sp>
      <p:sp>
        <p:nvSpPr>
          <p:cNvPr id="13" name="Text 11"/>
          <p:cNvSpPr/>
          <p:nvPr/>
        </p:nvSpPr>
        <p:spPr>
          <a:xfrm>
            <a:off x="685800" y="1737360"/>
            <a:ext cx="4572000" cy="274320"/>
          </a:xfrm>
          <a:prstGeom prst="rect">
            <a:avLst/>
          </a:prstGeom>
          <a:noFill/>
          <a:ln/>
        </p:spPr>
        <p:txBody>
          <a:bodyPr wrap="square" rtlCol="0" anchor="ctr"/>
          <a:lstStyle/>
          <a:p>
            <a:pPr indent="0" marL="0">
              <a:buNone/>
            </a:pPr>
            <a:r>
              <a:rPr lang="en-US" sz="1200" b="1" spc="100" kern="0" dirty="0">
                <a:solidFill>
                  <a:srgbClr val="0097A7"/>
                </a:solidFill>
                <a:latin typeface="Assistant" pitchFamily="34" charset="0"/>
                <a:ea typeface="Assistant" pitchFamily="34" charset="-122"/>
                <a:cs typeface="Assistant" pitchFamily="34" charset="-120"/>
              </a:rPr>
              <a:t>① ENTRÉE</a:t>
            </a:r>
            <a:endParaRPr lang="en-US" sz="1200" dirty="0"/>
          </a:p>
        </p:txBody>
      </p:sp>
      <p:sp>
        <p:nvSpPr>
          <p:cNvPr id="14" name="Shape 12"/>
          <p:cNvSpPr/>
          <p:nvPr/>
        </p:nvSpPr>
        <p:spPr>
          <a:xfrm>
            <a:off x="685800" y="2057400"/>
            <a:ext cx="4526280" cy="777240"/>
          </a:xfrm>
          <a:prstGeom prst="roundRect">
            <a:avLst>
              <a:gd name="adj" fmla="val 9412"/>
            </a:avLst>
          </a:prstGeom>
          <a:solidFill>
            <a:srgbClr val="E3EDFF"/>
          </a:solidFill>
          <a:ln/>
        </p:spPr>
      </p:sp>
      <p:sp>
        <p:nvSpPr>
          <p:cNvPr id="15" name="Text 13"/>
          <p:cNvSpPr/>
          <p:nvPr/>
        </p:nvSpPr>
        <p:spPr>
          <a:xfrm>
            <a:off x="914400" y="2103120"/>
            <a:ext cx="4160520" cy="685800"/>
          </a:xfrm>
          <a:prstGeom prst="rect">
            <a:avLst/>
          </a:prstGeom>
          <a:noFill/>
          <a:ln/>
        </p:spPr>
        <p:txBody>
          <a:bodyPr wrap="square" rtlCol="0" anchor="ctr"/>
          <a:lstStyle/>
          <a:p>
            <a:pPr indent="0" marL="0">
              <a:lnSpc>
                <a:spcPct val="105000"/>
              </a:lnSpc>
              <a:buNone/>
            </a:pPr>
            <a:r>
              <a:rPr lang="en-US" sz="1200" dirty="0">
                <a:solidFill>
                  <a:srgbClr val="33415C"/>
                </a:solidFill>
                <a:latin typeface="Assistant" pitchFamily="34" charset="0"/>
                <a:ea typeface="Assistant" pitchFamily="34" charset="-122"/>
                <a:cs typeface="Assistant" pitchFamily="34" charset="-120"/>
              </a:rPr>
              <a:t>Le texte d'une réponse (existante ou proposée) + son contexte narratif (scène, personnage).</a:t>
            </a:r>
            <a:endParaRPr lang="en-US" sz="1200" dirty="0"/>
          </a:p>
        </p:txBody>
      </p:sp>
      <p:sp>
        <p:nvSpPr>
          <p:cNvPr id="16" name="Text 14"/>
          <p:cNvSpPr/>
          <p:nvPr/>
        </p:nvSpPr>
        <p:spPr>
          <a:xfrm>
            <a:off x="685800" y="3063240"/>
            <a:ext cx="4572000" cy="274320"/>
          </a:xfrm>
          <a:prstGeom prst="rect">
            <a:avLst/>
          </a:prstGeom>
          <a:noFill/>
          <a:ln/>
        </p:spPr>
        <p:txBody>
          <a:bodyPr wrap="square" rtlCol="0" anchor="ctr"/>
          <a:lstStyle/>
          <a:p>
            <a:pPr indent="0" marL="0">
              <a:buNone/>
            </a:pPr>
            <a:r>
              <a:rPr lang="en-US" sz="1200" b="1" spc="100" kern="0" dirty="0">
                <a:solidFill>
                  <a:srgbClr val="0097A7"/>
                </a:solidFill>
                <a:latin typeface="Assistant" pitchFamily="34" charset="0"/>
                <a:ea typeface="Assistant" pitchFamily="34" charset="-122"/>
                <a:cs typeface="Assistant" pitchFamily="34" charset="-120"/>
              </a:rPr>
              <a:t>② L'IA ÉVALUE</a:t>
            </a:r>
            <a:endParaRPr lang="en-US" sz="1200" dirty="0"/>
          </a:p>
        </p:txBody>
      </p:sp>
      <p:sp>
        <p:nvSpPr>
          <p:cNvPr id="17" name="Shape 15"/>
          <p:cNvSpPr/>
          <p:nvPr/>
        </p:nvSpPr>
        <p:spPr>
          <a:xfrm>
            <a:off x="685800" y="3383280"/>
            <a:ext cx="4526280" cy="502920"/>
          </a:xfrm>
          <a:prstGeom prst="roundRect">
            <a:avLst>
              <a:gd name="adj" fmla="val 14545"/>
            </a:avLst>
          </a:prstGeom>
          <a:solidFill>
            <a:srgbClr val="385CB0"/>
          </a:solidFill>
          <a:ln/>
        </p:spPr>
      </p:sp>
      <p:sp>
        <p:nvSpPr>
          <p:cNvPr id="18" name="Text 16"/>
          <p:cNvSpPr/>
          <p:nvPr/>
        </p:nvSpPr>
        <p:spPr>
          <a:xfrm>
            <a:off x="914400" y="3383280"/>
            <a:ext cx="4206240" cy="502920"/>
          </a:xfrm>
          <a:prstGeom prst="rect">
            <a:avLst/>
          </a:prstGeom>
          <a:noFill/>
          <a:ln/>
        </p:spPr>
        <p:txBody>
          <a:bodyPr wrap="square" rtlCol="0" anchor="ctr"/>
          <a:lstStyle/>
          <a:p>
            <a:pPr indent="0" marL="0">
              <a:buNone/>
            </a:pPr>
            <a:r>
              <a:rPr lang="en-US" sz="1150" b="1" dirty="0">
                <a:solidFill>
                  <a:srgbClr val="FFFFFF"/>
                </a:solidFill>
                <a:latin typeface="Assistant" pitchFamily="34" charset="0"/>
                <a:ea typeface="Assistant" pitchFamily="34" charset="-122"/>
                <a:cs typeface="Assistant" pitchFamily="34" charset="-120"/>
              </a:rPr>
              <a:t>1.  Construction du prompt (réponse + contexte)</a:t>
            </a:r>
            <a:endParaRPr lang="en-US" sz="1150" dirty="0"/>
          </a:p>
        </p:txBody>
      </p:sp>
      <p:sp>
        <p:nvSpPr>
          <p:cNvPr id="19" name="Shape 17"/>
          <p:cNvSpPr/>
          <p:nvPr/>
        </p:nvSpPr>
        <p:spPr>
          <a:xfrm>
            <a:off x="685800" y="3986784"/>
            <a:ext cx="4526280" cy="502920"/>
          </a:xfrm>
          <a:prstGeom prst="roundRect">
            <a:avLst>
              <a:gd name="adj" fmla="val 14545"/>
            </a:avLst>
          </a:prstGeom>
          <a:solidFill>
            <a:srgbClr val="385CB0"/>
          </a:solidFill>
          <a:ln/>
        </p:spPr>
      </p:sp>
      <p:sp>
        <p:nvSpPr>
          <p:cNvPr id="20" name="Text 18"/>
          <p:cNvSpPr/>
          <p:nvPr/>
        </p:nvSpPr>
        <p:spPr>
          <a:xfrm>
            <a:off x="914400" y="3986784"/>
            <a:ext cx="4206240" cy="502920"/>
          </a:xfrm>
          <a:prstGeom prst="rect">
            <a:avLst/>
          </a:prstGeom>
          <a:noFill/>
          <a:ln/>
        </p:spPr>
        <p:txBody>
          <a:bodyPr wrap="square" rtlCol="0" anchor="ctr"/>
          <a:lstStyle/>
          <a:p>
            <a:pPr indent="0" marL="0">
              <a:buNone/>
            </a:pPr>
            <a:r>
              <a:rPr lang="en-US" sz="1150" b="1" dirty="0">
                <a:solidFill>
                  <a:srgbClr val="FFFFFF"/>
                </a:solidFill>
                <a:latin typeface="Assistant" pitchFamily="34" charset="0"/>
                <a:ea typeface="Assistant" pitchFamily="34" charset="-122"/>
                <a:cs typeface="Assistant" pitchFamily="34" charset="-120"/>
              </a:rPr>
              <a:t>2.  Appel LLM (OpenAI / Ollama)</a:t>
            </a:r>
            <a:endParaRPr lang="en-US" sz="1150" dirty="0"/>
          </a:p>
        </p:txBody>
      </p:sp>
      <p:sp>
        <p:nvSpPr>
          <p:cNvPr id="21" name="Shape 19"/>
          <p:cNvSpPr/>
          <p:nvPr/>
        </p:nvSpPr>
        <p:spPr>
          <a:xfrm>
            <a:off x="685800" y="4590288"/>
            <a:ext cx="4526280" cy="502920"/>
          </a:xfrm>
          <a:prstGeom prst="roundRect">
            <a:avLst>
              <a:gd name="adj" fmla="val 14545"/>
            </a:avLst>
          </a:prstGeom>
          <a:solidFill>
            <a:srgbClr val="385CB0"/>
          </a:solidFill>
          <a:ln/>
        </p:spPr>
      </p:sp>
      <p:sp>
        <p:nvSpPr>
          <p:cNvPr id="22" name="Text 20"/>
          <p:cNvSpPr/>
          <p:nvPr/>
        </p:nvSpPr>
        <p:spPr>
          <a:xfrm>
            <a:off x="914400" y="4590288"/>
            <a:ext cx="4206240" cy="502920"/>
          </a:xfrm>
          <a:prstGeom prst="rect">
            <a:avLst/>
          </a:prstGeom>
          <a:noFill/>
          <a:ln/>
        </p:spPr>
        <p:txBody>
          <a:bodyPr wrap="square" rtlCol="0" anchor="ctr"/>
          <a:lstStyle/>
          <a:p>
            <a:pPr indent="0" marL="0">
              <a:buNone/>
            </a:pPr>
            <a:r>
              <a:rPr lang="en-US" sz="1150" b="1" dirty="0">
                <a:solidFill>
                  <a:srgbClr val="FFFFFF"/>
                </a:solidFill>
                <a:latin typeface="Assistant" pitchFamily="34" charset="0"/>
                <a:ea typeface="Assistant" pitchFamily="34" charset="-122"/>
                <a:cs typeface="Assistant" pitchFamily="34" charset="-120"/>
              </a:rPr>
              <a:t>3.  Sortie JSON : 7 scores + justification</a:t>
            </a:r>
            <a:endParaRPr lang="en-US" sz="1150" dirty="0"/>
          </a:p>
        </p:txBody>
      </p:sp>
      <p:sp>
        <p:nvSpPr>
          <p:cNvPr id="23" name="Text 21"/>
          <p:cNvSpPr/>
          <p:nvPr/>
        </p:nvSpPr>
        <p:spPr>
          <a:xfrm>
            <a:off x="685800" y="5285232"/>
            <a:ext cx="4526280" cy="274320"/>
          </a:xfrm>
          <a:prstGeom prst="rect">
            <a:avLst/>
          </a:prstGeom>
          <a:noFill/>
          <a:ln/>
        </p:spPr>
        <p:txBody>
          <a:bodyPr wrap="square" rtlCol="0" anchor="ctr"/>
          <a:lstStyle/>
          <a:p>
            <a:pPr indent="0" marL="0">
              <a:buNone/>
            </a:pPr>
            <a:r>
              <a:rPr lang="en-US" sz="1100" i="1" dirty="0">
                <a:solidFill>
                  <a:srgbClr val="8893AE"/>
                </a:solidFill>
                <a:latin typeface="Assistant" pitchFamily="34" charset="0"/>
                <a:ea typeface="Assistant" pitchFamily="34" charset="-122"/>
                <a:cs typeface="Assistant" pitchFamily="34" charset="-120"/>
              </a:rPr>
              <a:t>Échelle −3 (problématique) … +3 (exemplaire)</a:t>
            </a:r>
            <a:endParaRPr lang="en-US" sz="1100" dirty="0"/>
          </a:p>
        </p:txBody>
      </p:sp>
      <p:sp>
        <p:nvSpPr>
          <p:cNvPr id="24" name="Shape 22"/>
          <p:cNvSpPr/>
          <p:nvPr/>
        </p:nvSpPr>
        <p:spPr>
          <a:xfrm>
            <a:off x="5486400" y="1737360"/>
            <a:ext cx="6035040" cy="3931920"/>
          </a:xfrm>
          <a:prstGeom prst="roundRect">
            <a:avLst>
              <a:gd name="adj" fmla="val 3256"/>
            </a:avLst>
          </a:prstGeom>
          <a:solidFill>
            <a:srgbClr val="E3EDFF"/>
          </a:solidFill>
          <a:ln/>
        </p:spPr>
      </p:sp>
      <p:sp>
        <p:nvSpPr>
          <p:cNvPr id="25" name="Text 23"/>
          <p:cNvSpPr/>
          <p:nvPr/>
        </p:nvSpPr>
        <p:spPr>
          <a:xfrm>
            <a:off x="5760720" y="1874520"/>
            <a:ext cx="5486400" cy="274320"/>
          </a:xfrm>
          <a:prstGeom prst="rect">
            <a:avLst/>
          </a:prstGeom>
          <a:noFill/>
          <a:ln/>
        </p:spPr>
        <p:txBody>
          <a:bodyPr wrap="square" rtlCol="0" anchor="ctr"/>
          <a:lstStyle/>
          <a:p>
            <a:pPr indent="0" marL="0">
              <a:buNone/>
            </a:pPr>
            <a:r>
              <a:rPr lang="en-US" sz="1150" b="1" spc="100" kern="0" dirty="0">
                <a:solidFill>
                  <a:srgbClr val="0097A7"/>
                </a:solidFill>
                <a:latin typeface="Assistant" pitchFamily="34" charset="0"/>
                <a:ea typeface="Assistant" pitchFamily="34" charset="-122"/>
                <a:cs typeface="Assistant" pitchFamily="34" charset="-120"/>
              </a:rPr>
              <a:t>VECTEUR DE SCORES PROPOSÉ</a:t>
            </a:r>
            <a:endParaRPr lang="en-US" sz="1150" dirty="0"/>
          </a:p>
        </p:txBody>
      </p:sp>
      <p:sp>
        <p:nvSpPr>
          <p:cNvPr id="26" name="Text 24"/>
          <p:cNvSpPr/>
          <p:nvPr/>
        </p:nvSpPr>
        <p:spPr>
          <a:xfrm>
            <a:off x="5760720" y="228600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Respect &amp; dignité</a:t>
            </a:r>
            <a:endParaRPr lang="en-US" sz="1150" dirty="0"/>
          </a:p>
        </p:txBody>
      </p:sp>
      <p:sp>
        <p:nvSpPr>
          <p:cNvPr id="27" name="Shape 25"/>
          <p:cNvSpPr/>
          <p:nvPr/>
        </p:nvSpPr>
        <p:spPr>
          <a:xfrm>
            <a:off x="9144000" y="2395728"/>
            <a:ext cx="1554480" cy="109728"/>
          </a:xfrm>
          <a:prstGeom prst="roundRect">
            <a:avLst>
              <a:gd name="adj" fmla="val 50000"/>
            </a:avLst>
          </a:prstGeom>
          <a:solidFill>
            <a:srgbClr val="CBD8EE"/>
          </a:solidFill>
          <a:ln/>
        </p:spPr>
      </p:sp>
      <p:sp>
        <p:nvSpPr>
          <p:cNvPr id="28" name="Shape 26"/>
          <p:cNvSpPr/>
          <p:nvPr/>
        </p:nvSpPr>
        <p:spPr>
          <a:xfrm>
            <a:off x="10357104" y="2322576"/>
            <a:ext cx="256032" cy="256032"/>
          </a:xfrm>
          <a:prstGeom prst="ellipse">
            <a:avLst/>
          </a:prstGeom>
          <a:solidFill>
            <a:srgbClr val="0097A7"/>
          </a:solidFill>
          <a:ln/>
        </p:spPr>
      </p:sp>
      <p:sp>
        <p:nvSpPr>
          <p:cNvPr id="29" name="Text 27"/>
          <p:cNvSpPr/>
          <p:nvPr/>
        </p:nvSpPr>
        <p:spPr>
          <a:xfrm>
            <a:off x="10835640" y="2286000"/>
            <a:ext cx="502920" cy="329184"/>
          </a:xfrm>
          <a:prstGeom prst="rect">
            <a:avLst/>
          </a:prstGeom>
          <a:noFill/>
          <a:ln/>
        </p:spPr>
        <p:txBody>
          <a:bodyPr wrap="square" rtlCol="0" anchor="ctr"/>
          <a:lstStyle/>
          <a:p>
            <a:pPr indent="0" marL="0">
              <a:buNone/>
            </a:pPr>
            <a:r>
              <a:rPr lang="en-US" sz="1300" b="1" dirty="0">
                <a:solidFill>
                  <a:srgbClr val="0097A7"/>
                </a:solidFill>
                <a:latin typeface="Archivo" pitchFamily="34" charset="0"/>
                <a:ea typeface="Archivo" pitchFamily="34" charset="-122"/>
                <a:cs typeface="Archivo" pitchFamily="34" charset="-120"/>
              </a:rPr>
              <a:t>+2</a:t>
            </a:r>
            <a:endParaRPr lang="en-US" sz="1300" dirty="0"/>
          </a:p>
        </p:txBody>
      </p:sp>
      <p:sp>
        <p:nvSpPr>
          <p:cNvPr id="30" name="Text 28"/>
          <p:cNvSpPr/>
          <p:nvPr/>
        </p:nvSpPr>
        <p:spPr>
          <a:xfrm>
            <a:off x="5760720" y="265176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Empathie</a:t>
            </a:r>
            <a:endParaRPr lang="en-US" sz="1150" dirty="0"/>
          </a:p>
        </p:txBody>
      </p:sp>
      <p:sp>
        <p:nvSpPr>
          <p:cNvPr id="31" name="Shape 29"/>
          <p:cNvSpPr/>
          <p:nvPr/>
        </p:nvSpPr>
        <p:spPr>
          <a:xfrm>
            <a:off x="9144000" y="2761488"/>
            <a:ext cx="1554480" cy="109728"/>
          </a:xfrm>
          <a:prstGeom prst="roundRect">
            <a:avLst>
              <a:gd name="adj" fmla="val 50000"/>
            </a:avLst>
          </a:prstGeom>
          <a:solidFill>
            <a:srgbClr val="CBD8EE"/>
          </a:solidFill>
          <a:ln/>
        </p:spPr>
      </p:sp>
      <p:sp>
        <p:nvSpPr>
          <p:cNvPr id="32" name="Shape 30"/>
          <p:cNvSpPr/>
          <p:nvPr/>
        </p:nvSpPr>
        <p:spPr>
          <a:xfrm>
            <a:off x="10616184" y="2688336"/>
            <a:ext cx="256032" cy="256032"/>
          </a:xfrm>
          <a:prstGeom prst="ellipse">
            <a:avLst/>
          </a:prstGeom>
          <a:solidFill>
            <a:srgbClr val="0097A7"/>
          </a:solidFill>
          <a:ln/>
        </p:spPr>
      </p:sp>
      <p:sp>
        <p:nvSpPr>
          <p:cNvPr id="33" name="Text 31"/>
          <p:cNvSpPr/>
          <p:nvPr/>
        </p:nvSpPr>
        <p:spPr>
          <a:xfrm>
            <a:off x="10835640" y="2651760"/>
            <a:ext cx="502920" cy="329184"/>
          </a:xfrm>
          <a:prstGeom prst="rect">
            <a:avLst/>
          </a:prstGeom>
          <a:noFill/>
          <a:ln/>
        </p:spPr>
        <p:txBody>
          <a:bodyPr wrap="square" rtlCol="0" anchor="ctr"/>
          <a:lstStyle/>
          <a:p>
            <a:pPr indent="0" marL="0">
              <a:buNone/>
            </a:pPr>
            <a:r>
              <a:rPr lang="en-US" sz="1300" b="1" dirty="0">
                <a:solidFill>
                  <a:srgbClr val="0097A7"/>
                </a:solidFill>
                <a:latin typeface="Archivo" pitchFamily="34" charset="0"/>
                <a:ea typeface="Archivo" pitchFamily="34" charset="-122"/>
                <a:cs typeface="Archivo" pitchFamily="34" charset="-120"/>
              </a:rPr>
              <a:t>+3</a:t>
            </a:r>
            <a:endParaRPr lang="en-US" sz="1300" dirty="0"/>
          </a:p>
        </p:txBody>
      </p:sp>
      <p:sp>
        <p:nvSpPr>
          <p:cNvPr id="34" name="Text 32"/>
          <p:cNvSpPr/>
          <p:nvPr/>
        </p:nvSpPr>
        <p:spPr>
          <a:xfrm>
            <a:off x="5760720" y="301752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Compassion</a:t>
            </a:r>
            <a:endParaRPr lang="en-US" sz="1150" dirty="0"/>
          </a:p>
        </p:txBody>
      </p:sp>
      <p:sp>
        <p:nvSpPr>
          <p:cNvPr id="35" name="Shape 33"/>
          <p:cNvSpPr/>
          <p:nvPr/>
        </p:nvSpPr>
        <p:spPr>
          <a:xfrm>
            <a:off x="9144000" y="3127248"/>
            <a:ext cx="1554480" cy="109728"/>
          </a:xfrm>
          <a:prstGeom prst="roundRect">
            <a:avLst>
              <a:gd name="adj" fmla="val 50000"/>
            </a:avLst>
          </a:prstGeom>
          <a:solidFill>
            <a:srgbClr val="CBD8EE"/>
          </a:solidFill>
          <a:ln/>
        </p:spPr>
      </p:sp>
      <p:sp>
        <p:nvSpPr>
          <p:cNvPr id="36" name="Shape 34"/>
          <p:cNvSpPr/>
          <p:nvPr/>
        </p:nvSpPr>
        <p:spPr>
          <a:xfrm>
            <a:off x="10357104" y="3054096"/>
            <a:ext cx="256032" cy="256032"/>
          </a:xfrm>
          <a:prstGeom prst="ellipse">
            <a:avLst/>
          </a:prstGeom>
          <a:solidFill>
            <a:srgbClr val="0097A7"/>
          </a:solidFill>
          <a:ln/>
        </p:spPr>
      </p:sp>
      <p:sp>
        <p:nvSpPr>
          <p:cNvPr id="37" name="Text 35"/>
          <p:cNvSpPr/>
          <p:nvPr/>
        </p:nvSpPr>
        <p:spPr>
          <a:xfrm>
            <a:off x="10835640" y="3017520"/>
            <a:ext cx="502920" cy="329184"/>
          </a:xfrm>
          <a:prstGeom prst="rect">
            <a:avLst/>
          </a:prstGeom>
          <a:noFill/>
          <a:ln/>
        </p:spPr>
        <p:txBody>
          <a:bodyPr wrap="square" rtlCol="0" anchor="ctr"/>
          <a:lstStyle/>
          <a:p>
            <a:pPr indent="0" marL="0">
              <a:buNone/>
            </a:pPr>
            <a:r>
              <a:rPr lang="en-US" sz="1300" b="1" dirty="0">
                <a:solidFill>
                  <a:srgbClr val="0097A7"/>
                </a:solidFill>
                <a:latin typeface="Archivo" pitchFamily="34" charset="0"/>
                <a:ea typeface="Archivo" pitchFamily="34" charset="-122"/>
                <a:cs typeface="Archivo" pitchFamily="34" charset="-120"/>
              </a:rPr>
              <a:t>+2</a:t>
            </a:r>
            <a:endParaRPr lang="en-US" sz="1300" dirty="0"/>
          </a:p>
        </p:txBody>
      </p:sp>
      <p:sp>
        <p:nvSpPr>
          <p:cNvPr id="38" name="Text 36"/>
          <p:cNvSpPr/>
          <p:nvPr/>
        </p:nvSpPr>
        <p:spPr>
          <a:xfrm>
            <a:off x="5760720" y="338328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Régulation émotionnelle</a:t>
            </a:r>
            <a:endParaRPr lang="en-US" sz="1150" dirty="0"/>
          </a:p>
        </p:txBody>
      </p:sp>
      <p:sp>
        <p:nvSpPr>
          <p:cNvPr id="39" name="Shape 37"/>
          <p:cNvSpPr/>
          <p:nvPr/>
        </p:nvSpPr>
        <p:spPr>
          <a:xfrm>
            <a:off x="9144000" y="3493008"/>
            <a:ext cx="1554480" cy="109728"/>
          </a:xfrm>
          <a:prstGeom prst="roundRect">
            <a:avLst>
              <a:gd name="adj" fmla="val 50000"/>
            </a:avLst>
          </a:prstGeom>
          <a:solidFill>
            <a:srgbClr val="CBD8EE"/>
          </a:solidFill>
          <a:ln/>
        </p:spPr>
      </p:sp>
      <p:sp>
        <p:nvSpPr>
          <p:cNvPr id="40" name="Shape 38"/>
          <p:cNvSpPr/>
          <p:nvPr/>
        </p:nvSpPr>
        <p:spPr>
          <a:xfrm>
            <a:off x="10098024" y="3419856"/>
            <a:ext cx="256032" cy="256032"/>
          </a:xfrm>
          <a:prstGeom prst="ellipse">
            <a:avLst/>
          </a:prstGeom>
          <a:solidFill>
            <a:srgbClr val="385CB0"/>
          </a:solidFill>
          <a:ln/>
        </p:spPr>
      </p:sp>
      <p:sp>
        <p:nvSpPr>
          <p:cNvPr id="41" name="Text 39"/>
          <p:cNvSpPr/>
          <p:nvPr/>
        </p:nvSpPr>
        <p:spPr>
          <a:xfrm>
            <a:off x="10835640" y="3383280"/>
            <a:ext cx="502920" cy="329184"/>
          </a:xfrm>
          <a:prstGeom prst="rect">
            <a:avLst/>
          </a:prstGeom>
          <a:noFill/>
          <a:ln/>
        </p:spPr>
        <p:txBody>
          <a:bodyPr wrap="square" rtlCol="0" anchor="ctr"/>
          <a:lstStyle/>
          <a:p>
            <a:pPr indent="0" marL="0">
              <a:buNone/>
            </a:pPr>
            <a:r>
              <a:rPr lang="en-US" sz="1300" b="1" dirty="0">
                <a:solidFill>
                  <a:srgbClr val="385CB0"/>
                </a:solidFill>
                <a:latin typeface="Archivo" pitchFamily="34" charset="0"/>
                <a:ea typeface="Archivo" pitchFamily="34" charset="-122"/>
                <a:cs typeface="Archivo" pitchFamily="34" charset="-120"/>
              </a:rPr>
              <a:t>+1</a:t>
            </a:r>
            <a:endParaRPr lang="en-US" sz="1300" dirty="0"/>
          </a:p>
        </p:txBody>
      </p:sp>
      <p:sp>
        <p:nvSpPr>
          <p:cNvPr id="42" name="Text 40"/>
          <p:cNvSpPr/>
          <p:nvPr/>
        </p:nvSpPr>
        <p:spPr>
          <a:xfrm>
            <a:off x="5760720" y="374904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Clarté de communication</a:t>
            </a:r>
            <a:endParaRPr lang="en-US" sz="1150" dirty="0"/>
          </a:p>
        </p:txBody>
      </p:sp>
      <p:sp>
        <p:nvSpPr>
          <p:cNvPr id="43" name="Shape 41"/>
          <p:cNvSpPr/>
          <p:nvPr/>
        </p:nvSpPr>
        <p:spPr>
          <a:xfrm>
            <a:off x="9144000" y="3858768"/>
            <a:ext cx="1554480" cy="109728"/>
          </a:xfrm>
          <a:prstGeom prst="roundRect">
            <a:avLst>
              <a:gd name="adj" fmla="val 50000"/>
            </a:avLst>
          </a:prstGeom>
          <a:solidFill>
            <a:srgbClr val="CBD8EE"/>
          </a:solidFill>
          <a:ln/>
        </p:spPr>
      </p:sp>
      <p:sp>
        <p:nvSpPr>
          <p:cNvPr id="44" name="Shape 42"/>
          <p:cNvSpPr/>
          <p:nvPr/>
        </p:nvSpPr>
        <p:spPr>
          <a:xfrm>
            <a:off x="10357104" y="3785616"/>
            <a:ext cx="256032" cy="256032"/>
          </a:xfrm>
          <a:prstGeom prst="ellipse">
            <a:avLst/>
          </a:prstGeom>
          <a:solidFill>
            <a:srgbClr val="0097A7"/>
          </a:solidFill>
          <a:ln/>
        </p:spPr>
      </p:sp>
      <p:sp>
        <p:nvSpPr>
          <p:cNvPr id="45" name="Text 43"/>
          <p:cNvSpPr/>
          <p:nvPr/>
        </p:nvSpPr>
        <p:spPr>
          <a:xfrm>
            <a:off x="10835640" y="3749040"/>
            <a:ext cx="502920" cy="329184"/>
          </a:xfrm>
          <a:prstGeom prst="rect">
            <a:avLst/>
          </a:prstGeom>
          <a:noFill/>
          <a:ln/>
        </p:spPr>
        <p:txBody>
          <a:bodyPr wrap="square" rtlCol="0" anchor="ctr"/>
          <a:lstStyle/>
          <a:p>
            <a:pPr indent="0" marL="0">
              <a:buNone/>
            </a:pPr>
            <a:r>
              <a:rPr lang="en-US" sz="1300" b="1" dirty="0">
                <a:solidFill>
                  <a:srgbClr val="0097A7"/>
                </a:solidFill>
                <a:latin typeface="Archivo" pitchFamily="34" charset="0"/>
                <a:ea typeface="Archivo" pitchFamily="34" charset="-122"/>
                <a:cs typeface="Archivo" pitchFamily="34" charset="-120"/>
              </a:rPr>
              <a:t>+2</a:t>
            </a:r>
            <a:endParaRPr lang="en-US" sz="1300" dirty="0"/>
          </a:p>
        </p:txBody>
      </p:sp>
      <p:sp>
        <p:nvSpPr>
          <p:cNvPr id="46" name="Text 44"/>
          <p:cNvSpPr/>
          <p:nvPr/>
        </p:nvSpPr>
        <p:spPr>
          <a:xfrm>
            <a:off x="5760720" y="411480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Frontières professionnelles</a:t>
            </a:r>
            <a:endParaRPr lang="en-US" sz="1150" dirty="0"/>
          </a:p>
        </p:txBody>
      </p:sp>
      <p:sp>
        <p:nvSpPr>
          <p:cNvPr id="47" name="Shape 45"/>
          <p:cNvSpPr/>
          <p:nvPr/>
        </p:nvSpPr>
        <p:spPr>
          <a:xfrm>
            <a:off x="9144000" y="4224528"/>
            <a:ext cx="1554480" cy="109728"/>
          </a:xfrm>
          <a:prstGeom prst="roundRect">
            <a:avLst>
              <a:gd name="adj" fmla="val 50000"/>
            </a:avLst>
          </a:prstGeom>
          <a:solidFill>
            <a:srgbClr val="CBD8EE"/>
          </a:solidFill>
          <a:ln/>
        </p:spPr>
      </p:sp>
      <p:sp>
        <p:nvSpPr>
          <p:cNvPr id="48" name="Shape 46"/>
          <p:cNvSpPr/>
          <p:nvPr/>
        </p:nvSpPr>
        <p:spPr>
          <a:xfrm>
            <a:off x="10098024" y="4151376"/>
            <a:ext cx="256032" cy="256032"/>
          </a:xfrm>
          <a:prstGeom prst="ellipse">
            <a:avLst/>
          </a:prstGeom>
          <a:solidFill>
            <a:srgbClr val="385CB0"/>
          </a:solidFill>
          <a:ln/>
        </p:spPr>
      </p:sp>
      <p:sp>
        <p:nvSpPr>
          <p:cNvPr id="49" name="Text 47"/>
          <p:cNvSpPr/>
          <p:nvPr/>
        </p:nvSpPr>
        <p:spPr>
          <a:xfrm>
            <a:off x="10835640" y="4114800"/>
            <a:ext cx="502920" cy="329184"/>
          </a:xfrm>
          <a:prstGeom prst="rect">
            <a:avLst/>
          </a:prstGeom>
          <a:noFill/>
          <a:ln/>
        </p:spPr>
        <p:txBody>
          <a:bodyPr wrap="square" rtlCol="0" anchor="ctr"/>
          <a:lstStyle/>
          <a:p>
            <a:pPr indent="0" marL="0">
              <a:buNone/>
            </a:pPr>
            <a:r>
              <a:rPr lang="en-US" sz="1300" b="1" dirty="0">
                <a:solidFill>
                  <a:srgbClr val="385CB0"/>
                </a:solidFill>
                <a:latin typeface="Archivo" pitchFamily="34" charset="0"/>
                <a:ea typeface="Archivo" pitchFamily="34" charset="-122"/>
                <a:cs typeface="Archivo" pitchFamily="34" charset="-120"/>
              </a:rPr>
              <a:t>+1</a:t>
            </a:r>
            <a:endParaRPr lang="en-US" sz="1300" dirty="0"/>
          </a:p>
        </p:txBody>
      </p:sp>
      <p:sp>
        <p:nvSpPr>
          <p:cNvPr id="50" name="Text 48"/>
          <p:cNvSpPr/>
          <p:nvPr/>
        </p:nvSpPr>
        <p:spPr>
          <a:xfrm>
            <a:off x="5760720" y="4480560"/>
            <a:ext cx="3291840" cy="329184"/>
          </a:xfrm>
          <a:prstGeom prst="rect">
            <a:avLst/>
          </a:prstGeom>
          <a:noFill/>
          <a:ln/>
        </p:spPr>
        <p:txBody>
          <a:bodyPr wrap="square" rtlCol="0" anchor="ctr"/>
          <a:lstStyle/>
          <a:p>
            <a:pPr indent="0" marL="0">
              <a:buNone/>
            </a:pPr>
            <a:r>
              <a:rPr lang="en-US" sz="1150" dirty="0">
                <a:solidFill>
                  <a:srgbClr val="33415C"/>
                </a:solidFill>
                <a:latin typeface="Assistant" pitchFamily="34" charset="0"/>
                <a:ea typeface="Assistant" pitchFamily="34" charset="-122"/>
                <a:cs typeface="Assistant" pitchFamily="34" charset="-120"/>
              </a:rPr>
              <a:t>Collaboration interpro.</a:t>
            </a:r>
            <a:endParaRPr lang="en-US" sz="1150" dirty="0"/>
          </a:p>
        </p:txBody>
      </p:sp>
      <p:sp>
        <p:nvSpPr>
          <p:cNvPr id="51" name="Shape 49"/>
          <p:cNvSpPr/>
          <p:nvPr/>
        </p:nvSpPr>
        <p:spPr>
          <a:xfrm>
            <a:off x="9144000" y="4590288"/>
            <a:ext cx="1554480" cy="109728"/>
          </a:xfrm>
          <a:prstGeom prst="roundRect">
            <a:avLst>
              <a:gd name="adj" fmla="val 50000"/>
            </a:avLst>
          </a:prstGeom>
          <a:solidFill>
            <a:srgbClr val="CBD8EE"/>
          </a:solidFill>
          <a:ln/>
        </p:spPr>
      </p:sp>
      <p:sp>
        <p:nvSpPr>
          <p:cNvPr id="52" name="Shape 50"/>
          <p:cNvSpPr/>
          <p:nvPr/>
        </p:nvSpPr>
        <p:spPr>
          <a:xfrm>
            <a:off x="9838944" y="4517136"/>
            <a:ext cx="256032" cy="256032"/>
          </a:xfrm>
          <a:prstGeom prst="ellipse">
            <a:avLst/>
          </a:prstGeom>
          <a:solidFill>
            <a:srgbClr val="8893AE"/>
          </a:solidFill>
          <a:ln/>
        </p:spPr>
      </p:sp>
      <p:sp>
        <p:nvSpPr>
          <p:cNvPr id="53" name="Text 51"/>
          <p:cNvSpPr/>
          <p:nvPr/>
        </p:nvSpPr>
        <p:spPr>
          <a:xfrm>
            <a:off x="10835640" y="4480560"/>
            <a:ext cx="502920" cy="329184"/>
          </a:xfrm>
          <a:prstGeom prst="rect">
            <a:avLst/>
          </a:prstGeom>
          <a:noFill/>
          <a:ln/>
        </p:spPr>
        <p:txBody>
          <a:bodyPr wrap="square" rtlCol="0" anchor="ctr"/>
          <a:lstStyle/>
          <a:p>
            <a:pPr indent="0" marL="0">
              <a:buNone/>
            </a:pPr>
            <a:r>
              <a:rPr lang="en-US" sz="1300" b="1" dirty="0">
                <a:solidFill>
                  <a:srgbClr val="8893AE"/>
                </a:solidFill>
                <a:latin typeface="Archivo" pitchFamily="34" charset="0"/>
                <a:ea typeface="Archivo" pitchFamily="34" charset="-122"/>
                <a:cs typeface="Archivo" pitchFamily="34" charset="-120"/>
              </a:rPr>
              <a:t>0</a:t>
            </a:r>
            <a:endParaRPr lang="en-US" sz="1300" dirty="0"/>
          </a:p>
        </p:txBody>
      </p:sp>
      <p:sp>
        <p:nvSpPr>
          <p:cNvPr id="54" name="Shape 52"/>
          <p:cNvSpPr/>
          <p:nvPr/>
        </p:nvSpPr>
        <p:spPr>
          <a:xfrm>
            <a:off x="5760720" y="4937760"/>
            <a:ext cx="5486400" cy="640080"/>
          </a:xfrm>
          <a:prstGeom prst="roundRect">
            <a:avLst>
              <a:gd name="adj" fmla="val 11429"/>
            </a:avLst>
          </a:prstGeom>
          <a:solidFill>
            <a:srgbClr val="FFFFFF"/>
          </a:solidFill>
          <a:ln w="12700">
            <a:solidFill>
              <a:srgbClr val="76A3EE"/>
            </a:solidFill>
            <a:prstDash val="solid"/>
          </a:ln>
        </p:spPr>
      </p:sp>
      <p:sp>
        <p:nvSpPr>
          <p:cNvPr id="55" name="Text 53"/>
          <p:cNvSpPr/>
          <p:nvPr/>
        </p:nvSpPr>
        <p:spPr>
          <a:xfrm>
            <a:off x="5943600" y="4983480"/>
            <a:ext cx="5120640" cy="548640"/>
          </a:xfrm>
          <a:prstGeom prst="rect">
            <a:avLst/>
          </a:prstGeom>
          <a:noFill/>
          <a:ln/>
        </p:spPr>
        <p:txBody>
          <a:bodyPr wrap="square" rtlCol="0" anchor="ctr"/>
          <a:lstStyle/>
          <a:p>
            <a:pPr indent="0" marL="0">
              <a:lnSpc>
                <a:spcPct val="105000"/>
              </a:lnSpc>
              <a:buNone/>
            </a:pPr>
            <a:r>
              <a:rPr lang="en-US" sz="1100" b="1" dirty="0">
                <a:solidFill>
                  <a:srgbClr val="001B58"/>
                </a:solidFill>
                <a:latin typeface="Assistant" pitchFamily="34" charset="0"/>
                <a:ea typeface="Assistant" pitchFamily="34" charset="-122"/>
                <a:cs typeface="Assistant" pitchFamily="34" charset="-120"/>
              </a:rPr>
              <a:t>Justification : </a:t>
            </a:r>
            <a:pPr indent="0" marL="0">
              <a:lnSpc>
                <a:spcPct val="105000"/>
              </a:lnSpc>
              <a:buNone/>
            </a:pPr>
            <a:r>
              <a:rPr lang="en-US" sz="1100" dirty="0">
                <a:solidFill>
                  <a:srgbClr val="33415C"/>
                </a:solidFill>
                <a:latin typeface="Assistant" pitchFamily="34" charset="0"/>
                <a:ea typeface="Assistant" pitchFamily="34" charset="-122"/>
                <a:cs typeface="Assistant" pitchFamily="34" charset="-120"/>
              </a:rPr>
              <a:t>reconnaît l'état émotionnel d'Agathe et adapte son approche ; frontières implicites → score modéré.</a:t>
            </a:r>
            <a:endParaRPr lang="en-US" sz="1100" dirty="0"/>
          </a:p>
        </p:txBody>
      </p:sp>
      <p:sp>
        <p:nvSpPr>
          <p:cNvPr id="56" name="Text 54"/>
          <p:cNvSpPr/>
          <p:nvPr/>
        </p:nvSpPr>
        <p:spPr>
          <a:xfrm>
            <a:off x="685800" y="5897880"/>
            <a:ext cx="10789920" cy="320040"/>
          </a:xfrm>
          <a:prstGeom prst="rect">
            <a:avLst/>
          </a:prstGeom>
          <a:noFill/>
          <a:ln/>
        </p:spPr>
        <p:txBody>
          <a:bodyPr wrap="square" rtlCol="0" anchor="ctr"/>
          <a:lstStyle/>
          <a:p>
            <a:pPr indent="0" marL="0">
              <a:buNone/>
            </a:pPr>
            <a:r>
              <a:rPr lang="en-US" sz="1250" b="1" i="1" dirty="0">
                <a:solidFill>
                  <a:srgbClr val="385CB0"/>
                </a:solidFill>
                <a:latin typeface="Assistant" pitchFamily="34" charset="0"/>
                <a:ea typeface="Assistant" pitchFamily="34" charset="-122"/>
                <a:cs typeface="Assistant" pitchFamily="34" charset="-120"/>
              </a:rPr>
              <a:t>L'auteur accepte, corrige ou rejette le score · cohérence mesurée : MAE 0,77 vs scores humains.</a:t>
            </a:r>
            <a:endParaRPr lang="en-US" sz="1250" dirty="0"/>
          </a:p>
        </p:txBody>
      </p:sp>
      <p:sp>
        <p:nvSpPr>
          <p:cNvPr id="57" name="Shape 55"/>
          <p:cNvSpPr/>
          <p:nvPr/>
        </p:nvSpPr>
        <p:spPr>
          <a:xfrm>
            <a:off x="9829800" y="6327648"/>
            <a:ext cx="82296" cy="82296"/>
          </a:xfrm>
          <a:prstGeom prst="ellipse">
            <a:avLst/>
          </a:prstGeom>
          <a:solidFill>
            <a:srgbClr val="385CB0"/>
          </a:solidFill>
          <a:ln/>
        </p:spPr>
      </p:sp>
      <p:sp>
        <p:nvSpPr>
          <p:cNvPr id="58" name="Shape 56"/>
          <p:cNvSpPr/>
          <p:nvPr/>
        </p:nvSpPr>
        <p:spPr>
          <a:xfrm>
            <a:off x="10030968" y="6327648"/>
            <a:ext cx="82296" cy="82296"/>
          </a:xfrm>
          <a:prstGeom prst="ellipse">
            <a:avLst/>
          </a:prstGeom>
          <a:solidFill>
            <a:srgbClr val="76A3EE"/>
          </a:solidFill>
          <a:ln/>
        </p:spPr>
      </p:sp>
      <p:sp>
        <p:nvSpPr>
          <p:cNvPr id="59" name="Shape 57"/>
          <p:cNvSpPr/>
          <p:nvPr/>
        </p:nvSpPr>
        <p:spPr>
          <a:xfrm>
            <a:off x="10232136" y="6327648"/>
            <a:ext cx="82296" cy="82296"/>
          </a:xfrm>
          <a:prstGeom prst="ellipse">
            <a:avLst/>
          </a:prstGeom>
          <a:solidFill>
            <a:srgbClr val="76A3EE"/>
          </a:solidFill>
          <a:ln/>
        </p:spPr>
      </p:sp>
      <p:sp>
        <p:nvSpPr>
          <p:cNvPr id="60" name="Shape 58"/>
          <p:cNvSpPr/>
          <p:nvPr/>
        </p:nvSpPr>
        <p:spPr>
          <a:xfrm>
            <a:off x="10433304" y="6327648"/>
            <a:ext cx="82296" cy="82296"/>
          </a:xfrm>
          <a:prstGeom prst="ellipse">
            <a:avLst/>
          </a:prstGeom>
          <a:solidFill>
            <a:srgbClr val="76A3EE"/>
          </a:solidFill>
          <a:ln/>
        </p:spPr>
      </p:sp>
      <p:sp>
        <p:nvSpPr>
          <p:cNvPr id="61" name="Shape 59"/>
          <p:cNvSpPr/>
          <p:nvPr/>
        </p:nvSpPr>
        <p:spPr>
          <a:xfrm>
            <a:off x="10634472" y="6327648"/>
            <a:ext cx="82296" cy="82296"/>
          </a:xfrm>
          <a:prstGeom prst="ellipse">
            <a:avLst/>
          </a:prstGeom>
          <a:solidFill>
            <a:srgbClr val="76A3EE"/>
          </a:solidFill>
          <a:ln/>
        </p:spPr>
      </p:sp>
      <p:sp>
        <p:nvSpPr>
          <p:cNvPr id="62" name="Text 60"/>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1B58"/>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sp>
      <p:sp>
        <p:nvSpPr>
          <p:cNvPr id="3" name="Shape 1"/>
          <p:cNvSpPr/>
          <p:nvPr/>
        </p:nvSpPr>
        <p:spPr>
          <a:xfrm>
            <a:off x="-1645920" y="-1645920"/>
            <a:ext cx="3291840" cy="3291840"/>
          </a:xfrm>
          <a:prstGeom prst="ellipse">
            <a:avLst/>
          </a:prstGeom>
          <a:solidFill>
            <a:srgbClr val="385CB0"/>
          </a:solidFill>
          <a:ln/>
        </p:spPr>
      </p:sp>
      <p:sp>
        <p:nvSpPr>
          <p:cNvPr id="4" name="Shape 2"/>
          <p:cNvSpPr/>
          <p:nvPr/>
        </p:nvSpPr>
        <p:spPr>
          <a:xfrm>
            <a:off x="-914400" y="-914400"/>
            <a:ext cx="1828800" cy="1828800"/>
          </a:xfrm>
          <a:prstGeom prst="ellipse">
            <a:avLst/>
          </a:prstGeom>
          <a:solidFill>
            <a:srgbClr val="76A3EE"/>
          </a:solidFill>
          <a:ln/>
        </p:spPr>
      </p:sp>
      <p:sp>
        <p:nvSpPr>
          <p:cNvPr id="5" name="Shape 3"/>
          <p:cNvSpPr/>
          <p:nvPr/>
        </p:nvSpPr>
        <p:spPr>
          <a:xfrm>
            <a:off x="10881360" y="5029200"/>
            <a:ext cx="2743200" cy="2743200"/>
          </a:xfrm>
          <a:prstGeom prst="ellipse">
            <a:avLst/>
          </a:prstGeom>
          <a:solidFill>
            <a:srgbClr val="385CB0"/>
          </a:solidFill>
          <a:ln/>
        </p:spPr>
      </p:sp>
      <p:sp>
        <p:nvSpPr>
          <p:cNvPr id="6" name="Shape 4"/>
          <p:cNvSpPr/>
          <p:nvPr/>
        </p:nvSpPr>
        <p:spPr>
          <a:xfrm>
            <a:off x="11099536" y="914400"/>
            <a:ext cx="130576" cy="384048"/>
          </a:xfrm>
          <a:prstGeom prst="roundRect">
            <a:avLst>
              <a:gd name="adj" fmla="val 28000"/>
            </a:avLst>
          </a:prstGeom>
          <a:solidFill>
            <a:srgbClr val="76A3EE"/>
          </a:solidFill>
          <a:ln/>
        </p:spPr>
      </p:sp>
      <p:sp>
        <p:nvSpPr>
          <p:cNvPr id="7" name="Shape 5"/>
          <p:cNvSpPr/>
          <p:nvPr/>
        </p:nvSpPr>
        <p:spPr>
          <a:xfrm>
            <a:off x="10972800" y="1041136"/>
            <a:ext cx="384048" cy="130576"/>
          </a:xfrm>
          <a:prstGeom prst="roundRect">
            <a:avLst>
              <a:gd name="adj" fmla="val 28000"/>
            </a:avLst>
          </a:prstGeom>
          <a:solidFill>
            <a:srgbClr val="76A3EE"/>
          </a:solidFill>
          <a:ln/>
        </p:spPr>
      </p:sp>
      <p:sp>
        <p:nvSpPr>
          <p:cNvPr id="8" name="Shape 6"/>
          <p:cNvSpPr/>
          <p:nvPr/>
        </p:nvSpPr>
        <p:spPr>
          <a:xfrm>
            <a:off x="1016996" y="5394960"/>
            <a:ext cx="105705" cy="310896"/>
          </a:xfrm>
          <a:prstGeom prst="roundRect">
            <a:avLst>
              <a:gd name="adj" fmla="val 28000"/>
            </a:avLst>
          </a:prstGeom>
          <a:solidFill>
            <a:srgbClr val="76A3EE"/>
          </a:solidFill>
          <a:ln/>
        </p:spPr>
      </p:sp>
      <p:sp>
        <p:nvSpPr>
          <p:cNvPr id="9" name="Shape 7"/>
          <p:cNvSpPr/>
          <p:nvPr/>
        </p:nvSpPr>
        <p:spPr>
          <a:xfrm>
            <a:off x="914400" y="5497556"/>
            <a:ext cx="310896" cy="105705"/>
          </a:xfrm>
          <a:prstGeom prst="roundRect">
            <a:avLst>
              <a:gd name="adj" fmla="val 28000"/>
            </a:avLst>
          </a:prstGeom>
          <a:solidFill>
            <a:srgbClr val="76A3EE"/>
          </a:solidFill>
          <a:ln/>
        </p:spPr>
      </p:sp>
      <p:sp>
        <p:nvSpPr>
          <p:cNvPr id="10" name="Shape 8"/>
          <p:cNvSpPr/>
          <p:nvPr/>
        </p:nvSpPr>
        <p:spPr>
          <a:xfrm>
            <a:off x="9777131" y="5486400"/>
            <a:ext cx="87051" cy="256032"/>
          </a:xfrm>
          <a:prstGeom prst="roundRect">
            <a:avLst>
              <a:gd name="adj" fmla="val 28000"/>
            </a:avLst>
          </a:prstGeom>
          <a:solidFill>
            <a:srgbClr val="76A3EE"/>
          </a:solidFill>
          <a:ln/>
        </p:spPr>
      </p:sp>
      <p:sp>
        <p:nvSpPr>
          <p:cNvPr id="11" name="Shape 9"/>
          <p:cNvSpPr/>
          <p:nvPr/>
        </p:nvSpPr>
        <p:spPr>
          <a:xfrm>
            <a:off x="9692640" y="5570891"/>
            <a:ext cx="256032" cy="87051"/>
          </a:xfrm>
          <a:prstGeom prst="roundRect">
            <a:avLst>
              <a:gd name="adj" fmla="val 28000"/>
            </a:avLst>
          </a:prstGeom>
          <a:solidFill>
            <a:srgbClr val="76A3EE"/>
          </a:solidFill>
          <a:ln/>
        </p:spPr>
      </p:sp>
      <p:sp>
        <p:nvSpPr>
          <p:cNvPr id="12" name="Shape 10"/>
          <p:cNvSpPr/>
          <p:nvPr/>
        </p:nvSpPr>
        <p:spPr>
          <a:xfrm>
            <a:off x="5550408" y="1371600"/>
            <a:ext cx="1097280" cy="1097280"/>
          </a:xfrm>
          <a:prstGeom prst="ellipse">
            <a:avLst/>
          </a:prstGeom>
          <a:solidFill>
            <a:srgbClr val="76A3EE"/>
          </a:solidFill>
          <a:ln/>
        </p:spPr>
      </p:sp>
      <p:sp>
        <p:nvSpPr>
          <p:cNvPr id="13" name="Shape 11"/>
          <p:cNvSpPr/>
          <p:nvPr/>
        </p:nvSpPr>
        <p:spPr>
          <a:xfrm rot="5400000">
            <a:off x="5943600" y="1700784"/>
            <a:ext cx="420624" cy="438912"/>
          </a:xfrm>
          <a:prstGeom prst="triangle">
            <a:avLst/>
          </a:prstGeom>
          <a:solidFill>
            <a:srgbClr val="001B58"/>
          </a:solidFill>
          <a:ln/>
        </p:spPr>
      </p:sp>
      <p:sp>
        <p:nvSpPr>
          <p:cNvPr id="14" name="Text 12"/>
          <p:cNvSpPr/>
          <p:nvPr/>
        </p:nvSpPr>
        <p:spPr>
          <a:xfrm>
            <a:off x="822960" y="2697480"/>
            <a:ext cx="10515600" cy="365760"/>
          </a:xfrm>
          <a:prstGeom prst="rect">
            <a:avLst/>
          </a:prstGeom>
          <a:noFill/>
          <a:ln/>
        </p:spPr>
        <p:txBody>
          <a:bodyPr wrap="square" rtlCol="0" anchor="ctr"/>
          <a:lstStyle/>
          <a:p>
            <a:pPr algn="ctr" indent="0" marL="0">
              <a:buNone/>
            </a:pPr>
            <a:r>
              <a:rPr lang="en-US" sz="1400" b="1" spc="400" kern="0" dirty="0">
                <a:solidFill>
                  <a:srgbClr val="76A3EE"/>
                </a:solidFill>
                <a:latin typeface="Assistant" pitchFamily="34" charset="0"/>
                <a:ea typeface="Assistant" pitchFamily="34" charset="-122"/>
                <a:cs typeface="Assistant" pitchFamily="34" charset="-120"/>
              </a:rPr>
              <a:t>DÉMONSTRATION</a:t>
            </a:r>
            <a:endParaRPr lang="en-US" sz="1400" dirty="0"/>
          </a:p>
        </p:txBody>
      </p:sp>
      <p:sp>
        <p:nvSpPr>
          <p:cNvPr id="15" name="Text 13"/>
          <p:cNvSpPr/>
          <p:nvPr/>
        </p:nvSpPr>
        <p:spPr>
          <a:xfrm>
            <a:off x="822960" y="3063240"/>
            <a:ext cx="10515600" cy="822960"/>
          </a:xfrm>
          <a:prstGeom prst="rect">
            <a:avLst/>
          </a:prstGeom>
          <a:noFill/>
          <a:ln/>
        </p:spPr>
        <p:txBody>
          <a:bodyPr wrap="square" rtlCol="0" anchor="ctr"/>
          <a:lstStyle/>
          <a:p>
            <a:pPr algn="ctr" indent="0" marL="0">
              <a:buNone/>
            </a:pPr>
            <a:r>
              <a:rPr lang="en-US" sz="4000" b="1" dirty="0">
                <a:solidFill>
                  <a:srgbClr val="FFFFFF"/>
                </a:solidFill>
                <a:latin typeface="Archivo" pitchFamily="34" charset="0"/>
                <a:ea typeface="Archivo" pitchFamily="34" charset="-122"/>
                <a:cs typeface="Archivo" pitchFamily="34" charset="-120"/>
              </a:rPr>
              <a:t>Démo live de la plateforme</a:t>
            </a:r>
            <a:endParaRPr lang="en-US" sz="4000" dirty="0"/>
          </a:p>
        </p:txBody>
      </p:sp>
      <p:sp>
        <p:nvSpPr>
          <p:cNvPr id="16" name="Text 14"/>
          <p:cNvSpPr/>
          <p:nvPr/>
        </p:nvSpPr>
        <p:spPr>
          <a:xfrm>
            <a:off x="1280160" y="3977640"/>
            <a:ext cx="9601200" cy="457200"/>
          </a:xfrm>
          <a:prstGeom prst="rect">
            <a:avLst/>
          </a:prstGeom>
          <a:noFill/>
          <a:ln/>
        </p:spPr>
        <p:txBody>
          <a:bodyPr wrap="square" rtlCol="0" anchor="ctr"/>
          <a:lstStyle/>
          <a:p>
            <a:pPr algn="ctr" indent="0" marL="0">
              <a:buNone/>
            </a:pPr>
            <a:r>
              <a:rPr lang="en-US" sz="1600" i="1" dirty="0">
                <a:solidFill>
                  <a:srgbClr val="E3EDFF"/>
                </a:solidFill>
                <a:latin typeface="Assistant" pitchFamily="34" charset="0"/>
                <a:ea typeface="Assistant" pitchFamily="34" charset="-122"/>
                <a:cs typeface="Assistant" pitchFamily="34" charset="-120"/>
              </a:rPr>
              <a:t>Édition d'un scénario en graphe  ·  génération IA orientée  ·  scoring assisté  ·  mode parcours joueur</a:t>
            </a:r>
            <a:endParaRPr lang="en-US" sz="1600" dirty="0"/>
          </a:p>
        </p:txBody>
      </p:sp>
      <p:sp>
        <p:nvSpPr>
          <p:cNvPr id="17" name="Shape 15"/>
          <p:cNvSpPr/>
          <p:nvPr/>
        </p:nvSpPr>
        <p:spPr>
          <a:xfrm>
            <a:off x="822960" y="4892040"/>
            <a:ext cx="2514600" cy="868680"/>
          </a:xfrm>
          <a:prstGeom prst="roundRect">
            <a:avLst>
              <a:gd name="adj" fmla="val 10526"/>
            </a:avLst>
          </a:prstGeom>
          <a:solidFill>
            <a:srgbClr val="0A2A66"/>
          </a:solidFill>
          <a:ln w="12700">
            <a:solidFill>
              <a:srgbClr val="385CB0"/>
            </a:solidFill>
            <a:prstDash val="solid"/>
          </a:ln>
        </p:spPr>
      </p:sp>
      <p:sp>
        <p:nvSpPr>
          <p:cNvPr id="18" name="Text 16"/>
          <p:cNvSpPr/>
          <p:nvPr/>
        </p:nvSpPr>
        <p:spPr>
          <a:xfrm>
            <a:off x="960120" y="4937760"/>
            <a:ext cx="2240280" cy="777240"/>
          </a:xfrm>
          <a:prstGeom prst="rect">
            <a:avLst/>
          </a:prstGeom>
          <a:noFill/>
          <a:ln/>
        </p:spPr>
        <p:txBody>
          <a:bodyPr wrap="square" rtlCol="0" anchor="ctr"/>
          <a:lstStyle/>
          <a:p>
            <a:pPr algn="ctr" indent="0" marL="0">
              <a:buNone/>
            </a:pPr>
            <a:r>
              <a:rPr lang="en-US" sz="1200" b="1" dirty="0">
                <a:solidFill>
                  <a:srgbClr val="FFFFFF"/>
                </a:solidFill>
                <a:latin typeface="Assistant" pitchFamily="34" charset="0"/>
                <a:ea typeface="Assistant" pitchFamily="34" charset="-122"/>
                <a:cs typeface="Assistant" pitchFamily="34" charset="-120"/>
              </a:rPr>
              <a:t>1.  Charger un livre &amp; explorer le graphe</a:t>
            </a:r>
            <a:endParaRPr lang="en-US" sz="1200" dirty="0"/>
          </a:p>
        </p:txBody>
      </p:sp>
      <p:sp>
        <p:nvSpPr>
          <p:cNvPr id="19" name="Shape 17"/>
          <p:cNvSpPr/>
          <p:nvPr/>
        </p:nvSpPr>
        <p:spPr>
          <a:xfrm>
            <a:off x="3566160" y="4892040"/>
            <a:ext cx="2514600" cy="868680"/>
          </a:xfrm>
          <a:prstGeom prst="roundRect">
            <a:avLst>
              <a:gd name="adj" fmla="val 10526"/>
            </a:avLst>
          </a:prstGeom>
          <a:solidFill>
            <a:srgbClr val="0A2A66"/>
          </a:solidFill>
          <a:ln w="12700">
            <a:solidFill>
              <a:srgbClr val="385CB0"/>
            </a:solidFill>
            <a:prstDash val="solid"/>
          </a:ln>
        </p:spPr>
      </p:sp>
      <p:sp>
        <p:nvSpPr>
          <p:cNvPr id="20" name="Text 18"/>
          <p:cNvSpPr/>
          <p:nvPr/>
        </p:nvSpPr>
        <p:spPr>
          <a:xfrm>
            <a:off x="3703320" y="4937760"/>
            <a:ext cx="2240280" cy="777240"/>
          </a:xfrm>
          <a:prstGeom prst="rect">
            <a:avLst/>
          </a:prstGeom>
          <a:noFill/>
          <a:ln/>
        </p:spPr>
        <p:txBody>
          <a:bodyPr wrap="square" rtlCol="0" anchor="ctr"/>
          <a:lstStyle/>
          <a:p>
            <a:pPr algn="ctr" indent="0" marL="0">
              <a:buNone/>
            </a:pPr>
            <a:r>
              <a:rPr lang="en-US" sz="1200" b="1" dirty="0">
                <a:solidFill>
                  <a:srgbClr val="FFFFFF"/>
                </a:solidFill>
                <a:latin typeface="Assistant" pitchFamily="34" charset="0"/>
                <a:ea typeface="Assistant" pitchFamily="34" charset="-122"/>
                <a:cs typeface="Assistant" pitchFamily="34" charset="-120"/>
              </a:rPr>
              <a:t>2.  Éditer une réponse + curseurs soft skills</a:t>
            </a:r>
            <a:endParaRPr lang="en-US" sz="1200" dirty="0"/>
          </a:p>
        </p:txBody>
      </p:sp>
      <p:sp>
        <p:nvSpPr>
          <p:cNvPr id="21" name="Shape 19"/>
          <p:cNvSpPr/>
          <p:nvPr/>
        </p:nvSpPr>
        <p:spPr>
          <a:xfrm>
            <a:off x="6309360" y="4892040"/>
            <a:ext cx="2514600" cy="868680"/>
          </a:xfrm>
          <a:prstGeom prst="roundRect">
            <a:avLst>
              <a:gd name="adj" fmla="val 10526"/>
            </a:avLst>
          </a:prstGeom>
          <a:solidFill>
            <a:srgbClr val="0A2A66"/>
          </a:solidFill>
          <a:ln w="12700">
            <a:solidFill>
              <a:srgbClr val="385CB0"/>
            </a:solidFill>
            <a:prstDash val="solid"/>
          </a:ln>
        </p:spPr>
      </p:sp>
      <p:sp>
        <p:nvSpPr>
          <p:cNvPr id="22" name="Text 20"/>
          <p:cNvSpPr/>
          <p:nvPr/>
        </p:nvSpPr>
        <p:spPr>
          <a:xfrm>
            <a:off x="6446520" y="4937760"/>
            <a:ext cx="2240280" cy="777240"/>
          </a:xfrm>
          <a:prstGeom prst="rect">
            <a:avLst/>
          </a:prstGeom>
          <a:noFill/>
          <a:ln/>
        </p:spPr>
        <p:txBody>
          <a:bodyPr wrap="square" rtlCol="0" anchor="ctr"/>
          <a:lstStyle/>
          <a:p>
            <a:pPr algn="ctr" indent="0" marL="0">
              <a:buNone/>
            </a:pPr>
            <a:r>
              <a:rPr lang="en-US" sz="1200" b="1" dirty="0">
                <a:solidFill>
                  <a:srgbClr val="FFFFFF"/>
                </a:solidFill>
                <a:latin typeface="Assistant" pitchFamily="34" charset="0"/>
                <a:ea typeface="Assistant" pitchFamily="34" charset="-122"/>
                <a:cs typeface="Assistant" pitchFamily="34" charset="-120"/>
              </a:rPr>
              <a:t>3.  Générer avec l'IA &amp; valider</a:t>
            </a:r>
            <a:endParaRPr lang="en-US" sz="1200" dirty="0"/>
          </a:p>
        </p:txBody>
      </p:sp>
      <p:sp>
        <p:nvSpPr>
          <p:cNvPr id="23" name="Shape 21"/>
          <p:cNvSpPr/>
          <p:nvPr/>
        </p:nvSpPr>
        <p:spPr>
          <a:xfrm>
            <a:off x="9052560" y="4892040"/>
            <a:ext cx="2514600" cy="868680"/>
          </a:xfrm>
          <a:prstGeom prst="roundRect">
            <a:avLst>
              <a:gd name="adj" fmla="val 10526"/>
            </a:avLst>
          </a:prstGeom>
          <a:solidFill>
            <a:srgbClr val="0A2A66"/>
          </a:solidFill>
          <a:ln w="12700">
            <a:solidFill>
              <a:srgbClr val="385CB0"/>
            </a:solidFill>
            <a:prstDash val="solid"/>
          </a:ln>
        </p:spPr>
      </p:sp>
      <p:sp>
        <p:nvSpPr>
          <p:cNvPr id="24" name="Text 22"/>
          <p:cNvSpPr/>
          <p:nvPr/>
        </p:nvSpPr>
        <p:spPr>
          <a:xfrm>
            <a:off x="9189720" y="4937760"/>
            <a:ext cx="2240280" cy="777240"/>
          </a:xfrm>
          <a:prstGeom prst="rect">
            <a:avLst/>
          </a:prstGeom>
          <a:noFill/>
          <a:ln/>
        </p:spPr>
        <p:txBody>
          <a:bodyPr wrap="square" rtlCol="0" anchor="ctr"/>
          <a:lstStyle/>
          <a:p>
            <a:pPr algn="ctr" indent="0" marL="0">
              <a:buNone/>
            </a:pPr>
            <a:r>
              <a:rPr lang="en-US" sz="1200" b="1" dirty="0">
                <a:solidFill>
                  <a:srgbClr val="FFFFFF"/>
                </a:solidFill>
                <a:latin typeface="Assistant" pitchFamily="34" charset="0"/>
                <a:ea typeface="Assistant" pitchFamily="34" charset="-122"/>
                <a:cs typeface="Assistant" pitchFamily="34" charset="-120"/>
              </a:rPr>
              <a:t>4.  Tester en mode parcours joueur</a:t>
            </a:r>
            <a:endParaRPr lang="en-US" sz="1200" dirty="0"/>
          </a:p>
        </p:txBody>
      </p:sp>
      <p:sp>
        <p:nvSpPr>
          <p:cNvPr id="25" name="Text 23"/>
          <p:cNvSpPr/>
          <p:nvPr/>
        </p:nvSpPr>
        <p:spPr>
          <a:xfrm>
            <a:off x="822960" y="5943600"/>
            <a:ext cx="10515600" cy="320040"/>
          </a:xfrm>
          <a:prstGeom prst="rect">
            <a:avLst/>
          </a:prstGeom>
          <a:noFill/>
          <a:ln/>
        </p:spPr>
        <p:txBody>
          <a:bodyPr wrap="square" rtlCol="0" anchor="ctr"/>
          <a:lstStyle/>
          <a:p>
            <a:pPr algn="ctr" indent="0" marL="0">
              <a:buNone/>
            </a:pPr>
            <a:r>
              <a:rPr lang="en-US" sz="1150" i="1" dirty="0">
                <a:solidFill>
                  <a:srgbClr val="76A3EE"/>
                </a:solidFill>
                <a:latin typeface="Assistant" pitchFamily="34" charset="0"/>
                <a:ea typeface="Assistant" pitchFamily="34" charset="-122"/>
                <a:cs typeface="Assistant" pitchFamily="34" charset="-120"/>
              </a:rPr>
              <a:t>Plan B si pas de live : captures d'écran de secours intégrées.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1B58"/>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sp>
      <p:sp>
        <p:nvSpPr>
          <p:cNvPr id="3" name="Shape 1"/>
          <p:cNvSpPr/>
          <p:nvPr/>
        </p:nvSpPr>
        <p:spPr>
          <a:xfrm>
            <a:off x="10789920" y="4937760"/>
            <a:ext cx="2743200" cy="2743200"/>
          </a:xfrm>
          <a:prstGeom prst="ellipse">
            <a:avLst/>
          </a:prstGeom>
          <a:solidFill>
            <a:srgbClr val="385CB0"/>
          </a:solidFill>
          <a:ln/>
        </p:spPr>
      </p:sp>
      <p:sp>
        <p:nvSpPr>
          <p:cNvPr id="4" name="Shape 2"/>
          <p:cNvSpPr/>
          <p:nvPr/>
        </p:nvSpPr>
        <p:spPr>
          <a:xfrm>
            <a:off x="-1371600" y="-1371600"/>
            <a:ext cx="2743200" cy="2743200"/>
          </a:xfrm>
          <a:prstGeom prst="ellipse">
            <a:avLst/>
          </a:prstGeom>
          <a:solidFill>
            <a:srgbClr val="385CB0"/>
          </a:solidFill>
          <a:ln/>
        </p:spPr>
      </p:sp>
      <p:sp>
        <p:nvSpPr>
          <p:cNvPr id="5" name="Shape 3"/>
          <p:cNvSpPr/>
          <p:nvPr/>
        </p:nvSpPr>
        <p:spPr>
          <a:xfrm>
            <a:off x="11276381" y="822960"/>
            <a:ext cx="124358" cy="365760"/>
          </a:xfrm>
          <a:prstGeom prst="roundRect">
            <a:avLst>
              <a:gd name="adj" fmla="val 28000"/>
            </a:avLst>
          </a:prstGeom>
          <a:solidFill>
            <a:srgbClr val="76A3EE"/>
          </a:solidFill>
          <a:ln/>
        </p:spPr>
      </p:sp>
      <p:sp>
        <p:nvSpPr>
          <p:cNvPr id="6" name="Shape 4"/>
          <p:cNvSpPr/>
          <p:nvPr/>
        </p:nvSpPr>
        <p:spPr>
          <a:xfrm>
            <a:off x="11155680" y="943661"/>
            <a:ext cx="365760" cy="124358"/>
          </a:xfrm>
          <a:prstGeom prst="roundRect">
            <a:avLst>
              <a:gd name="adj" fmla="val 28000"/>
            </a:avLst>
          </a:prstGeom>
          <a:solidFill>
            <a:srgbClr val="76A3EE"/>
          </a:solidFill>
          <a:ln/>
        </p:spPr>
      </p:sp>
      <p:sp>
        <p:nvSpPr>
          <p:cNvPr id="7" name="Shape 5"/>
          <p:cNvSpPr/>
          <p:nvPr/>
        </p:nvSpPr>
        <p:spPr>
          <a:xfrm>
            <a:off x="822046" y="5394960"/>
            <a:ext cx="93269" cy="274320"/>
          </a:xfrm>
          <a:prstGeom prst="roundRect">
            <a:avLst>
              <a:gd name="adj" fmla="val 28000"/>
            </a:avLst>
          </a:prstGeom>
          <a:solidFill>
            <a:srgbClr val="76A3EE"/>
          </a:solidFill>
          <a:ln/>
        </p:spPr>
      </p:sp>
      <p:sp>
        <p:nvSpPr>
          <p:cNvPr id="8" name="Shape 6"/>
          <p:cNvSpPr/>
          <p:nvPr/>
        </p:nvSpPr>
        <p:spPr>
          <a:xfrm>
            <a:off x="731520" y="5485486"/>
            <a:ext cx="274320" cy="93269"/>
          </a:xfrm>
          <a:prstGeom prst="roundRect">
            <a:avLst>
              <a:gd name="adj" fmla="val 28000"/>
            </a:avLst>
          </a:prstGeom>
          <a:solidFill>
            <a:srgbClr val="76A3EE"/>
          </a:solidFill>
          <a:ln/>
        </p:spPr>
      </p:sp>
      <p:sp>
        <p:nvSpPr>
          <p:cNvPr id="9" name="Text 7"/>
          <p:cNvSpPr/>
          <p:nvPr/>
        </p:nvSpPr>
        <p:spPr>
          <a:xfrm>
            <a:off x="822960" y="640080"/>
            <a:ext cx="10058400" cy="320040"/>
          </a:xfrm>
          <a:prstGeom prst="rect">
            <a:avLst/>
          </a:prstGeom>
          <a:noFill/>
          <a:ln/>
        </p:spPr>
        <p:txBody>
          <a:bodyPr wrap="square" rtlCol="0" anchor="ctr"/>
          <a:lstStyle/>
          <a:p>
            <a:pPr indent="0" marL="0">
              <a:buNone/>
            </a:pPr>
            <a:r>
              <a:rPr lang="en-US" sz="1300" b="1" spc="300" kern="0" dirty="0">
                <a:solidFill>
                  <a:srgbClr val="76A3EE"/>
                </a:solidFill>
                <a:latin typeface="Assistant" pitchFamily="34" charset="0"/>
                <a:ea typeface="Assistant" pitchFamily="34" charset="-122"/>
                <a:cs typeface="Assistant" pitchFamily="34" charset="-120"/>
              </a:rPr>
              <a:t>RÉSULTATS · ÉVALUATION IA</a:t>
            </a:r>
            <a:endParaRPr lang="en-US" sz="1300" dirty="0"/>
          </a:p>
        </p:txBody>
      </p:sp>
      <p:sp>
        <p:nvSpPr>
          <p:cNvPr id="10" name="Text 8"/>
          <p:cNvSpPr/>
          <p:nvPr/>
        </p:nvSpPr>
        <p:spPr>
          <a:xfrm>
            <a:off x="822960" y="960120"/>
            <a:ext cx="10515600" cy="640080"/>
          </a:xfrm>
          <a:prstGeom prst="rect">
            <a:avLst/>
          </a:prstGeom>
          <a:noFill/>
          <a:ln/>
        </p:spPr>
        <p:txBody>
          <a:bodyPr wrap="square" rtlCol="0" anchor="ctr"/>
          <a:lstStyle/>
          <a:p>
            <a:pPr indent="0" marL="0">
              <a:buNone/>
            </a:pPr>
            <a:r>
              <a:rPr lang="en-US" sz="2800" b="1" dirty="0">
                <a:solidFill>
                  <a:srgbClr val="FFFFFF"/>
                </a:solidFill>
                <a:latin typeface="Archivo" pitchFamily="34" charset="0"/>
                <a:ea typeface="Archivo" pitchFamily="34" charset="-122"/>
                <a:cs typeface="Archivo" pitchFamily="34" charset="-120"/>
              </a:rPr>
              <a:t>Génération orientée : 100 % de conformité</a:t>
            </a:r>
            <a:endParaRPr lang="en-US" sz="2800" dirty="0"/>
          </a:p>
        </p:txBody>
      </p:sp>
      <p:sp>
        <p:nvSpPr>
          <p:cNvPr id="11" name="Shape 9"/>
          <p:cNvSpPr/>
          <p:nvPr/>
        </p:nvSpPr>
        <p:spPr>
          <a:xfrm>
            <a:off x="1019556" y="2331720"/>
            <a:ext cx="155448" cy="457200"/>
          </a:xfrm>
          <a:prstGeom prst="roundRect">
            <a:avLst>
              <a:gd name="adj" fmla="val 28000"/>
            </a:avLst>
          </a:prstGeom>
          <a:solidFill>
            <a:srgbClr val="76A3EE"/>
          </a:solidFill>
          <a:ln/>
        </p:spPr>
      </p:sp>
      <p:sp>
        <p:nvSpPr>
          <p:cNvPr id="12" name="Shape 10"/>
          <p:cNvSpPr/>
          <p:nvPr/>
        </p:nvSpPr>
        <p:spPr>
          <a:xfrm>
            <a:off x="868680" y="2482596"/>
            <a:ext cx="457200" cy="155448"/>
          </a:xfrm>
          <a:prstGeom prst="roundRect">
            <a:avLst>
              <a:gd name="adj" fmla="val 28000"/>
            </a:avLst>
          </a:prstGeom>
          <a:solidFill>
            <a:srgbClr val="76A3EE"/>
          </a:solidFill>
          <a:ln/>
        </p:spPr>
      </p:sp>
      <p:sp>
        <p:nvSpPr>
          <p:cNvPr id="13" name="Text 11"/>
          <p:cNvSpPr/>
          <p:nvPr/>
        </p:nvSpPr>
        <p:spPr>
          <a:xfrm>
            <a:off x="822960" y="2788920"/>
            <a:ext cx="3291840" cy="914400"/>
          </a:xfrm>
          <a:prstGeom prst="rect">
            <a:avLst/>
          </a:prstGeom>
          <a:noFill/>
          <a:ln/>
        </p:spPr>
        <p:txBody>
          <a:bodyPr wrap="square" rtlCol="0" anchor="ctr"/>
          <a:lstStyle/>
          <a:p>
            <a:pPr indent="0" marL="0">
              <a:buNone/>
            </a:pPr>
            <a:r>
              <a:rPr lang="en-US" sz="5000" b="1" dirty="0">
                <a:solidFill>
                  <a:srgbClr val="FFFFFF"/>
                </a:solidFill>
                <a:latin typeface="Archivo" pitchFamily="34" charset="0"/>
                <a:ea typeface="Archivo" pitchFamily="34" charset="-122"/>
                <a:cs typeface="Archivo" pitchFamily="34" charset="-120"/>
              </a:rPr>
              <a:t>100 %</a:t>
            </a:r>
            <a:endParaRPr lang="en-US" sz="5000" dirty="0"/>
          </a:p>
        </p:txBody>
      </p:sp>
      <p:sp>
        <p:nvSpPr>
          <p:cNvPr id="14" name="Text 12"/>
          <p:cNvSpPr/>
          <p:nvPr/>
        </p:nvSpPr>
        <p:spPr>
          <a:xfrm>
            <a:off x="868680" y="3794760"/>
            <a:ext cx="3200400" cy="731520"/>
          </a:xfrm>
          <a:prstGeom prst="rect">
            <a:avLst/>
          </a:prstGeom>
          <a:noFill/>
          <a:ln/>
        </p:spPr>
        <p:txBody>
          <a:bodyPr wrap="square" rtlCol="0" anchor="ctr"/>
          <a:lstStyle/>
          <a:p>
            <a:pPr indent="0" marL="0">
              <a:lnSpc>
                <a:spcPct val="105000"/>
              </a:lnSpc>
              <a:buNone/>
            </a:pPr>
            <a:r>
              <a:rPr lang="en-US" sz="1400" dirty="0">
                <a:solidFill>
                  <a:srgbClr val="E3EDFF"/>
                </a:solidFill>
                <a:latin typeface="Assistant" pitchFamily="34" charset="0"/>
                <a:ea typeface="Assistant" pitchFamily="34" charset="-122"/>
                <a:cs typeface="Assistant" pitchFamily="34" charset="-120"/>
              </a:rPr>
              <a:t>Conformité ±1 aux scores cibles</a:t>
            </a:r>
            <a:endParaRPr lang="en-US" sz="1400" dirty="0"/>
          </a:p>
        </p:txBody>
      </p:sp>
      <p:sp>
        <p:nvSpPr>
          <p:cNvPr id="15" name="Shape 13"/>
          <p:cNvSpPr/>
          <p:nvPr/>
        </p:nvSpPr>
        <p:spPr>
          <a:xfrm>
            <a:off x="4631436" y="2331720"/>
            <a:ext cx="155448" cy="457200"/>
          </a:xfrm>
          <a:prstGeom prst="roundRect">
            <a:avLst>
              <a:gd name="adj" fmla="val 28000"/>
            </a:avLst>
          </a:prstGeom>
          <a:solidFill>
            <a:srgbClr val="76A3EE"/>
          </a:solidFill>
          <a:ln/>
        </p:spPr>
      </p:sp>
      <p:sp>
        <p:nvSpPr>
          <p:cNvPr id="16" name="Shape 14"/>
          <p:cNvSpPr/>
          <p:nvPr/>
        </p:nvSpPr>
        <p:spPr>
          <a:xfrm>
            <a:off x="4480560" y="2482596"/>
            <a:ext cx="457200" cy="155448"/>
          </a:xfrm>
          <a:prstGeom prst="roundRect">
            <a:avLst>
              <a:gd name="adj" fmla="val 28000"/>
            </a:avLst>
          </a:prstGeom>
          <a:solidFill>
            <a:srgbClr val="76A3EE"/>
          </a:solidFill>
          <a:ln/>
        </p:spPr>
      </p:sp>
      <p:sp>
        <p:nvSpPr>
          <p:cNvPr id="17" name="Text 15"/>
          <p:cNvSpPr/>
          <p:nvPr/>
        </p:nvSpPr>
        <p:spPr>
          <a:xfrm>
            <a:off x="4434840" y="2788920"/>
            <a:ext cx="3291840" cy="914400"/>
          </a:xfrm>
          <a:prstGeom prst="rect">
            <a:avLst/>
          </a:prstGeom>
          <a:noFill/>
          <a:ln/>
        </p:spPr>
        <p:txBody>
          <a:bodyPr wrap="square" rtlCol="0" anchor="ctr"/>
          <a:lstStyle/>
          <a:p>
            <a:pPr indent="0" marL="0">
              <a:buNone/>
            </a:pPr>
            <a:r>
              <a:rPr lang="en-US" sz="5000" b="1" dirty="0">
                <a:solidFill>
                  <a:srgbClr val="FFFFFF"/>
                </a:solidFill>
                <a:latin typeface="Archivo" pitchFamily="34" charset="0"/>
                <a:ea typeface="Archivo" pitchFamily="34" charset="-122"/>
                <a:cs typeface="Archivo" pitchFamily="34" charset="-120"/>
              </a:rPr>
              <a:t>50 / 50</a:t>
            </a:r>
            <a:endParaRPr lang="en-US" sz="5000" dirty="0"/>
          </a:p>
        </p:txBody>
      </p:sp>
      <p:sp>
        <p:nvSpPr>
          <p:cNvPr id="18" name="Text 16"/>
          <p:cNvSpPr/>
          <p:nvPr/>
        </p:nvSpPr>
        <p:spPr>
          <a:xfrm>
            <a:off x="4480560" y="3794760"/>
            <a:ext cx="3200400" cy="731520"/>
          </a:xfrm>
          <a:prstGeom prst="rect">
            <a:avLst/>
          </a:prstGeom>
          <a:noFill/>
          <a:ln/>
        </p:spPr>
        <p:txBody>
          <a:bodyPr wrap="square" rtlCol="0" anchor="ctr"/>
          <a:lstStyle/>
          <a:p>
            <a:pPr indent="0" marL="0">
              <a:lnSpc>
                <a:spcPct val="105000"/>
              </a:lnSpc>
              <a:buNone/>
            </a:pPr>
            <a:r>
              <a:rPr lang="en-US" sz="1400" dirty="0">
                <a:solidFill>
                  <a:srgbClr val="E3EDFF"/>
                </a:solidFill>
                <a:latin typeface="Assistant" pitchFamily="34" charset="0"/>
                <a:ea typeface="Assistant" pitchFamily="34" charset="-122"/>
                <a:cs typeface="Assistant" pitchFamily="34" charset="-120"/>
              </a:rPr>
              <a:t>Générations réussies (0 erreur LLM)</a:t>
            </a:r>
            <a:endParaRPr lang="en-US" sz="1400" dirty="0"/>
          </a:p>
        </p:txBody>
      </p:sp>
      <p:sp>
        <p:nvSpPr>
          <p:cNvPr id="19" name="Shape 17"/>
          <p:cNvSpPr/>
          <p:nvPr/>
        </p:nvSpPr>
        <p:spPr>
          <a:xfrm>
            <a:off x="8243316" y="2331720"/>
            <a:ext cx="155448" cy="457200"/>
          </a:xfrm>
          <a:prstGeom prst="roundRect">
            <a:avLst>
              <a:gd name="adj" fmla="val 28000"/>
            </a:avLst>
          </a:prstGeom>
          <a:solidFill>
            <a:srgbClr val="76A3EE"/>
          </a:solidFill>
          <a:ln/>
        </p:spPr>
      </p:sp>
      <p:sp>
        <p:nvSpPr>
          <p:cNvPr id="20" name="Shape 18"/>
          <p:cNvSpPr/>
          <p:nvPr/>
        </p:nvSpPr>
        <p:spPr>
          <a:xfrm>
            <a:off x="8092440" y="2482596"/>
            <a:ext cx="457200" cy="155448"/>
          </a:xfrm>
          <a:prstGeom prst="roundRect">
            <a:avLst>
              <a:gd name="adj" fmla="val 28000"/>
            </a:avLst>
          </a:prstGeom>
          <a:solidFill>
            <a:srgbClr val="76A3EE"/>
          </a:solidFill>
          <a:ln/>
        </p:spPr>
      </p:sp>
      <p:sp>
        <p:nvSpPr>
          <p:cNvPr id="21" name="Text 19"/>
          <p:cNvSpPr/>
          <p:nvPr/>
        </p:nvSpPr>
        <p:spPr>
          <a:xfrm>
            <a:off x="8046720" y="2788920"/>
            <a:ext cx="3291840" cy="914400"/>
          </a:xfrm>
          <a:prstGeom prst="rect">
            <a:avLst/>
          </a:prstGeom>
          <a:noFill/>
          <a:ln/>
        </p:spPr>
        <p:txBody>
          <a:bodyPr wrap="square" rtlCol="0" anchor="ctr"/>
          <a:lstStyle/>
          <a:p>
            <a:pPr indent="0" marL="0">
              <a:buNone/>
            </a:pPr>
            <a:r>
              <a:rPr lang="en-US" sz="5000" b="1" dirty="0">
                <a:solidFill>
                  <a:srgbClr val="FFFFFF"/>
                </a:solidFill>
                <a:latin typeface="Archivo" pitchFamily="34" charset="0"/>
                <a:ea typeface="Archivo" pitchFamily="34" charset="-122"/>
                <a:cs typeface="Archivo" pitchFamily="34" charset="-120"/>
              </a:rPr>
              <a:t>4,6 s</a:t>
            </a:r>
            <a:endParaRPr lang="en-US" sz="5000" dirty="0"/>
          </a:p>
        </p:txBody>
      </p:sp>
      <p:sp>
        <p:nvSpPr>
          <p:cNvPr id="22" name="Text 20"/>
          <p:cNvSpPr/>
          <p:nvPr/>
        </p:nvSpPr>
        <p:spPr>
          <a:xfrm>
            <a:off x="8092440" y="3794760"/>
            <a:ext cx="3200400" cy="731520"/>
          </a:xfrm>
          <a:prstGeom prst="rect">
            <a:avLst/>
          </a:prstGeom>
          <a:noFill/>
          <a:ln/>
        </p:spPr>
        <p:txBody>
          <a:bodyPr wrap="square" rtlCol="0" anchor="ctr"/>
          <a:lstStyle/>
          <a:p>
            <a:pPr indent="0" marL="0">
              <a:lnSpc>
                <a:spcPct val="105000"/>
              </a:lnSpc>
              <a:buNone/>
            </a:pPr>
            <a:r>
              <a:rPr lang="en-US" sz="1400" dirty="0">
                <a:solidFill>
                  <a:srgbClr val="E3EDFF"/>
                </a:solidFill>
                <a:latin typeface="Assistant" pitchFamily="34" charset="0"/>
                <a:ea typeface="Assistant" pitchFamily="34" charset="-122"/>
                <a:cs typeface="Assistant" pitchFamily="34" charset="-120"/>
              </a:rPr>
              <a:t>Temps moyen par génération</a:t>
            </a:r>
            <a:endParaRPr lang="en-US" sz="1400" dirty="0"/>
          </a:p>
        </p:txBody>
      </p:sp>
      <p:sp>
        <p:nvSpPr>
          <p:cNvPr id="23" name="Shape 21"/>
          <p:cNvSpPr/>
          <p:nvPr/>
        </p:nvSpPr>
        <p:spPr>
          <a:xfrm>
            <a:off x="822960" y="4892040"/>
            <a:ext cx="10561320" cy="1280160"/>
          </a:xfrm>
          <a:prstGeom prst="roundRect">
            <a:avLst>
              <a:gd name="adj" fmla="val 7143"/>
            </a:avLst>
          </a:prstGeom>
          <a:solidFill>
            <a:srgbClr val="0A2A66"/>
          </a:solidFill>
          <a:ln/>
        </p:spPr>
      </p:sp>
      <p:sp>
        <p:nvSpPr>
          <p:cNvPr id="24" name="Text 22"/>
          <p:cNvSpPr/>
          <p:nvPr/>
        </p:nvSpPr>
        <p:spPr>
          <a:xfrm>
            <a:off x="1097280" y="5029200"/>
            <a:ext cx="10058400" cy="1005840"/>
          </a:xfrm>
          <a:prstGeom prst="rect">
            <a:avLst/>
          </a:prstGeom>
          <a:noFill/>
          <a:ln/>
        </p:spPr>
        <p:txBody>
          <a:bodyPr wrap="square" rtlCol="0" anchor="ctr"/>
          <a:lstStyle/>
          <a:p>
            <a:pPr indent="0" marL="0">
              <a:lnSpc>
                <a:spcPct val="120000"/>
              </a:lnSpc>
              <a:buNone/>
            </a:pPr>
            <a:r>
              <a:rPr lang="en-US" sz="1350" dirty="0">
                <a:solidFill>
                  <a:srgbClr val="E3EDFF"/>
                </a:solidFill>
                <a:latin typeface="Assistant" pitchFamily="34" charset="0"/>
                <a:ea typeface="Assistant" pitchFamily="34" charset="-122"/>
                <a:cs typeface="Assistant" pitchFamily="34" charset="-120"/>
              </a:rPr>
              <a:t>Protocole : 50 générations · 10 interactions × 5 profils pédagogiques (OpenAI gpt-4.1-mini). Les profils « problématiques » produisent des formulations froides ; les « exemplaires », des réponses attentives. La validation humaine reste indispensable.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RÉSULTATS · ÉVALUATION IA</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Scoring assisté : MAE de 0,77 / 7 niveaux</a:t>
            </a:r>
            <a:endParaRPr lang="en-US" sz="2800" dirty="0"/>
          </a:p>
        </p:txBody>
      </p:sp>
      <p:sp>
        <p:nvSpPr>
          <p:cNvPr id="13" name="Text 11"/>
          <p:cNvSpPr/>
          <p:nvPr/>
        </p:nvSpPr>
        <p:spPr>
          <a:xfrm>
            <a:off x="731520" y="182880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Collaboration interpro.</a:t>
            </a:r>
            <a:endParaRPr lang="en-US" sz="1250" dirty="0"/>
          </a:p>
        </p:txBody>
      </p:sp>
      <p:sp>
        <p:nvSpPr>
          <p:cNvPr id="14" name="Shape 12"/>
          <p:cNvSpPr/>
          <p:nvPr/>
        </p:nvSpPr>
        <p:spPr>
          <a:xfrm>
            <a:off x="3474720" y="1911096"/>
            <a:ext cx="356616" cy="292608"/>
          </a:xfrm>
          <a:prstGeom prst="roundRect">
            <a:avLst>
              <a:gd name="adj" fmla="val 9375"/>
            </a:avLst>
          </a:prstGeom>
          <a:solidFill>
            <a:srgbClr val="0097A7"/>
          </a:solidFill>
          <a:ln/>
        </p:spPr>
      </p:sp>
      <p:sp>
        <p:nvSpPr>
          <p:cNvPr id="15" name="Text 13"/>
          <p:cNvSpPr/>
          <p:nvPr/>
        </p:nvSpPr>
        <p:spPr>
          <a:xfrm>
            <a:off x="3877056" y="184708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0.13</a:t>
            </a:r>
            <a:endParaRPr lang="en-US" sz="1250" dirty="0"/>
          </a:p>
        </p:txBody>
      </p:sp>
      <p:sp>
        <p:nvSpPr>
          <p:cNvPr id="16" name="Text 14"/>
          <p:cNvSpPr/>
          <p:nvPr/>
        </p:nvSpPr>
        <p:spPr>
          <a:xfrm>
            <a:off x="731520" y="237744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Régulation émotionnelle</a:t>
            </a:r>
            <a:endParaRPr lang="en-US" sz="1250" dirty="0"/>
          </a:p>
        </p:txBody>
      </p:sp>
      <p:sp>
        <p:nvSpPr>
          <p:cNvPr id="17" name="Shape 15"/>
          <p:cNvSpPr/>
          <p:nvPr/>
        </p:nvSpPr>
        <p:spPr>
          <a:xfrm>
            <a:off x="3474720" y="2459736"/>
            <a:ext cx="1645920" cy="292608"/>
          </a:xfrm>
          <a:prstGeom prst="roundRect">
            <a:avLst>
              <a:gd name="adj" fmla="val 9375"/>
            </a:avLst>
          </a:prstGeom>
          <a:solidFill>
            <a:srgbClr val="0097A7"/>
          </a:solidFill>
          <a:ln/>
        </p:spPr>
      </p:sp>
      <p:sp>
        <p:nvSpPr>
          <p:cNvPr id="18" name="Text 16"/>
          <p:cNvSpPr/>
          <p:nvPr/>
        </p:nvSpPr>
        <p:spPr>
          <a:xfrm>
            <a:off x="5166360" y="239572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0.60</a:t>
            </a:r>
            <a:endParaRPr lang="en-US" sz="1250" dirty="0"/>
          </a:p>
        </p:txBody>
      </p:sp>
      <p:sp>
        <p:nvSpPr>
          <p:cNvPr id="19" name="Text 17"/>
          <p:cNvSpPr/>
          <p:nvPr/>
        </p:nvSpPr>
        <p:spPr>
          <a:xfrm>
            <a:off x="731520" y="292608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Respect &amp; dignité</a:t>
            </a:r>
            <a:endParaRPr lang="en-US" sz="1250" dirty="0"/>
          </a:p>
        </p:txBody>
      </p:sp>
      <p:sp>
        <p:nvSpPr>
          <p:cNvPr id="20" name="Shape 18"/>
          <p:cNvSpPr/>
          <p:nvPr/>
        </p:nvSpPr>
        <p:spPr>
          <a:xfrm>
            <a:off x="3474720" y="3008376"/>
            <a:ext cx="1837944" cy="292608"/>
          </a:xfrm>
          <a:prstGeom prst="roundRect">
            <a:avLst>
              <a:gd name="adj" fmla="val 9375"/>
            </a:avLst>
          </a:prstGeom>
          <a:solidFill>
            <a:srgbClr val="0097A7"/>
          </a:solidFill>
          <a:ln/>
        </p:spPr>
      </p:sp>
      <p:sp>
        <p:nvSpPr>
          <p:cNvPr id="21" name="Text 19"/>
          <p:cNvSpPr/>
          <p:nvPr/>
        </p:nvSpPr>
        <p:spPr>
          <a:xfrm>
            <a:off x="5358384" y="294436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0.67</a:t>
            </a:r>
            <a:endParaRPr lang="en-US" sz="1250" dirty="0"/>
          </a:p>
        </p:txBody>
      </p:sp>
      <p:sp>
        <p:nvSpPr>
          <p:cNvPr id="22" name="Text 20"/>
          <p:cNvSpPr/>
          <p:nvPr/>
        </p:nvSpPr>
        <p:spPr>
          <a:xfrm>
            <a:off x="731520" y="347472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Clarté communication</a:t>
            </a:r>
            <a:endParaRPr lang="en-US" sz="1250" dirty="0"/>
          </a:p>
        </p:txBody>
      </p:sp>
      <p:sp>
        <p:nvSpPr>
          <p:cNvPr id="23" name="Shape 21"/>
          <p:cNvSpPr/>
          <p:nvPr/>
        </p:nvSpPr>
        <p:spPr>
          <a:xfrm>
            <a:off x="3474720" y="3557016"/>
            <a:ext cx="2002536" cy="292608"/>
          </a:xfrm>
          <a:prstGeom prst="roundRect">
            <a:avLst>
              <a:gd name="adj" fmla="val 9375"/>
            </a:avLst>
          </a:prstGeom>
          <a:solidFill>
            <a:srgbClr val="385CB0"/>
          </a:solidFill>
          <a:ln/>
        </p:spPr>
      </p:sp>
      <p:sp>
        <p:nvSpPr>
          <p:cNvPr id="24" name="Text 22"/>
          <p:cNvSpPr/>
          <p:nvPr/>
        </p:nvSpPr>
        <p:spPr>
          <a:xfrm>
            <a:off x="5522976" y="349300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0.73</a:t>
            </a:r>
            <a:endParaRPr lang="en-US" sz="1250" dirty="0"/>
          </a:p>
        </p:txBody>
      </p:sp>
      <p:sp>
        <p:nvSpPr>
          <p:cNvPr id="25" name="Text 23"/>
          <p:cNvSpPr/>
          <p:nvPr/>
        </p:nvSpPr>
        <p:spPr>
          <a:xfrm>
            <a:off x="731520" y="402336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Frontières pro.</a:t>
            </a:r>
            <a:endParaRPr lang="en-US" sz="1250" dirty="0"/>
          </a:p>
        </p:txBody>
      </p:sp>
      <p:sp>
        <p:nvSpPr>
          <p:cNvPr id="26" name="Shape 24"/>
          <p:cNvSpPr/>
          <p:nvPr/>
        </p:nvSpPr>
        <p:spPr>
          <a:xfrm>
            <a:off x="3474720" y="4105656"/>
            <a:ext cx="2386584" cy="292608"/>
          </a:xfrm>
          <a:prstGeom prst="roundRect">
            <a:avLst>
              <a:gd name="adj" fmla="val 9375"/>
            </a:avLst>
          </a:prstGeom>
          <a:solidFill>
            <a:srgbClr val="385CB0"/>
          </a:solidFill>
          <a:ln/>
        </p:spPr>
      </p:sp>
      <p:sp>
        <p:nvSpPr>
          <p:cNvPr id="27" name="Text 25"/>
          <p:cNvSpPr/>
          <p:nvPr/>
        </p:nvSpPr>
        <p:spPr>
          <a:xfrm>
            <a:off x="5907024" y="404164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0.87</a:t>
            </a:r>
            <a:endParaRPr lang="en-US" sz="1250" dirty="0"/>
          </a:p>
        </p:txBody>
      </p:sp>
      <p:sp>
        <p:nvSpPr>
          <p:cNvPr id="28" name="Text 26"/>
          <p:cNvSpPr/>
          <p:nvPr/>
        </p:nvSpPr>
        <p:spPr>
          <a:xfrm>
            <a:off x="731520" y="457200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Compassion</a:t>
            </a:r>
            <a:endParaRPr lang="en-US" sz="1250" dirty="0"/>
          </a:p>
        </p:txBody>
      </p:sp>
      <p:sp>
        <p:nvSpPr>
          <p:cNvPr id="29" name="Shape 27"/>
          <p:cNvSpPr/>
          <p:nvPr/>
        </p:nvSpPr>
        <p:spPr>
          <a:xfrm>
            <a:off x="3474720" y="4654296"/>
            <a:ext cx="2935224" cy="292608"/>
          </a:xfrm>
          <a:prstGeom prst="roundRect">
            <a:avLst>
              <a:gd name="adj" fmla="val 9375"/>
            </a:avLst>
          </a:prstGeom>
          <a:solidFill>
            <a:srgbClr val="76A3EE"/>
          </a:solidFill>
          <a:ln/>
        </p:spPr>
      </p:sp>
      <p:sp>
        <p:nvSpPr>
          <p:cNvPr id="30" name="Text 28"/>
          <p:cNvSpPr/>
          <p:nvPr/>
        </p:nvSpPr>
        <p:spPr>
          <a:xfrm>
            <a:off x="6455664" y="459028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1.07</a:t>
            </a:r>
            <a:endParaRPr lang="en-US" sz="1250" dirty="0"/>
          </a:p>
        </p:txBody>
      </p:sp>
      <p:sp>
        <p:nvSpPr>
          <p:cNvPr id="31" name="Text 29"/>
          <p:cNvSpPr/>
          <p:nvPr/>
        </p:nvSpPr>
        <p:spPr>
          <a:xfrm>
            <a:off x="731520" y="5120640"/>
            <a:ext cx="2606040" cy="457200"/>
          </a:xfrm>
          <a:prstGeom prst="rect">
            <a:avLst/>
          </a:prstGeom>
          <a:noFill/>
          <a:ln/>
        </p:spPr>
        <p:txBody>
          <a:bodyPr wrap="square" rtlCol="0" anchor="ctr"/>
          <a:lstStyle/>
          <a:p>
            <a:pPr algn="r" indent="0" marL="0">
              <a:buNone/>
            </a:pPr>
            <a:r>
              <a:rPr lang="en-US" sz="1250" dirty="0">
                <a:solidFill>
                  <a:srgbClr val="33415C"/>
                </a:solidFill>
                <a:latin typeface="Assistant" pitchFamily="34" charset="0"/>
                <a:ea typeface="Assistant" pitchFamily="34" charset="-122"/>
                <a:cs typeface="Assistant" pitchFamily="34" charset="-120"/>
              </a:rPr>
              <a:t>Empathie</a:t>
            </a:r>
            <a:endParaRPr lang="en-US" sz="1250" dirty="0"/>
          </a:p>
        </p:txBody>
      </p:sp>
      <p:sp>
        <p:nvSpPr>
          <p:cNvPr id="32" name="Shape 30"/>
          <p:cNvSpPr/>
          <p:nvPr/>
        </p:nvSpPr>
        <p:spPr>
          <a:xfrm>
            <a:off x="3474720" y="5202936"/>
            <a:ext cx="3648456" cy="292608"/>
          </a:xfrm>
          <a:prstGeom prst="roundRect">
            <a:avLst>
              <a:gd name="adj" fmla="val 9375"/>
            </a:avLst>
          </a:prstGeom>
          <a:solidFill>
            <a:srgbClr val="76A3EE"/>
          </a:solidFill>
          <a:ln/>
        </p:spPr>
      </p:sp>
      <p:sp>
        <p:nvSpPr>
          <p:cNvPr id="33" name="Text 31"/>
          <p:cNvSpPr/>
          <p:nvPr/>
        </p:nvSpPr>
        <p:spPr>
          <a:xfrm>
            <a:off x="7168896" y="5138928"/>
            <a:ext cx="731520" cy="457200"/>
          </a:xfrm>
          <a:prstGeom prst="rect">
            <a:avLst/>
          </a:prstGeom>
          <a:noFill/>
          <a:ln/>
        </p:spPr>
        <p:txBody>
          <a:bodyPr wrap="square" rtlCol="0" anchor="ctr"/>
          <a:lstStyle/>
          <a:p>
            <a:pPr indent="0" marL="0">
              <a:buNone/>
            </a:pPr>
            <a:r>
              <a:rPr lang="en-US" sz="1250" b="1" dirty="0">
                <a:solidFill>
                  <a:srgbClr val="001B58"/>
                </a:solidFill>
                <a:latin typeface="Archivo" pitchFamily="34" charset="0"/>
                <a:ea typeface="Archivo" pitchFamily="34" charset="-122"/>
                <a:cs typeface="Archivo" pitchFamily="34" charset="-120"/>
              </a:rPr>
              <a:t>1.33</a:t>
            </a:r>
            <a:endParaRPr lang="en-US" sz="1250" dirty="0"/>
          </a:p>
        </p:txBody>
      </p:sp>
      <p:sp>
        <p:nvSpPr>
          <p:cNvPr id="34" name="Shape 32"/>
          <p:cNvSpPr/>
          <p:nvPr/>
        </p:nvSpPr>
        <p:spPr>
          <a:xfrm>
            <a:off x="8229600" y="1828800"/>
            <a:ext cx="3337560" cy="3977640"/>
          </a:xfrm>
          <a:prstGeom prst="roundRect">
            <a:avLst>
              <a:gd name="adj" fmla="val 3836"/>
            </a:avLst>
          </a:prstGeom>
          <a:solidFill>
            <a:srgbClr val="E3EDFF"/>
          </a:solidFill>
          <a:ln/>
        </p:spPr>
      </p:sp>
      <p:sp>
        <p:nvSpPr>
          <p:cNvPr id="35" name="Text 33"/>
          <p:cNvSpPr/>
          <p:nvPr/>
        </p:nvSpPr>
        <p:spPr>
          <a:xfrm>
            <a:off x="8229600" y="2057400"/>
            <a:ext cx="3337560" cy="868680"/>
          </a:xfrm>
          <a:prstGeom prst="rect">
            <a:avLst/>
          </a:prstGeom>
          <a:noFill/>
          <a:ln/>
        </p:spPr>
        <p:txBody>
          <a:bodyPr wrap="square" rtlCol="0" anchor="ctr"/>
          <a:lstStyle/>
          <a:p>
            <a:pPr algn="ctr" indent="0" marL="0">
              <a:buNone/>
            </a:pPr>
            <a:r>
              <a:rPr lang="en-US" sz="5200" b="1" dirty="0">
                <a:solidFill>
                  <a:srgbClr val="385CB0"/>
                </a:solidFill>
                <a:latin typeface="Archivo" pitchFamily="34" charset="0"/>
                <a:ea typeface="Archivo" pitchFamily="34" charset="-122"/>
                <a:cs typeface="Archivo" pitchFamily="34" charset="-120"/>
              </a:rPr>
              <a:t>0,77</a:t>
            </a:r>
            <a:endParaRPr lang="en-US" sz="5200" dirty="0"/>
          </a:p>
        </p:txBody>
      </p:sp>
      <p:sp>
        <p:nvSpPr>
          <p:cNvPr id="36" name="Text 34"/>
          <p:cNvSpPr/>
          <p:nvPr/>
        </p:nvSpPr>
        <p:spPr>
          <a:xfrm>
            <a:off x="8321040" y="2926080"/>
            <a:ext cx="3154680" cy="320040"/>
          </a:xfrm>
          <a:prstGeom prst="rect">
            <a:avLst/>
          </a:prstGeom>
          <a:noFill/>
          <a:ln/>
        </p:spPr>
        <p:txBody>
          <a:bodyPr wrap="square" rtlCol="0" anchor="ctr"/>
          <a:lstStyle/>
          <a:p>
            <a:pPr algn="ctr" indent="0" marL="0">
              <a:buNone/>
            </a:pPr>
            <a:r>
              <a:rPr lang="en-US" sz="1200" dirty="0">
                <a:solidFill>
                  <a:srgbClr val="33415C"/>
                </a:solidFill>
                <a:latin typeface="Assistant" pitchFamily="34" charset="0"/>
                <a:ea typeface="Assistant" pitchFamily="34" charset="-122"/>
                <a:cs typeface="Assistant" pitchFamily="34" charset="-120"/>
              </a:rPr>
              <a:t>MAE globale (échelle −3 → +3)</a:t>
            </a:r>
            <a:endParaRPr lang="en-US" sz="1200" dirty="0"/>
          </a:p>
        </p:txBody>
      </p:sp>
      <p:sp>
        <p:nvSpPr>
          <p:cNvPr id="37" name="Text 35"/>
          <p:cNvSpPr/>
          <p:nvPr/>
        </p:nvSpPr>
        <p:spPr>
          <a:xfrm>
            <a:off x="8458200" y="3383280"/>
            <a:ext cx="2971800" cy="914400"/>
          </a:xfrm>
          <a:prstGeom prst="rect">
            <a:avLst/>
          </a:prstGeom>
          <a:noFill/>
          <a:ln/>
        </p:spPr>
        <p:txBody>
          <a:bodyPr wrap="square" rtlCol="0" anchor="ctr"/>
          <a:lstStyle/>
          <a:p>
            <a:pPr indent="0" marL="0">
              <a:lnSpc>
                <a:spcPct val="115000"/>
              </a:lnSpc>
              <a:buNone/>
            </a:pPr>
            <a:r>
              <a:rPr lang="en-US" sz="1250" b="1" dirty="0">
                <a:solidFill>
                  <a:srgbClr val="001B58"/>
                </a:solidFill>
                <a:latin typeface="Assistant" pitchFamily="34" charset="0"/>
                <a:ea typeface="Assistant" pitchFamily="34" charset="-122"/>
                <a:cs typeface="Assistant" pitchFamily="34" charset="-120"/>
              </a:rPr>
              <a:t>Mieux prédites : </a:t>
            </a:r>
            <a:pPr indent="0" marL="0">
              <a:lnSpc>
                <a:spcPct val="115000"/>
              </a:lnSpc>
              <a:buNone/>
            </a:pPr>
            <a:r>
              <a:rPr lang="en-US" sz="1250" dirty="0">
                <a:solidFill>
                  <a:srgbClr val="33415C"/>
                </a:solidFill>
                <a:latin typeface="Assistant" pitchFamily="34" charset="0"/>
                <a:ea typeface="Assistant" pitchFamily="34" charset="-122"/>
                <a:cs typeface="Assistant" pitchFamily="34" charset="-120"/>
              </a:rPr>
              <a:t>dimensions explicites (collaboration, régulation).</a:t>
            </a:r>
            <a:endParaRPr lang="en-US" sz="1250" dirty="0"/>
          </a:p>
        </p:txBody>
      </p:sp>
      <p:sp>
        <p:nvSpPr>
          <p:cNvPr id="38" name="Text 36"/>
          <p:cNvSpPr/>
          <p:nvPr/>
        </p:nvSpPr>
        <p:spPr>
          <a:xfrm>
            <a:off x="8458200" y="4434840"/>
            <a:ext cx="2971800" cy="1280160"/>
          </a:xfrm>
          <a:prstGeom prst="rect">
            <a:avLst/>
          </a:prstGeom>
          <a:noFill/>
          <a:ln/>
        </p:spPr>
        <p:txBody>
          <a:bodyPr wrap="square" rtlCol="0" anchor="ctr"/>
          <a:lstStyle/>
          <a:p>
            <a:pPr indent="0" marL="0">
              <a:lnSpc>
                <a:spcPct val="115000"/>
              </a:lnSpc>
              <a:buNone/>
            </a:pPr>
            <a:r>
              <a:rPr lang="en-US" sz="1250" b="1" dirty="0">
                <a:solidFill>
                  <a:srgbClr val="0097A7"/>
                </a:solidFill>
                <a:latin typeface="Assistant" pitchFamily="34" charset="0"/>
                <a:ea typeface="Assistant" pitchFamily="34" charset="-122"/>
                <a:cs typeface="Assistant" pitchFamily="34" charset="-120"/>
              </a:rPr>
              <a:t>Plus difficiles : </a:t>
            </a:r>
            <a:pPr indent="0" marL="0">
              <a:lnSpc>
                <a:spcPct val="115000"/>
              </a:lnSpc>
              <a:buNone/>
            </a:pPr>
            <a:r>
              <a:rPr lang="en-US" sz="1250" dirty="0">
                <a:solidFill>
                  <a:srgbClr val="33415C"/>
                </a:solidFill>
                <a:latin typeface="Assistant" pitchFamily="34" charset="0"/>
                <a:ea typeface="Assistant" pitchFamily="34" charset="-122"/>
                <a:cs typeface="Assistant" pitchFamily="34" charset="-120"/>
              </a:rPr>
              <a:t>empathie &amp; compassion — subjectives et souvent superposées.</a:t>
            </a:r>
            <a:endParaRPr lang="en-US" sz="1250" dirty="0"/>
          </a:p>
        </p:txBody>
      </p:sp>
      <p:sp>
        <p:nvSpPr>
          <p:cNvPr id="39" name="Text 37"/>
          <p:cNvSpPr/>
          <p:nvPr/>
        </p:nvSpPr>
        <p:spPr>
          <a:xfrm>
            <a:off x="731520" y="5852160"/>
            <a:ext cx="7315200" cy="365760"/>
          </a:xfrm>
          <a:prstGeom prst="rect">
            <a:avLst/>
          </a:prstGeom>
          <a:noFill/>
          <a:ln/>
        </p:spPr>
        <p:txBody>
          <a:bodyPr wrap="square" rtlCol="0" anchor="ctr"/>
          <a:lstStyle/>
          <a:p>
            <a:pPr indent="0" marL="0">
              <a:buNone/>
            </a:pPr>
            <a:r>
              <a:rPr lang="en-US" sz="1300" b="1" i="1" dirty="0">
                <a:solidFill>
                  <a:srgbClr val="385CB0"/>
                </a:solidFill>
                <a:latin typeface="Assistant" pitchFamily="34" charset="0"/>
                <a:ea typeface="Assistant" pitchFamily="34" charset="-122"/>
                <a:cs typeface="Assistant" pitchFamily="34" charset="-120"/>
              </a:rPr>
              <a:t>Aide à l'évaluation — supervision humaine requise.</a:t>
            </a:r>
            <a:endParaRPr lang="en-US" sz="1300" dirty="0"/>
          </a:p>
        </p:txBody>
      </p:sp>
      <p:sp>
        <p:nvSpPr>
          <p:cNvPr id="40" name="Shape 38"/>
          <p:cNvSpPr/>
          <p:nvPr/>
        </p:nvSpPr>
        <p:spPr>
          <a:xfrm>
            <a:off x="9829800" y="6327648"/>
            <a:ext cx="82296" cy="82296"/>
          </a:xfrm>
          <a:prstGeom prst="ellipse">
            <a:avLst/>
          </a:prstGeom>
          <a:solidFill>
            <a:srgbClr val="76A3EE"/>
          </a:solidFill>
          <a:ln/>
        </p:spPr>
      </p:sp>
      <p:sp>
        <p:nvSpPr>
          <p:cNvPr id="41" name="Shape 39"/>
          <p:cNvSpPr/>
          <p:nvPr/>
        </p:nvSpPr>
        <p:spPr>
          <a:xfrm>
            <a:off x="10030968" y="6327648"/>
            <a:ext cx="82296" cy="82296"/>
          </a:xfrm>
          <a:prstGeom prst="ellipse">
            <a:avLst/>
          </a:prstGeom>
          <a:solidFill>
            <a:srgbClr val="76A3EE"/>
          </a:solidFill>
          <a:ln/>
        </p:spPr>
      </p:sp>
      <p:sp>
        <p:nvSpPr>
          <p:cNvPr id="42" name="Shape 40"/>
          <p:cNvSpPr/>
          <p:nvPr/>
        </p:nvSpPr>
        <p:spPr>
          <a:xfrm>
            <a:off x="10232136" y="6327648"/>
            <a:ext cx="82296" cy="82296"/>
          </a:xfrm>
          <a:prstGeom prst="ellipse">
            <a:avLst/>
          </a:prstGeom>
          <a:solidFill>
            <a:srgbClr val="76A3EE"/>
          </a:solidFill>
          <a:ln/>
        </p:spPr>
      </p:sp>
      <p:sp>
        <p:nvSpPr>
          <p:cNvPr id="43" name="Shape 41"/>
          <p:cNvSpPr/>
          <p:nvPr/>
        </p:nvSpPr>
        <p:spPr>
          <a:xfrm>
            <a:off x="10433304" y="6327648"/>
            <a:ext cx="82296" cy="82296"/>
          </a:xfrm>
          <a:prstGeom prst="ellipse">
            <a:avLst/>
          </a:prstGeom>
          <a:solidFill>
            <a:srgbClr val="385CB0"/>
          </a:solidFill>
          <a:ln/>
        </p:spPr>
      </p:sp>
      <p:sp>
        <p:nvSpPr>
          <p:cNvPr id="44" name="Shape 42"/>
          <p:cNvSpPr/>
          <p:nvPr/>
        </p:nvSpPr>
        <p:spPr>
          <a:xfrm>
            <a:off x="10634472" y="6327648"/>
            <a:ext cx="82296" cy="82296"/>
          </a:xfrm>
          <a:prstGeom prst="ellipse">
            <a:avLst/>
          </a:prstGeom>
          <a:solidFill>
            <a:srgbClr val="76A3EE"/>
          </a:solidFill>
          <a:ln/>
        </p:spPr>
      </p:sp>
      <p:sp>
        <p:nvSpPr>
          <p:cNvPr id="45" name="Text 43"/>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RÉSULTATS · BACKENDS &amp; VALIDATION</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OpenAI vs Ollama — un compromis assumé</a:t>
            </a:r>
            <a:endParaRPr lang="en-US" sz="2800" dirty="0"/>
          </a:p>
        </p:txBody>
      </p:sp>
      <p:sp>
        <p:nvSpPr>
          <p:cNvPr id="13" name="Shape 11"/>
          <p:cNvSpPr/>
          <p:nvPr/>
        </p:nvSpPr>
        <p:spPr>
          <a:xfrm>
            <a:off x="731520" y="1828800"/>
            <a:ext cx="2377440" cy="566928"/>
          </a:xfrm>
          <a:prstGeom prst="rect">
            <a:avLst/>
          </a:prstGeom>
          <a:solidFill>
            <a:srgbClr val="001B58"/>
          </a:solidFill>
          <a:ln w="19050">
            <a:solidFill>
              <a:srgbClr val="FFFFFF"/>
            </a:solidFill>
            <a:prstDash val="solid"/>
          </a:ln>
        </p:spPr>
      </p:sp>
      <p:sp>
        <p:nvSpPr>
          <p:cNvPr id="14" name="Text 12"/>
          <p:cNvSpPr/>
          <p:nvPr/>
        </p:nvSpPr>
        <p:spPr>
          <a:xfrm>
            <a:off x="822960" y="1828800"/>
            <a:ext cx="2194560" cy="566928"/>
          </a:xfrm>
          <a:prstGeom prst="rect">
            <a:avLst/>
          </a:prstGeom>
          <a:noFill/>
          <a:ln/>
        </p:spPr>
        <p:txBody>
          <a:bodyPr wrap="square" rtlCol="0" anchor="ctr"/>
          <a:lstStyle/>
          <a:p>
            <a:pPr algn="l" indent="0" marL="0">
              <a:buNone/>
            </a:pPr>
            <a:r>
              <a:rPr lang="en-US" sz="1350" b="1" dirty="0">
                <a:solidFill>
                  <a:srgbClr val="FFFFFF"/>
                </a:solidFill>
                <a:latin typeface="Archivo" pitchFamily="34" charset="0"/>
                <a:ea typeface="Archivo" pitchFamily="34" charset="-122"/>
                <a:cs typeface="Archivo" pitchFamily="34" charset="-120"/>
              </a:rPr>
              <a:t>Critère</a:t>
            </a:r>
            <a:endParaRPr lang="en-US" sz="1350" dirty="0"/>
          </a:p>
        </p:txBody>
      </p:sp>
      <p:sp>
        <p:nvSpPr>
          <p:cNvPr id="15" name="Shape 13"/>
          <p:cNvSpPr/>
          <p:nvPr/>
        </p:nvSpPr>
        <p:spPr>
          <a:xfrm>
            <a:off x="3108960" y="1828800"/>
            <a:ext cx="1645920" cy="566928"/>
          </a:xfrm>
          <a:prstGeom prst="rect">
            <a:avLst/>
          </a:prstGeom>
          <a:solidFill>
            <a:srgbClr val="001B58"/>
          </a:solidFill>
          <a:ln w="19050">
            <a:solidFill>
              <a:srgbClr val="FFFFFF"/>
            </a:solidFill>
            <a:prstDash val="solid"/>
          </a:ln>
        </p:spPr>
      </p:sp>
      <p:sp>
        <p:nvSpPr>
          <p:cNvPr id="16" name="Text 14"/>
          <p:cNvSpPr/>
          <p:nvPr/>
        </p:nvSpPr>
        <p:spPr>
          <a:xfrm>
            <a:off x="3200400" y="1828800"/>
            <a:ext cx="1463040" cy="566928"/>
          </a:xfrm>
          <a:prstGeom prst="rect">
            <a:avLst/>
          </a:prstGeom>
          <a:noFill/>
          <a:ln/>
        </p:spPr>
        <p:txBody>
          <a:bodyPr wrap="square" rtlCol="0" anchor="ctr"/>
          <a:lstStyle/>
          <a:p>
            <a:pPr algn="ctr" indent="0" marL="0">
              <a:buNone/>
            </a:pPr>
            <a:r>
              <a:rPr lang="en-US" sz="1350" b="1" dirty="0">
                <a:solidFill>
                  <a:srgbClr val="FFFFFF"/>
                </a:solidFill>
                <a:latin typeface="Archivo" pitchFamily="34" charset="0"/>
                <a:ea typeface="Archivo" pitchFamily="34" charset="-122"/>
                <a:cs typeface="Archivo" pitchFamily="34" charset="-120"/>
              </a:rPr>
              <a:t>OpenAI</a:t>
            </a:r>
            <a:endParaRPr lang="en-US" sz="1350" dirty="0"/>
          </a:p>
        </p:txBody>
      </p:sp>
      <p:sp>
        <p:nvSpPr>
          <p:cNvPr id="17" name="Shape 15"/>
          <p:cNvSpPr/>
          <p:nvPr/>
        </p:nvSpPr>
        <p:spPr>
          <a:xfrm>
            <a:off x="4754880" y="1828800"/>
            <a:ext cx="1645920" cy="566928"/>
          </a:xfrm>
          <a:prstGeom prst="rect">
            <a:avLst/>
          </a:prstGeom>
          <a:solidFill>
            <a:srgbClr val="001B58"/>
          </a:solidFill>
          <a:ln w="19050">
            <a:solidFill>
              <a:srgbClr val="FFFFFF"/>
            </a:solidFill>
            <a:prstDash val="solid"/>
          </a:ln>
        </p:spPr>
      </p:sp>
      <p:sp>
        <p:nvSpPr>
          <p:cNvPr id="18" name="Text 16"/>
          <p:cNvSpPr/>
          <p:nvPr/>
        </p:nvSpPr>
        <p:spPr>
          <a:xfrm>
            <a:off x="4846320" y="1828800"/>
            <a:ext cx="1463040" cy="566928"/>
          </a:xfrm>
          <a:prstGeom prst="rect">
            <a:avLst/>
          </a:prstGeom>
          <a:noFill/>
          <a:ln/>
        </p:spPr>
        <p:txBody>
          <a:bodyPr wrap="square" rtlCol="0" anchor="ctr"/>
          <a:lstStyle/>
          <a:p>
            <a:pPr algn="ctr" indent="0" marL="0">
              <a:buNone/>
            </a:pPr>
            <a:r>
              <a:rPr lang="en-US" sz="1350" b="1" dirty="0">
                <a:solidFill>
                  <a:srgbClr val="FFFFFF"/>
                </a:solidFill>
                <a:latin typeface="Archivo" pitchFamily="34" charset="0"/>
                <a:ea typeface="Archivo" pitchFamily="34" charset="-122"/>
                <a:cs typeface="Archivo" pitchFamily="34" charset="-120"/>
              </a:rPr>
              <a:t>Ollama</a:t>
            </a:r>
            <a:endParaRPr lang="en-US" sz="1350" dirty="0"/>
          </a:p>
        </p:txBody>
      </p:sp>
      <p:sp>
        <p:nvSpPr>
          <p:cNvPr id="19" name="Shape 17"/>
          <p:cNvSpPr/>
          <p:nvPr/>
        </p:nvSpPr>
        <p:spPr>
          <a:xfrm>
            <a:off x="731520" y="2395728"/>
            <a:ext cx="2377440" cy="566928"/>
          </a:xfrm>
          <a:prstGeom prst="rect">
            <a:avLst/>
          </a:prstGeom>
          <a:solidFill>
            <a:srgbClr val="FFFFFF"/>
          </a:solidFill>
          <a:ln w="19050">
            <a:solidFill>
              <a:srgbClr val="FFFFFF"/>
            </a:solidFill>
            <a:prstDash val="solid"/>
          </a:ln>
        </p:spPr>
      </p:sp>
      <p:sp>
        <p:nvSpPr>
          <p:cNvPr id="20" name="Text 18"/>
          <p:cNvSpPr/>
          <p:nvPr/>
        </p:nvSpPr>
        <p:spPr>
          <a:xfrm>
            <a:off x="822960" y="2395728"/>
            <a:ext cx="2194560" cy="566928"/>
          </a:xfrm>
          <a:prstGeom prst="rect">
            <a:avLst/>
          </a:prstGeom>
          <a:noFill/>
          <a:ln/>
        </p:spPr>
        <p:txBody>
          <a:bodyPr wrap="square" rtlCol="0" anchor="ctr"/>
          <a:lstStyle/>
          <a:p>
            <a:pPr algn="l" indent="0" marL="0">
              <a:buNone/>
            </a:pPr>
            <a:r>
              <a:rPr lang="en-US" sz="1350" b="1" dirty="0">
                <a:solidFill>
                  <a:srgbClr val="33415C"/>
                </a:solidFill>
                <a:latin typeface="Archivo" pitchFamily="34" charset="0"/>
                <a:ea typeface="Archivo" pitchFamily="34" charset="-122"/>
                <a:cs typeface="Archivo" pitchFamily="34" charset="-120"/>
              </a:rPr>
              <a:t>JSON valide</a:t>
            </a:r>
            <a:endParaRPr lang="en-US" sz="1350" dirty="0"/>
          </a:p>
        </p:txBody>
      </p:sp>
      <p:sp>
        <p:nvSpPr>
          <p:cNvPr id="21" name="Shape 19"/>
          <p:cNvSpPr/>
          <p:nvPr/>
        </p:nvSpPr>
        <p:spPr>
          <a:xfrm>
            <a:off x="3108960" y="2395728"/>
            <a:ext cx="1645920" cy="566928"/>
          </a:xfrm>
          <a:prstGeom prst="rect">
            <a:avLst/>
          </a:prstGeom>
          <a:solidFill>
            <a:srgbClr val="FFFFFF"/>
          </a:solidFill>
          <a:ln w="19050">
            <a:solidFill>
              <a:srgbClr val="FFFFFF"/>
            </a:solidFill>
            <a:prstDash val="solid"/>
          </a:ln>
        </p:spPr>
      </p:sp>
      <p:sp>
        <p:nvSpPr>
          <p:cNvPr id="22" name="Text 20"/>
          <p:cNvSpPr/>
          <p:nvPr/>
        </p:nvSpPr>
        <p:spPr>
          <a:xfrm>
            <a:off x="3200400" y="2395728"/>
            <a:ext cx="1463040" cy="566928"/>
          </a:xfrm>
          <a:prstGeom prst="rect">
            <a:avLst/>
          </a:prstGeom>
          <a:noFill/>
          <a:ln/>
        </p:spPr>
        <p:txBody>
          <a:bodyPr wrap="square" rtlCol="0" anchor="ctr"/>
          <a:lstStyle/>
          <a:p>
            <a:pPr algn="ctr" indent="0" marL="0">
              <a:buNone/>
            </a:pPr>
            <a:r>
              <a:rPr lang="en-US" sz="1350" dirty="0">
                <a:solidFill>
                  <a:srgbClr val="33415C"/>
                </a:solidFill>
                <a:latin typeface="Assistant" pitchFamily="34" charset="0"/>
                <a:ea typeface="Assistant" pitchFamily="34" charset="-122"/>
                <a:cs typeface="Assistant" pitchFamily="34" charset="-120"/>
              </a:rPr>
              <a:t>10 / 10</a:t>
            </a:r>
            <a:endParaRPr lang="en-US" sz="1350" dirty="0"/>
          </a:p>
        </p:txBody>
      </p:sp>
      <p:sp>
        <p:nvSpPr>
          <p:cNvPr id="23" name="Shape 21"/>
          <p:cNvSpPr/>
          <p:nvPr/>
        </p:nvSpPr>
        <p:spPr>
          <a:xfrm>
            <a:off x="4754880" y="2395728"/>
            <a:ext cx="1645920" cy="566928"/>
          </a:xfrm>
          <a:prstGeom prst="rect">
            <a:avLst/>
          </a:prstGeom>
          <a:solidFill>
            <a:srgbClr val="FFFFFF"/>
          </a:solidFill>
          <a:ln w="19050">
            <a:solidFill>
              <a:srgbClr val="FFFFFF"/>
            </a:solidFill>
            <a:prstDash val="solid"/>
          </a:ln>
        </p:spPr>
      </p:sp>
      <p:sp>
        <p:nvSpPr>
          <p:cNvPr id="24" name="Text 22"/>
          <p:cNvSpPr/>
          <p:nvPr/>
        </p:nvSpPr>
        <p:spPr>
          <a:xfrm>
            <a:off x="4846320" y="2395728"/>
            <a:ext cx="1463040" cy="566928"/>
          </a:xfrm>
          <a:prstGeom prst="rect">
            <a:avLst/>
          </a:prstGeom>
          <a:noFill/>
          <a:ln/>
        </p:spPr>
        <p:txBody>
          <a:bodyPr wrap="square" rtlCol="0" anchor="ctr"/>
          <a:lstStyle/>
          <a:p>
            <a:pPr algn="ctr" indent="0" marL="0">
              <a:buNone/>
            </a:pPr>
            <a:r>
              <a:rPr lang="en-US" sz="1350" dirty="0">
                <a:solidFill>
                  <a:srgbClr val="33415C"/>
                </a:solidFill>
                <a:latin typeface="Assistant" pitchFamily="34" charset="0"/>
                <a:ea typeface="Assistant" pitchFamily="34" charset="-122"/>
                <a:cs typeface="Assistant" pitchFamily="34" charset="-120"/>
              </a:rPr>
              <a:t>10 / 10</a:t>
            </a:r>
            <a:endParaRPr lang="en-US" sz="1350" dirty="0"/>
          </a:p>
        </p:txBody>
      </p:sp>
      <p:sp>
        <p:nvSpPr>
          <p:cNvPr id="25" name="Shape 23"/>
          <p:cNvSpPr/>
          <p:nvPr/>
        </p:nvSpPr>
        <p:spPr>
          <a:xfrm>
            <a:off x="731520" y="2962656"/>
            <a:ext cx="2377440" cy="566928"/>
          </a:xfrm>
          <a:prstGeom prst="rect">
            <a:avLst/>
          </a:prstGeom>
          <a:solidFill>
            <a:srgbClr val="E3EDFF"/>
          </a:solidFill>
          <a:ln w="19050">
            <a:solidFill>
              <a:srgbClr val="FFFFFF"/>
            </a:solidFill>
            <a:prstDash val="solid"/>
          </a:ln>
        </p:spPr>
      </p:sp>
      <p:sp>
        <p:nvSpPr>
          <p:cNvPr id="26" name="Text 24"/>
          <p:cNvSpPr/>
          <p:nvPr/>
        </p:nvSpPr>
        <p:spPr>
          <a:xfrm>
            <a:off x="822960" y="2962656"/>
            <a:ext cx="2194560" cy="566928"/>
          </a:xfrm>
          <a:prstGeom prst="rect">
            <a:avLst/>
          </a:prstGeom>
          <a:noFill/>
          <a:ln/>
        </p:spPr>
        <p:txBody>
          <a:bodyPr wrap="square" rtlCol="0" anchor="ctr"/>
          <a:lstStyle/>
          <a:p>
            <a:pPr algn="l" indent="0" marL="0">
              <a:buNone/>
            </a:pPr>
            <a:r>
              <a:rPr lang="en-US" sz="1350" b="1" dirty="0">
                <a:solidFill>
                  <a:srgbClr val="33415C"/>
                </a:solidFill>
                <a:latin typeface="Archivo" pitchFamily="34" charset="0"/>
                <a:ea typeface="Archivo" pitchFamily="34" charset="-122"/>
                <a:cs typeface="Archivo" pitchFamily="34" charset="-120"/>
              </a:rPr>
              <a:t>Conformité ±1</a:t>
            </a:r>
            <a:endParaRPr lang="en-US" sz="1350" dirty="0"/>
          </a:p>
        </p:txBody>
      </p:sp>
      <p:sp>
        <p:nvSpPr>
          <p:cNvPr id="27" name="Shape 25"/>
          <p:cNvSpPr/>
          <p:nvPr/>
        </p:nvSpPr>
        <p:spPr>
          <a:xfrm>
            <a:off x="3108960" y="2962656"/>
            <a:ext cx="1645920" cy="566928"/>
          </a:xfrm>
          <a:prstGeom prst="rect">
            <a:avLst/>
          </a:prstGeom>
          <a:solidFill>
            <a:srgbClr val="E3EDFF"/>
          </a:solidFill>
          <a:ln w="19050">
            <a:solidFill>
              <a:srgbClr val="FFFFFF"/>
            </a:solidFill>
            <a:prstDash val="solid"/>
          </a:ln>
        </p:spPr>
      </p:sp>
      <p:sp>
        <p:nvSpPr>
          <p:cNvPr id="28" name="Text 26"/>
          <p:cNvSpPr/>
          <p:nvPr/>
        </p:nvSpPr>
        <p:spPr>
          <a:xfrm>
            <a:off x="3200400" y="2962656"/>
            <a:ext cx="1463040" cy="566928"/>
          </a:xfrm>
          <a:prstGeom prst="rect">
            <a:avLst/>
          </a:prstGeom>
          <a:noFill/>
          <a:ln/>
        </p:spPr>
        <p:txBody>
          <a:bodyPr wrap="square" rtlCol="0" anchor="ctr"/>
          <a:lstStyle/>
          <a:p>
            <a:pPr algn="ctr" indent="0" marL="0">
              <a:buNone/>
            </a:pPr>
            <a:r>
              <a:rPr lang="en-US" sz="1350" dirty="0">
                <a:solidFill>
                  <a:srgbClr val="385CB0"/>
                </a:solidFill>
                <a:latin typeface="Assistant" pitchFamily="34" charset="0"/>
                <a:ea typeface="Assistant" pitchFamily="34" charset="-122"/>
                <a:cs typeface="Assistant" pitchFamily="34" charset="-120"/>
              </a:rPr>
              <a:t>100 %</a:t>
            </a:r>
            <a:endParaRPr lang="en-US" sz="1350" dirty="0"/>
          </a:p>
        </p:txBody>
      </p:sp>
      <p:sp>
        <p:nvSpPr>
          <p:cNvPr id="29" name="Shape 27"/>
          <p:cNvSpPr/>
          <p:nvPr/>
        </p:nvSpPr>
        <p:spPr>
          <a:xfrm>
            <a:off x="4754880" y="2962656"/>
            <a:ext cx="1645920" cy="566928"/>
          </a:xfrm>
          <a:prstGeom prst="rect">
            <a:avLst/>
          </a:prstGeom>
          <a:solidFill>
            <a:srgbClr val="E3EDFF"/>
          </a:solidFill>
          <a:ln w="19050">
            <a:solidFill>
              <a:srgbClr val="FFFFFF"/>
            </a:solidFill>
            <a:prstDash val="solid"/>
          </a:ln>
        </p:spPr>
      </p:sp>
      <p:sp>
        <p:nvSpPr>
          <p:cNvPr id="30" name="Text 28"/>
          <p:cNvSpPr/>
          <p:nvPr/>
        </p:nvSpPr>
        <p:spPr>
          <a:xfrm>
            <a:off x="4846320" y="2962656"/>
            <a:ext cx="1463040" cy="566928"/>
          </a:xfrm>
          <a:prstGeom prst="rect">
            <a:avLst/>
          </a:prstGeom>
          <a:noFill/>
          <a:ln/>
        </p:spPr>
        <p:txBody>
          <a:bodyPr wrap="square" rtlCol="0" anchor="ctr"/>
          <a:lstStyle/>
          <a:p>
            <a:pPr algn="ctr" indent="0" marL="0">
              <a:buNone/>
            </a:pPr>
            <a:r>
              <a:rPr lang="en-US" sz="1350" dirty="0">
                <a:solidFill>
                  <a:srgbClr val="33415C"/>
                </a:solidFill>
                <a:latin typeface="Assistant" pitchFamily="34" charset="0"/>
                <a:ea typeface="Assistant" pitchFamily="34" charset="-122"/>
                <a:cs typeface="Assistant" pitchFamily="34" charset="-120"/>
              </a:rPr>
              <a:t>91,3 %</a:t>
            </a:r>
            <a:endParaRPr lang="en-US" sz="1350" dirty="0"/>
          </a:p>
        </p:txBody>
      </p:sp>
      <p:sp>
        <p:nvSpPr>
          <p:cNvPr id="31" name="Shape 29"/>
          <p:cNvSpPr/>
          <p:nvPr/>
        </p:nvSpPr>
        <p:spPr>
          <a:xfrm>
            <a:off x="731520" y="3529584"/>
            <a:ext cx="2377440" cy="566928"/>
          </a:xfrm>
          <a:prstGeom prst="rect">
            <a:avLst/>
          </a:prstGeom>
          <a:solidFill>
            <a:srgbClr val="FFFFFF"/>
          </a:solidFill>
          <a:ln w="19050">
            <a:solidFill>
              <a:srgbClr val="FFFFFF"/>
            </a:solidFill>
            <a:prstDash val="solid"/>
          </a:ln>
        </p:spPr>
      </p:sp>
      <p:sp>
        <p:nvSpPr>
          <p:cNvPr id="32" name="Text 30"/>
          <p:cNvSpPr/>
          <p:nvPr/>
        </p:nvSpPr>
        <p:spPr>
          <a:xfrm>
            <a:off x="822960" y="3529584"/>
            <a:ext cx="2194560" cy="566928"/>
          </a:xfrm>
          <a:prstGeom prst="rect">
            <a:avLst/>
          </a:prstGeom>
          <a:noFill/>
          <a:ln/>
        </p:spPr>
        <p:txBody>
          <a:bodyPr wrap="square" rtlCol="0" anchor="ctr"/>
          <a:lstStyle/>
          <a:p>
            <a:pPr algn="l" indent="0" marL="0">
              <a:buNone/>
            </a:pPr>
            <a:r>
              <a:rPr lang="en-US" sz="1350" b="1" dirty="0">
                <a:solidFill>
                  <a:srgbClr val="33415C"/>
                </a:solidFill>
                <a:latin typeface="Archivo" pitchFamily="34" charset="0"/>
                <a:ea typeface="Archivo" pitchFamily="34" charset="-122"/>
                <a:cs typeface="Archivo" pitchFamily="34" charset="-120"/>
              </a:rPr>
              <a:t>Temps moyen</a:t>
            </a:r>
            <a:endParaRPr lang="en-US" sz="1350" dirty="0"/>
          </a:p>
        </p:txBody>
      </p:sp>
      <p:sp>
        <p:nvSpPr>
          <p:cNvPr id="33" name="Shape 31"/>
          <p:cNvSpPr/>
          <p:nvPr/>
        </p:nvSpPr>
        <p:spPr>
          <a:xfrm>
            <a:off x="3108960" y="3529584"/>
            <a:ext cx="1645920" cy="566928"/>
          </a:xfrm>
          <a:prstGeom prst="rect">
            <a:avLst/>
          </a:prstGeom>
          <a:solidFill>
            <a:srgbClr val="FFFFFF"/>
          </a:solidFill>
          <a:ln w="19050">
            <a:solidFill>
              <a:srgbClr val="FFFFFF"/>
            </a:solidFill>
            <a:prstDash val="solid"/>
          </a:ln>
        </p:spPr>
      </p:sp>
      <p:sp>
        <p:nvSpPr>
          <p:cNvPr id="34" name="Text 32"/>
          <p:cNvSpPr/>
          <p:nvPr/>
        </p:nvSpPr>
        <p:spPr>
          <a:xfrm>
            <a:off x="3200400" y="3529584"/>
            <a:ext cx="1463040" cy="566928"/>
          </a:xfrm>
          <a:prstGeom prst="rect">
            <a:avLst/>
          </a:prstGeom>
          <a:noFill/>
          <a:ln/>
        </p:spPr>
        <p:txBody>
          <a:bodyPr wrap="square" rtlCol="0" anchor="ctr"/>
          <a:lstStyle/>
          <a:p>
            <a:pPr algn="ctr" indent="0" marL="0">
              <a:buNone/>
            </a:pPr>
            <a:r>
              <a:rPr lang="en-US" sz="1350" dirty="0">
                <a:solidFill>
                  <a:srgbClr val="385CB0"/>
                </a:solidFill>
                <a:latin typeface="Assistant" pitchFamily="34" charset="0"/>
                <a:ea typeface="Assistant" pitchFamily="34" charset="-122"/>
                <a:cs typeface="Assistant" pitchFamily="34" charset="-120"/>
              </a:rPr>
              <a:t>9,2 s</a:t>
            </a:r>
            <a:endParaRPr lang="en-US" sz="1350" dirty="0"/>
          </a:p>
        </p:txBody>
      </p:sp>
      <p:sp>
        <p:nvSpPr>
          <p:cNvPr id="35" name="Shape 33"/>
          <p:cNvSpPr/>
          <p:nvPr/>
        </p:nvSpPr>
        <p:spPr>
          <a:xfrm>
            <a:off x="4754880" y="3529584"/>
            <a:ext cx="1645920" cy="566928"/>
          </a:xfrm>
          <a:prstGeom prst="rect">
            <a:avLst/>
          </a:prstGeom>
          <a:solidFill>
            <a:srgbClr val="FFFFFF"/>
          </a:solidFill>
          <a:ln w="19050">
            <a:solidFill>
              <a:srgbClr val="FFFFFF"/>
            </a:solidFill>
            <a:prstDash val="solid"/>
          </a:ln>
        </p:spPr>
      </p:sp>
      <p:sp>
        <p:nvSpPr>
          <p:cNvPr id="36" name="Text 34"/>
          <p:cNvSpPr/>
          <p:nvPr/>
        </p:nvSpPr>
        <p:spPr>
          <a:xfrm>
            <a:off x="4846320" y="3529584"/>
            <a:ext cx="1463040" cy="566928"/>
          </a:xfrm>
          <a:prstGeom prst="rect">
            <a:avLst/>
          </a:prstGeom>
          <a:noFill/>
          <a:ln/>
        </p:spPr>
        <p:txBody>
          <a:bodyPr wrap="square" rtlCol="0" anchor="ctr"/>
          <a:lstStyle/>
          <a:p>
            <a:pPr algn="ctr" indent="0" marL="0">
              <a:buNone/>
            </a:pPr>
            <a:r>
              <a:rPr lang="en-US" sz="1350" dirty="0">
                <a:solidFill>
                  <a:srgbClr val="33415C"/>
                </a:solidFill>
                <a:latin typeface="Assistant" pitchFamily="34" charset="0"/>
                <a:ea typeface="Assistant" pitchFamily="34" charset="-122"/>
                <a:cs typeface="Assistant" pitchFamily="34" charset="-120"/>
              </a:rPr>
              <a:t>98,2 s</a:t>
            </a:r>
            <a:endParaRPr lang="en-US" sz="1350" dirty="0"/>
          </a:p>
        </p:txBody>
      </p:sp>
      <p:sp>
        <p:nvSpPr>
          <p:cNvPr id="37" name="Shape 35"/>
          <p:cNvSpPr/>
          <p:nvPr/>
        </p:nvSpPr>
        <p:spPr>
          <a:xfrm>
            <a:off x="731520" y="4096512"/>
            <a:ext cx="2377440" cy="566928"/>
          </a:xfrm>
          <a:prstGeom prst="rect">
            <a:avLst/>
          </a:prstGeom>
          <a:solidFill>
            <a:srgbClr val="E3EDFF"/>
          </a:solidFill>
          <a:ln w="19050">
            <a:solidFill>
              <a:srgbClr val="FFFFFF"/>
            </a:solidFill>
            <a:prstDash val="solid"/>
          </a:ln>
        </p:spPr>
      </p:sp>
      <p:sp>
        <p:nvSpPr>
          <p:cNvPr id="38" name="Text 36"/>
          <p:cNvSpPr/>
          <p:nvPr/>
        </p:nvSpPr>
        <p:spPr>
          <a:xfrm>
            <a:off x="822960" y="4096512"/>
            <a:ext cx="2194560" cy="566928"/>
          </a:xfrm>
          <a:prstGeom prst="rect">
            <a:avLst/>
          </a:prstGeom>
          <a:noFill/>
          <a:ln/>
        </p:spPr>
        <p:txBody>
          <a:bodyPr wrap="square" rtlCol="0" anchor="ctr"/>
          <a:lstStyle/>
          <a:p>
            <a:pPr algn="l" indent="0" marL="0">
              <a:buNone/>
            </a:pPr>
            <a:r>
              <a:rPr lang="en-US" sz="1350" b="1" dirty="0">
                <a:solidFill>
                  <a:srgbClr val="33415C"/>
                </a:solidFill>
                <a:latin typeface="Archivo" pitchFamily="34" charset="0"/>
                <a:ea typeface="Archivo" pitchFamily="34" charset="-122"/>
                <a:cs typeface="Archivo" pitchFamily="34" charset="-120"/>
              </a:rPr>
              <a:t>Exécution locale</a:t>
            </a:r>
            <a:endParaRPr lang="en-US" sz="1350" dirty="0"/>
          </a:p>
        </p:txBody>
      </p:sp>
      <p:sp>
        <p:nvSpPr>
          <p:cNvPr id="39" name="Shape 37"/>
          <p:cNvSpPr/>
          <p:nvPr/>
        </p:nvSpPr>
        <p:spPr>
          <a:xfrm>
            <a:off x="3108960" y="4096512"/>
            <a:ext cx="1645920" cy="566928"/>
          </a:xfrm>
          <a:prstGeom prst="rect">
            <a:avLst/>
          </a:prstGeom>
          <a:solidFill>
            <a:srgbClr val="E3EDFF"/>
          </a:solidFill>
          <a:ln w="19050">
            <a:solidFill>
              <a:srgbClr val="FFFFFF"/>
            </a:solidFill>
            <a:prstDash val="solid"/>
          </a:ln>
        </p:spPr>
      </p:sp>
      <p:sp>
        <p:nvSpPr>
          <p:cNvPr id="40" name="Text 38"/>
          <p:cNvSpPr/>
          <p:nvPr/>
        </p:nvSpPr>
        <p:spPr>
          <a:xfrm>
            <a:off x="3200400" y="4096512"/>
            <a:ext cx="1463040" cy="566928"/>
          </a:xfrm>
          <a:prstGeom prst="rect">
            <a:avLst/>
          </a:prstGeom>
          <a:noFill/>
          <a:ln/>
        </p:spPr>
        <p:txBody>
          <a:bodyPr wrap="square" rtlCol="0" anchor="ctr"/>
          <a:lstStyle/>
          <a:p>
            <a:pPr algn="ctr" indent="0" marL="0">
              <a:buNone/>
            </a:pPr>
            <a:r>
              <a:rPr lang="en-US" sz="1350" dirty="0">
                <a:solidFill>
                  <a:srgbClr val="33415C"/>
                </a:solidFill>
                <a:latin typeface="Assistant" pitchFamily="34" charset="0"/>
                <a:ea typeface="Assistant" pitchFamily="34" charset="-122"/>
                <a:cs typeface="Assistant" pitchFamily="34" charset="-120"/>
              </a:rPr>
              <a:t>Non</a:t>
            </a:r>
            <a:endParaRPr lang="en-US" sz="1350" dirty="0"/>
          </a:p>
        </p:txBody>
      </p:sp>
      <p:sp>
        <p:nvSpPr>
          <p:cNvPr id="41" name="Shape 39"/>
          <p:cNvSpPr/>
          <p:nvPr/>
        </p:nvSpPr>
        <p:spPr>
          <a:xfrm>
            <a:off x="4754880" y="4096512"/>
            <a:ext cx="1645920" cy="566928"/>
          </a:xfrm>
          <a:prstGeom prst="rect">
            <a:avLst/>
          </a:prstGeom>
          <a:solidFill>
            <a:srgbClr val="E3EDFF"/>
          </a:solidFill>
          <a:ln w="19050">
            <a:solidFill>
              <a:srgbClr val="FFFFFF"/>
            </a:solidFill>
            <a:prstDash val="solid"/>
          </a:ln>
        </p:spPr>
      </p:sp>
      <p:sp>
        <p:nvSpPr>
          <p:cNvPr id="42" name="Text 40"/>
          <p:cNvSpPr/>
          <p:nvPr/>
        </p:nvSpPr>
        <p:spPr>
          <a:xfrm>
            <a:off x="4846320" y="4096512"/>
            <a:ext cx="1463040" cy="566928"/>
          </a:xfrm>
          <a:prstGeom prst="rect">
            <a:avLst/>
          </a:prstGeom>
          <a:noFill/>
          <a:ln/>
        </p:spPr>
        <p:txBody>
          <a:bodyPr wrap="square" rtlCol="0" anchor="ctr"/>
          <a:lstStyle/>
          <a:p>
            <a:pPr algn="ctr" indent="0" marL="0">
              <a:buNone/>
            </a:pPr>
            <a:r>
              <a:rPr lang="en-US" sz="1350" dirty="0">
                <a:solidFill>
                  <a:srgbClr val="385CB0"/>
                </a:solidFill>
                <a:latin typeface="Assistant" pitchFamily="34" charset="0"/>
                <a:ea typeface="Assistant" pitchFamily="34" charset="-122"/>
                <a:cs typeface="Assistant" pitchFamily="34" charset="-120"/>
              </a:rPr>
              <a:t>Oui (RGPD)</a:t>
            </a:r>
            <a:endParaRPr lang="en-US" sz="1350" dirty="0"/>
          </a:p>
        </p:txBody>
      </p:sp>
      <p:sp>
        <p:nvSpPr>
          <p:cNvPr id="43" name="Text 41"/>
          <p:cNvSpPr/>
          <p:nvPr/>
        </p:nvSpPr>
        <p:spPr>
          <a:xfrm>
            <a:off x="731520" y="4983480"/>
            <a:ext cx="5943600" cy="731520"/>
          </a:xfrm>
          <a:prstGeom prst="rect">
            <a:avLst/>
          </a:prstGeom>
          <a:noFill/>
          <a:ln/>
        </p:spPr>
        <p:txBody>
          <a:bodyPr wrap="square" rtlCol="0" anchor="ctr"/>
          <a:lstStyle/>
          <a:p>
            <a:pPr indent="0" marL="0">
              <a:lnSpc>
                <a:spcPct val="115000"/>
              </a:lnSpc>
              <a:buNone/>
            </a:pPr>
            <a:r>
              <a:rPr lang="en-US" sz="1300" i="1" dirty="0">
                <a:solidFill>
                  <a:srgbClr val="33415C"/>
                </a:solidFill>
                <a:latin typeface="Assistant" pitchFamily="34" charset="0"/>
                <a:ea typeface="Assistant" pitchFamily="34" charset="-122"/>
                <a:cs typeface="Assistant" pitchFamily="34" charset="-120"/>
              </a:rPr>
              <a:t>OpenAI : qualité &amp; rapidité.  Ollama : confidentialité (données sur la machine du formateur).</a:t>
            </a:r>
            <a:endParaRPr lang="en-US" sz="1300" dirty="0"/>
          </a:p>
        </p:txBody>
      </p:sp>
      <p:sp>
        <p:nvSpPr>
          <p:cNvPr id="44" name="Shape 42"/>
          <p:cNvSpPr/>
          <p:nvPr/>
        </p:nvSpPr>
        <p:spPr>
          <a:xfrm>
            <a:off x="7086600" y="1828800"/>
            <a:ext cx="4480560" cy="3931920"/>
          </a:xfrm>
          <a:prstGeom prst="roundRect">
            <a:avLst>
              <a:gd name="adj" fmla="val 3256"/>
            </a:avLst>
          </a:prstGeom>
          <a:solidFill>
            <a:srgbClr val="E3EDFF"/>
          </a:solidFill>
          <a:ln/>
        </p:spPr>
      </p:sp>
      <p:sp>
        <p:nvSpPr>
          <p:cNvPr id="45" name="Text 43"/>
          <p:cNvSpPr/>
          <p:nvPr/>
        </p:nvSpPr>
        <p:spPr>
          <a:xfrm>
            <a:off x="7360920" y="2057400"/>
            <a:ext cx="4023360" cy="320040"/>
          </a:xfrm>
          <a:prstGeom prst="rect">
            <a:avLst/>
          </a:prstGeom>
          <a:noFill/>
          <a:ln/>
        </p:spPr>
        <p:txBody>
          <a:bodyPr wrap="square" rtlCol="0" anchor="ctr"/>
          <a:lstStyle/>
          <a:p>
            <a:pPr indent="0" marL="0">
              <a:buNone/>
            </a:pPr>
            <a:r>
              <a:rPr lang="en-US" sz="1200" b="1" spc="200" kern="0" dirty="0">
                <a:solidFill>
                  <a:srgbClr val="0097A7"/>
                </a:solidFill>
                <a:latin typeface="Assistant" pitchFamily="34" charset="0"/>
                <a:ea typeface="Assistant" pitchFamily="34" charset="-122"/>
                <a:cs typeface="Assistant" pitchFamily="34" charset="-120"/>
              </a:rPr>
              <a:t>VALIDATION TECHNIQUE</a:t>
            </a:r>
            <a:endParaRPr lang="en-US" sz="1200" dirty="0"/>
          </a:p>
        </p:txBody>
      </p:sp>
      <p:sp>
        <p:nvSpPr>
          <p:cNvPr id="46" name="Text 44"/>
          <p:cNvSpPr/>
          <p:nvPr/>
        </p:nvSpPr>
        <p:spPr>
          <a:xfrm>
            <a:off x="7360920" y="2514600"/>
            <a:ext cx="1417320" cy="731520"/>
          </a:xfrm>
          <a:prstGeom prst="rect">
            <a:avLst/>
          </a:prstGeom>
          <a:noFill/>
          <a:ln/>
        </p:spPr>
        <p:txBody>
          <a:bodyPr wrap="square" rtlCol="0" anchor="ctr"/>
          <a:lstStyle/>
          <a:p>
            <a:pPr indent="0" marL="0">
              <a:buNone/>
            </a:pPr>
            <a:r>
              <a:rPr lang="en-US" sz="3600" b="1" dirty="0">
                <a:solidFill>
                  <a:srgbClr val="385CB0"/>
                </a:solidFill>
                <a:latin typeface="Archivo" pitchFamily="34" charset="0"/>
                <a:ea typeface="Archivo" pitchFamily="34" charset="-122"/>
                <a:cs typeface="Archivo" pitchFamily="34" charset="-120"/>
              </a:rPr>
              <a:t>27</a:t>
            </a:r>
            <a:endParaRPr lang="en-US" sz="3600" dirty="0"/>
          </a:p>
        </p:txBody>
      </p:sp>
      <p:sp>
        <p:nvSpPr>
          <p:cNvPr id="47" name="Text 45"/>
          <p:cNvSpPr/>
          <p:nvPr/>
        </p:nvSpPr>
        <p:spPr>
          <a:xfrm>
            <a:off x="8823960" y="2624328"/>
            <a:ext cx="2606040" cy="594360"/>
          </a:xfrm>
          <a:prstGeom prst="rect">
            <a:avLst/>
          </a:prstGeom>
          <a:noFill/>
          <a:ln/>
        </p:spPr>
        <p:txBody>
          <a:bodyPr wrap="square" rtlCol="0" anchor="ctr"/>
          <a:lstStyle/>
          <a:p>
            <a:pPr indent="0" marL="0">
              <a:buNone/>
            </a:pPr>
            <a:r>
              <a:rPr lang="en-US" sz="1300" dirty="0">
                <a:solidFill>
                  <a:srgbClr val="33415C"/>
                </a:solidFill>
                <a:latin typeface="Assistant" pitchFamily="34" charset="0"/>
                <a:ea typeface="Assistant" pitchFamily="34" charset="-122"/>
                <a:cs typeface="Assistant" pitchFamily="34" charset="-120"/>
              </a:rPr>
              <a:t>tests pytest — 100 % de réussite</a:t>
            </a:r>
            <a:endParaRPr lang="en-US" sz="1300" dirty="0"/>
          </a:p>
        </p:txBody>
      </p:sp>
      <p:sp>
        <p:nvSpPr>
          <p:cNvPr id="48" name="Text 46"/>
          <p:cNvSpPr/>
          <p:nvPr/>
        </p:nvSpPr>
        <p:spPr>
          <a:xfrm>
            <a:off x="7360920" y="3520440"/>
            <a:ext cx="1417320" cy="731520"/>
          </a:xfrm>
          <a:prstGeom prst="rect">
            <a:avLst/>
          </a:prstGeom>
          <a:noFill/>
          <a:ln/>
        </p:spPr>
        <p:txBody>
          <a:bodyPr wrap="square" rtlCol="0" anchor="ctr"/>
          <a:lstStyle/>
          <a:p>
            <a:pPr indent="0" marL="0">
              <a:buNone/>
            </a:pPr>
            <a:r>
              <a:rPr lang="en-US" sz="3600" b="1" dirty="0">
                <a:solidFill>
                  <a:srgbClr val="385CB0"/>
                </a:solidFill>
                <a:latin typeface="Archivo" pitchFamily="34" charset="0"/>
                <a:ea typeface="Archivo" pitchFamily="34" charset="-122"/>
                <a:cs typeface="Archivo" pitchFamily="34" charset="-120"/>
              </a:rPr>
              <a:t>2</a:t>
            </a:r>
            <a:endParaRPr lang="en-US" sz="3600" dirty="0"/>
          </a:p>
        </p:txBody>
      </p:sp>
      <p:sp>
        <p:nvSpPr>
          <p:cNvPr id="49" name="Text 47"/>
          <p:cNvSpPr/>
          <p:nvPr/>
        </p:nvSpPr>
        <p:spPr>
          <a:xfrm>
            <a:off x="8823960" y="3630168"/>
            <a:ext cx="2606040" cy="594360"/>
          </a:xfrm>
          <a:prstGeom prst="rect">
            <a:avLst/>
          </a:prstGeom>
          <a:noFill/>
          <a:ln/>
        </p:spPr>
        <p:txBody>
          <a:bodyPr wrap="square" rtlCol="0" anchor="ctr"/>
          <a:lstStyle/>
          <a:p>
            <a:pPr indent="0" marL="0">
              <a:buNone/>
            </a:pPr>
            <a:r>
              <a:rPr lang="en-US" sz="1300" dirty="0">
                <a:solidFill>
                  <a:srgbClr val="33415C"/>
                </a:solidFill>
                <a:latin typeface="Assistant" pitchFamily="34" charset="0"/>
                <a:ea typeface="Assistant" pitchFamily="34" charset="-122"/>
                <a:cs typeface="Assistant" pitchFamily="34" charset="-120"/>
              </a:rPr>
              <a:t>livres pédagogiques pris en charge</a:t>
            </a:r>
            <a:endParaRPr lang="en-US" sz="1300" dirty="0"/>
          </a:p>
        </p:txBody>
      </p:sp>
      <p:sp>
        <p:nvSpPr>
          <p:cNvPr id="50" name="Text 48"/>
          <p:cNvSpPr/>
          <p:nvPr/>
        </p:nvSpPr>
        <p:spPr>
          <a:xfrm>
            <a:off x="7360920" y="4526280"/>
            <a:ext cx="1417320" cy="731520"/>
          </a:xfrm>
          <a:prstGeom prst="rect">
            <a:avLst/>
          </a:prstGeom>
          <a:noFill/>
          <a:ln/>
        </p:spPr>
        <p:txBody>
          <a:bodyPr wrap="square" rtlCol="0" anchor="ctr"/>
          <a:lstStyle/>
          <a:p>
            <a:pPr indent="0" marL="0">
              <a:buNone/>
            </a:pPr>
            <a:r>
              <a:rPr lang="en-US" sz="3600" b="1" dirty="0">
                <a:solidFill>
                  <a:srgbClr val="385CB0"/>
                </a:solidFill>
                <a:latin typeface="Archivo" pitchFamily="34" charset="0"/>
                <a:ea typeface="Archivo" pitchFamily="34" charset="-122"/>
                <a:cs typeface="Archivo" pitchFamily="34" charset="-120"/>
              </a:rPr>
              <a:t>438</a:t>
            </a:r>
            <a:endParaRPr lang="en-US" sz="3600" dirty="0"/>
          </a:p>
        </p:txBody>
      </p:sp>
      <p:sp>
        <p:nvSpPr>
          <p:cNvPr id="51" name="Text 49"/>
          <p:cNvSpPr/>
          <p:nvPr/>
        </p:nvSpPr>
        <p:spPr>
          <a:xfrm>
            <a:off x="8823960" y="4636008"/>
            <a:ext cx="2606040" cy="594360"/>
          </a:xfrm>
          <a:prstGeom prst="rect">
            <a:avLst/>
          </a:prstGeom>
          <a:noFill/>
          <a:ln/>
        </p:spPr>
        <p:txBody>
          <a:bodyPr wrap="square" rtlCol="0" anchor="ctr"/>
          <a:lstStyle/>
          <a:p>
            <a:pPr indent="0" marL="0">
              <a:buNone/>
            </a:pPr>
            <a:r>
              <a:rPr lang="en-US" sz="1300" dirty="0">
                <a:solidFill>
                  <a:srgbClr val="33415C"/>
                </a:solidFill>
                <a:latin typeface="Assistant" pitchFamily="34" charset="0"/>
                <a:ea typeface="Assistant" pitchFamily="34" charset="-122"/>
                <a:cs typeface="Assistant" pitchFamily="34" charset="-120"/>
              </a:rPr>
              <a:t>interactions · 1 232 arêtes</a:t>
            </a:r>
            <a:endParaRPr lang="en-US" sz="1300" dirty="0"/>
          </a:p>
        </p:txBody>
      </p:sp>
      <p:sp>
        <p:nvSpPr>
          <p:cNvPr id="52" name="Text 50"/>
          <p:cNvSpPr/>
          <p:nvPr/>
        </p:nvSpPr>
        <p:spPr>
          <a:xfrm>
            <a:off x="7360920" y="5440680"/>
            <a:ext cx="4023360" cy="320040"/>
          </a:xfrm>
          <a:prstGeom prst="rect">
            <a:avLst/>
          </a:prstGeom>
          <a:noFill/>
          <a:ln/>
        </p:spPr>
        <p:txBody>
          <a:bodyPr wrap="square" rtlCol="0" anchor="ctr"/>
          <a:lstStyle/>
          <a:p>
            <a:pPr indent="0" marL="0">
              <a:buNone/>
            </a:pPr>
            <a:r>
              <a:rPr lang="en-US" sz="1100" i="1" dirty="0">
                <a:solidFill>
                  <a:srgbClr val="8893AE"/>
                </a:solidFill>
                <a:latin typeface="Assistant" pitchFamily="34" charset="0"/>
                <a:ea typeface="Assistant" pitchFamily="34" charset="-122"/>
                <a:cs typeface="Assistant" pitchFamily="34" charset="-120"/>
              </a:rPr>
              <a:t>Round-trip JSON &amp; écriture atomique validés sur les fichiers réels.</a:t>
            </a:r>
            <a:endParaRPr lang="en-US" sz="1100" dirty="0"/>
          </a:p>
        </p:txBody>
      </p:sp>
      <p:sp>
        <p:nvSpPr>
          <p:cNvPr id="53" name="Shape 51"/>
          <p:cNvSpPr/>
          <p:nvPr/>
        </p:nvSpPr>
        <p:spPr>
          <a:xfrm>
            <a:off x="9829800" y="6327648"/>
            <a:ext cx="82296" cy="82296"/>
          </a:xfrm>
          <a:prstGeom prst="ellipse">
            <a:avLst/>
          </a:prstGeom>
          <a:solidFill>
            <a:srgbClr val="76A3EE"/>
          </a:solidFill>
          <a:ln/>
        </p:spPr>
      </p:sp>
      <p:sp>
        <p:nvSpPr>
          <p:cNvPr id="54" name="Shape 52"/>
          <p:cNvSpPr/>
          <p:nvPr/>
        </p:nvSpPr>
        <p:spPr>
          <a:xfrm>
            <a:off x="10030968" y="6327648"/>
            <a:ext cx="82296" cy="82296"/>
          </a:xfrm>
          <a:prstGeom prst="ellipse">
            <a:avLst/>
          </a:prstGeom>
          <a:solidFill>
            <a:srgbClr val="76A3EE"/>
          </a:solidFill>
          <a:ln/>
        </p:spPr>
      </p:sp>
      <p:sp>
        <p:nvSpPr>
          <p:cNvPr id="55" name="Shape 53"/>
          <p:cNvSpPr/>
          <p:nvPr/>
        </p:nvSpPr>
        <p:spPr>
          <a:xfrm>
            <a:off x="10232136" y="6327648"/>
            <a:ext cx="82296" cy="82296"/>
          </a:xfrm>
          <a:prstGeom prst="ellipse">
            <a:avLst/>
          </a:prstGeom>
          <a:solidFill>
            <a:srgbClr val="76A3EE"/>
          </a:solidFill>
          <a:ln/>
        </p:spPr>
      </p:sp>
      <p:sp>
        <p:nvSpPr>
          <p:cNvPr id="56" name="Shape 54"/>
          <p:cNvSpPr/>
          <p:nvPr/>
        </p:nvSpPr>
        <p:spPr>
          <a:xfrm>
            <a:off x="10433304" y="6327648"/>
            <a:ext cx="82296" cy="82296"/>
          </a:xfrm>
          <a:prstGeom prst="ellipse">
            <a:avLst/>
          </a:prstGeom>
          <a:solidFill>
            <a:srgbClr val="76A3EE"/>
          </a:solidFill>
          <a:ln/>
        </p:spPr>
      </p:sp>
      <p:sp>
        <p:nvSpPr>
          <p:cNvPr id="57" name="Shape 55"/>
          <p:cNvSpPr/>
          <p:nvPr/>
        </p:nvSpPr>
        <p:spPr>
          <a:xfrm>
            <a:off x="10634472" y="6327648"/>
            <a:ext cx="82296" cy="82296"/>
          </a:xfrm>
          <a:prstGeom prst="ellipse">
            <a:avLst/>
          </a:prstGeom>
          <a:solidFill>
            <a:srgbClr val="385CB0"/>
          </a:solidFill>
          <a:ln/>
        </p:spPr>
      </p:sp>
      <p:sp>
        <p:nvSpPr>
          <p:cNvPr id="58" name="Text 56"/>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DISCUSSION</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Portée, limites et garde-fous éthiques</a:t>
            </a:r>
            <a:endParaRPr lang="en-US" sz="2800" dirty="0"/>
          </a:p>
        </p:txBody>
      </p:sp>
      <p:sp>
        <p:nvSpPr>
          <p:cNvPr id="13" name="Shape 11"/>
          <p:cNvSpPr/>
          <p:nvPr/>
        </p:nvSpPr>
        <p:spPr>
          <a:xfrm>
            <a:off x="640080" y="1783080"/>
            <a:ext cx="6903720" cy="1207008"/>
          </a:xfrm>
          <a:prstGeom prst="roundRect">
            <a:avLst>
              <a:gd name="adj" fmla="val 7576"/>
            </a:avLst>
          </a:prstGeom>
          <a:solidFill>
            <a:srgbClr val="FFFFFF"/>
          </a:solidFill>
          <a:ln w="13970">
            <a:solidFill>
              <a:srgbClr val="76A3EE"/>
            </a:solidFill>
            <a:prstDash val="solid"/>
          </a:ln>
        </p:spPr>
      </p:sp>
      <p:sp>
        <p:nvSpPr>
          <p:cNvPr id="14" name="Shape 12"/>
          <p:cNvSpPr/>
          <p:nvPr/>
        </p:nvSpPr>
        <p:spPr>
          <a:xfrm>
            <a:off x="868680" y="2075688"/>
            <a:ext cx="566928" cy="566928"/>
          </a:xfrm>
          <a:prstGeom prst="ellipse">
            <a:avLst/>
          </a:prstGeom>
          <a:solidFill>
            <a:srgbClr val="385CB0"/>
          </a:solidFill>
          <a:ln/>
        </p:spPr>
      </p:sp>
      <p:sp>
        <p:nvSpPr>
          <p:cNvPr id="15" name="Shape 13"/>
          <p:cNvSpPr/>
          <p:nvPr/>
        </p:nvSpPr>
        <p:spPr>
          <a:xfrm>
            <a:off x="1109738" y="2234428"/>
            <a:ext cx="84812" cy="249448"/>
          </a:xfrm>
          <a:prstGeom prst="roundRect">
            <a:avLst>
              <a:gd name="adj" fmla="val 28000"/>
            </a:avLst>
          </a:prstGeom>
          <a:solidFill>
            <a:srgbClr val="FFFFFF"/>
          </a:solidFill>
          <a:ln/>
        </p:spPr>
      </p:sp>
      <p:sp>
        <p:nvSpPr>
          <p:cNvPr id="16" name="Shape 14"/>
          <p:cNvSpPr/>
          <p:nvPr/>
        </p:nvSpPr>
        <p:spPr>
          <a:xfrm>
            <a:off x="1027420" y="2316746"/>
            <a:ext cx="249448" cy="84812"/>
          </a:xfrm>
          <a:prstGeom prst="roundRect">
            <a:avLst>
              <a:gd name="adj" fmla="val 28000"/>
            </a:avLst>
          </a:prstGeom>
          <a:solidFill>
            <a:srgbClr val="FFFFFF"/>
          </a:solidFill>
          <a:ln/>
        </p:spPr>
      </p:sp>
      <p:sp>
        <p:nvSpPr>
          <p:cNvPr id="17" name="Text 15"/>
          <p:cNvSpPr/>
          <p:nvPr/>
        </p:nvSpPr>
        <p:spPr>
          <a:xfrm>
            <a:off x="1645920" y="1929384"/>
            <a:ext cx="5760720" cy="384048"/>
          </a:xfrm>
          <a:prstGeom prst="rect">
            <a:avLst/>
          </a:prstGeom>
          <a:noFill/>
          <a:ln/>
        </p:spPr>
        <p:txBody>
          <a:bodyPr wrap="square" rtlCol="0" anchor="ctr"/>
          <a:lstStyle/>
          <a:p>
            <a:pPr indent="0" marL="0">
              <a:buNone/>
            </a:pPr>
            <a:r>
              <a:rPr lang="en-US" sz="1550" b="1" dirty="0">
                <a:solidFill>
                  <a:srgbClr val="001B58"/>
                </a:solidFill>
                <a:latin typeface="Archivo" pitchFamily="34" charset="0"/>
                <a:ea typeface="Archivo" pitchFamily="34" charset="-122"/>
                <a:cs typeface="Archivo" pitchFamily="34" charset="-120"/>
              </a:rPr>
              <a:t>Conformité à interpréter avec prudence</a:t>
            </a:r>
            <a:endParaRPr lang="en-US" sz="1550" dirty="0"/>
          </a:p>
        </p:txBody>
      </p:sp>
      <p:sp>
        <p:nvSpPr>
          <p:cNvPr id="18" name="Text 16"/>
          <p:cNvSpPr/>
          <p:nvPr/>
        </p:nvSpPr>
        <p:spPr>
          <a:xfrm>
            <a:off x="1645920" y="2295144"/>
            <a:ext cx="5806440" cy="658368"/>
          </a:xfrm>
          <a:prstGeom prst="rect">
            <a:avLst/>
          </a:prstGeom>
          <a:noFill/>
          <a:ln/>
        </p:spPr>
        <p:txBody>
          <a:bodyPr wrap="square" rtlCol="0" anchor="ctr"/>
          <a:lstStyle/>
          <a:p>
            <a:pPr indent="0" marL="0">
              <a:lnSpc>
                <a:spcPct val="112000"/>
              </a:lnSpc>
              <a:buNone/>
            </a:pPr>
            <a:r>
              <a:rPr lang="en-US" sz="1250" dirty="0">
                <a:solidFill>
                  <a:srgbClr val="33415C"/>
                </a:solidFill>
                <a:latin typeface="Assistant" pitchFamily="34" charset="0"/>
                <a:ea typeface="Assistant" pitchFamily="34" charset="-122"/>
                <a:cs typeface="Assistant" pitchFamily="34" charset="-120"/>
              </a:rPr>
              <a:t>Respecter un score ≠ porter l'intention narrative. Le ton, les silences, le non-verbal échappent à l'analyse textuelle.</a:t>
            </a:r>
            <a:endParaRPr lang="en-US" sz="1250" dirty="0"/>
          </a:p>
        </p:txBody>
      </p:sp>
      <p:sp>
        <p:nvSpPr>
          <p:cNvPr id="19" name="Shape 17"/>
          <p:cNvSpPr/>
          <p:nvPr/>
        </p:nvSpPr>
        <p:spPr>
          <a:xfrm>
            <a:off x="640080" y="3136392"/>
            <a:ext cx="6903720" cy="1207008"/>
          </a:xfrm>
          <a:prstGeom prst="roundRect">
            <a:avLst>
              <a:gd name="adj" fmla="val 7576"/>
            </a:avLst>
          </a:prstGeom>
          <a:solidFill>
            <a:srgbClr val="E3EDFF"/>
          </a:solidFill>
          <a:ln w="13970">
            <a:solidFill>
              <a:srgbClr val="76A3EE"/>
            </a:solidFill>
            <a:prstDash val="solid"/>
          </a:ln>
        </p:spPr>
      </p:sp>
      <p:sp>
        <p:nvSpPr>
          <p:cNvPr id="20" name="Shape 18"/>
          <p:cNvSpPr/>
          <p:nvPr/>
        </p:nvSpPr>
        <p:spPr>
          <a:xfrm>
            <a:off x="868680" y="3429000"/>
            <a:ext cx="566928" cy="566928"/>
          </a:xfrm>
          <a:prstGeom prst="ellipse">
            <a:avLst/>
          </a:prstGeom>
          <a:solidFill>
            <a:srgbClr val="76A3EE"/>
          </a:solidFill>
          <a:ln/>
        </p:spPr>
      </p:sp>
      <p:sp>
        <p:nvSpPr>
          <p:cNvPr id="21" name="Shape 19"/>
          <p:cNvSpPr/>
          <p:nvPr/>
        </p:nvSpPr>
        <p:spPr>
          <a:xfrm>
            <a:off x="1109738" y="3587740"/>
            <a:ext cx="84812" cy="249448"/>
          </a:xfrm>
          <a:prstGeom prst="roundRect">
            <a:avLst>
              <a:gd name="adj" fmla="val 28000"/>
            </a:avLst>
          </a:prstGeom>
          <a:solidFill>
            <a:srgbClr val="FFFFFF"/>
          </a:solidFill>
          <a:ln/>
        </p:spPr>
      </p:sp>
      <p:sp>
        <p:nvSpPr>
          <p:cNvPr id="22" name="Shape 20"/>
          <p:cNvSpPr/>
          <p:nvPr/>
        </p:nvSpPr>
        <p:spPr>
          <a:xfrm>
            <a:off x="1027420" y="3670058"/>
            <a:ext cx="249448" cy="84812"/>
          </a:xfrm>
          <a:prstGeom prst="roundRect">
            <a:avLst>
              <a:gd name="adj" fmla="val 28000"/>
            </a:avLst>
          </a:prstGeom>
          <a:solidFill>
            <a:srgbClr val="FFFFFF"/>
          </a:solidFill>
          <a:ln/>
        </p:spPr>
      </p:sp>
      <p:sp>
        <p:nvSpPr>
          <p:cNvPr id="23" name="Text 21"/>
          <p:cNvSpPr/>
          <p:nvPr/>
        </p:nvSpPr>
        <p:spPr>
          <a:xfrm>
            <a:off x="1645920" y="3282696"/>
            <a:ext cx="5760720" cy="384048"/>
          </a:xfrm>
          <a:prstGeom prst="rect">
            <a:avLst/>
          </a:prstGeom>
          <a:noFill/>
          <a:ln/>
        </p:spPr>
        <p:txBody>
          <a:bodyPr wrap="square" rtlCol="0" anchor="ctr"/>
          <a:lstStyle/>
          <a:p>
            <a:pPr indent="0" marL="0">
              <a:buNone/>
            </a:pPr>
            <a:r>
              <a:rPr lang="en-US" sz="1550" b="1" dirty="0">
                <a:solidFill>
                  <a:srgbClr val="001B58"/>
                </a:solidFill>
                <a:latin typeface="Archivo" pitchFamily="34" charset="0"/>
                <a:ea typeface="Archivo" pitchFamily="34" charset="-122"/>
                <a:cs typeface="Archivo" pitchFamily="34" charset="-120"/>
              </a:rPr>
              <a:t>Référence de scoring fragile</a:t>
            </a:r>
            <a:endParaRPr lang="en-US" sz="1550" dirty="0"/>
          </a:p>
        </p:txBody>
      </p:sp>
      <p:sp>
        <p:nvSpPr>
          <p:cNvPr id="24" name="Text 22"/>
          <p:cNvSpPr/>
          <p:nvPr/>
        </p:nvSpPr>
        <p:spPr>
          <a:xfrm>
            <a:off x="1645920" y="3648456"/>
            <a:ext cx="5806440" cy="658368"/>
          </a:xfrm>
          <a:prstGeom prst="rect">
            <a:avLst/>
          </a:prstGeom>
          <a:noFill/>
          <a:ln/>
        </p:spPr>
        <p:txBody>
          <a:bodyPr wrap="square" rtlCol="0" anchor="ctr"/>
          <a:lstStyle/>
          <a:p>
            <a:pPr indent="0" marL="0">
              <a:lnSpc>
                <a:spcPct val="112000"/>
              </a:lnSpc>
              <a:buNone/>
            </a:pPr>
            <a:r>
              <a:rPr lang="en-US" sz="1250" dirty="0">
                <a:solidFill>
                  <a:srgbClr val="33415C"/>
                </a:solidFill>
                <a:latin typeface="Assistant" pitchFamily="34" charset="0"/>
                <a:ea typeface="Assistant" pitchFamily="34" charset="-122"/>
                <a:cs typeface="Assistant" pitchFamily="34" charset="-120"/>
              </a:rPr>
              <a:t>Scores humains fixés par un seul annotateur sur 15 réponses. Un accord inter-annotateurs (kappa) consoliderait le gold standard.</a:t>
            </a:r>
            <a:endParaRPr lang="en-US" sz="1250" dirty="0"/>
          </a:p>
        </p:txBody>
      </p:sp>
      <p:sp>
        <p:nvSpPr>
          <p:cNvPr id="25" name="Shape 23"/>
          <p:cNvSpPr/>
          <p:nvPr/>
        </p:nvSpPr>
        <p:spPr>
          <a:xfrm>
            <a:off x="640080" y="4489704"/>
            <a:ext cx="6903720" cy="1207008"/>
          </a:xfrm>
          <a:prstGeom prst="roundRect">
            <a:avLst>
              <a:gd name="adj" fmla="val 7576"/>
            </a:avLst>
          </a:prstGeom>
          <a:solidFill>
            <a:srgbClr val="FFFFFF"/>
          </a:solidFill>
          <a:ln w="13970">
            <a:solidFill>
              <a:srgbClr val="76A3EE"/>
            </a:solidFill>
            <a:prstDash val="solid"/>
          </a:ln>
        </p:spPr>
      </p:sp>
      <p:sp>
        <p:nvSpPr>
          <p:cNvPr id="26" name="Shape 24"/>
          <p:cNvSpPr/>
          <p:nvPr/>
        </p:nvSpPr>
        <p:spPr>
          <a:xfrm>
            <a:off x="868680" y="4782312"/>
            <a:ext cx="566928" cy="566928"/>
          </a:xfrm>
          <a:prstGeom prst="ellipse">
            <a:avLst/>
          </a:prstGeom>
          <a:solidFill>
            <a:srgbClr val="0097A7"/>
          </a:solidFill>
          <a:ln/>
        </p:spPr>
      </p:sp>
      <p:sp>
        <p:nvSpPr>
          <p:cNvPr id="27" name="Shape 25"/>
          <p:cNvSpPr/>
          <p:nvPr/>
        </p:nvSpPr>
        <p:spPr>
          <a:xfrm>
            <a:off x="1109738" y="4941052"/>
            <a:ext cx="84812" cy="249448"/>
          </a:xfrm>
          <a:prstGeom prst="roundRect">
            <a:avLst>
              <a:gd name="adj" fmla="val 28000"/>
            </a:avLst>
          </a:prstGeom>
          <a:solidFill>
            <a:srgbClr val="FFFFFF"/>
          </a:solidFill>
          <a:ln/>
        </p:spPr>
      </p:sp>
      <p:sp>
        <p:nvSpPr>
          <p:cNvPr id="28" name="Shape 26"/>
          <p:cNvSpPr/>
          <p:nvPr/>
        </p:nvSpPr>
        <p:spPr>
          <a:xfrm>
            <a:off x="1027420" y="5023370"/>
            <a:ext cx="249448" cy="84812"/>
          </a:xfrm>
          <a:prstGeom prst="roundRect">
            <a:avLst>
              <a:gd name="adj" fmla="val 28000"/>
            </a:avLst>
          </a:prstGeom>
          <a:solidFill>
            <a:srgbClr val="FFFFFF"/>
          </a:solidFill>
          <a:ln/>
        </p:spPr>
      </p:sp>
      <p:sp>
        <p:nvSpPr>
          <p:cNvPr id="29" name="Text 27"/>
          <p:cNvSpPr/>
          <p:nvPr/>
        </p:nvSpPr>
        <p:spPr>
          <a:xfrm>
            <a:off x="1645920" y="4636008"/>
            <a:ext cx="5760720" cy="384048"/>
          </a:xfrm>
          <a:prstGeom prst="rect">
            <a:avLst/>
          </a:prstGeom>
          <a:noFill/>
          <a:ln/>
        </p:spPr>
        <p:txBody>
          <a:bodyPr wrap="square" rtlCol="0" anchor="ctr"/>
          <a:lstStyle/>
          <a:p>
            <a:pPr indent="0" marL="0">
              <a:buNone/>
            </a:pPr>
            <a:r>
              <a:rPr lang="en-US" sz="1550" b="1" dirty="0">
                <a:solidFill>
                  <a:srgbClr val="001B58"/>
                </a:solidFill>
                <a:latin typeface="Archivo" pitchFamily="34" charset="0"/>
                <a:ea typeface="Archivo" pitchFamily="34" charset="-122"/>
                <a:cs typeface="Archivo" pitchFamily="34" charset="-120"/>
              </a:rPr>
              <a:t>Pas encore de test utilisateur</a:t>
            </a:r>
            <a:endParaRPr lang="en-US" sz="1550" dirty="0"/>
          </a:p>
        </p:txBody>
      </p:sp>
      <p:sp>
        <p:nvSpPr>
          <p:cNvPr id="30" name="Text 28"/>
          <p:cNvSpPr/>
          <p:nvPr/>
        </p:nvSpPr>
        <p:spPr>
          <a:xfrm>
            <a:off x="1645920" y="5001768"/>
            <a:ext cx="5806440" cy="658368"/>
          </a:xfrm>
          <a:prstGeom prst="rect">
            <a:avLst/>
          </a:prstGeom>
          <a:noFill/>
          <a:ln/>
        </p:spPr>
        <p:txBody>
          <a:bodyPr wrap="square" rtlCol="0" anchor="ctr"/>
          <a:lstStyle/>
          <a:p>
            <a:pPr indent="0" marL="0">
              <a:lnSpc>
                <a:spcPct val="112000"/>
              </a:lnSpc>
              <a:buNone/>
            </a:pPr>
            <a:r>
              <a:rPr lang="en-US" sz="1250" dirty="0">
                <a:solidFill>
                  <a:srgbClr val="33415C"/>
                </a:solidFill>
                <a:latin typeface="Assistant" pitchFamily="34" charset="0"/>
                <a:ea typeface="Assistant" pitchFamily="34" charset="-122"/>
                <a:cs typeface="Assistant" pitchFamily="34" charset="-120"/>
              </a:rPr>
              <a:t>L'ergonomie reste à mesurer avec des formateurs et cliniciens du CHUV (SUS / PSSUQ).</a:t>
            </a:r>
            <a:endParaRPr lang="en-US" sz="1250" dirty="0"/>
          </a:p>
        </p:txBody>
      </p:sp>
      <p:sp>
        <p:nvSpPr>
          <p:cNvPr id="31" name="Shape 29"/>
          <p:cNvSpPr/>
          <p:nvPr/>
        </p:nvSpPr>
        <p:spPr>
          <a:xfrm>
            <a:off x="7772400" y="1783080"/>
            <a:ext cx="3840480" cy="4069080"/>
          </a:xfrm>
          <a:prstGeom prst="roundRect">
            <a:avLst>
              <a:gd name="adj" fmla="val 3333"/>
            </a:avLst>
          </a:prstGeom>
          <a:solidFill>
            <a:srgbClr val="001B58"/>
          </a:solidFill>
          <a:ln/>
        </p:spPr>
      </p:sp>
      <p:sp>
        <p:nvSpPr>
          <p:cNvPr id="32" name="Shape 30"/>
          <p:cNvSpPr/>
          <p:nvPr/>
        </p:nvSpPr>
        <p:spPr>
          <a:xfrm>
            <a:off x="11002061" y="2011680"/>
            <a:ext cx="124358" cy="365760"/>
          </a:xfrm>
          <a:prstGeom prst="roundRect">
            <a:avLst>
              <a:gd name="adj" fmla="val 28000"/>
            </a:avLst>
          </a:prstGeom>
          <a:solidFill>
            <a:srgbClr val="76A3EE"/>
          </a:solidFill>
          <a:ln/>
        </p:spPr>
      </p:sp>
      <p:sp>
        <p:nvSpPr>
          <p:cNvPr id="33" name="Shape 31"/>
          <p:cNvSpPr/>
          <p:nvPr/>
        </p:nvSpPr>
        <p:spPr>
          <a:xfrm>
            <a:off x="10881360" y="2132381"/>
            <a:ext cx="365760" cy="124358"/>
          </a:xfrm>
          <a:prstGeom prst="roundRect">
            <a:avLst>
              <a:gd name="adj" fmla="val 28000"/>
            </a:avLst>
          </a:prstGeom>
          <a:solidFill>
            <a:srgbClr val="76A3EE"/>
          </a:solidFill>
          <a:ln/>
        </p:spPr>
      </p:sp>
      <p:sp>
        <p:nvSpPr>
          <p:cNvPr id="34" name="Text 32"/>
          <p:cNvSpPr/>
          <p:nvPr/>
        </p:nvSpPr>
        <p:spPr>
          <a:xfrm>
            <a:off x="8046720" y="2103120"/>
            <a:ext cx="3291840" cy="320040"/>
          </a:xfrm>
          <a:prstGeom prst="rect">
            <a:avLst/>
          </a:prstGeom>
          <a:noFill/>
          <a:ln/>
        </p:spPr>
        <p:txBody>
          <a:bodyPr wrap="square" rtlCol="0" anchor="ctr"/>
          <a:lstStyle/>
          <a:p>
            <a:pPr indent="0" marL="0">
              <a:buNone/>
            </a:pPr>
            <a:r>
              <a:rPr lang="en-US" sz="1200" b="1" spc="200" kern="0" dirty="0">
                <a:solidFill>
                  <a:srgbClr val="76A3EE"/>
                </a:solidFill>
                <a:latin typeface="Assistant" pitchFamily="34" charset="0"/>
                <a:ea typeface="Assistant" pitchFamily="34" charset="-122"/>
                <a:cs typeface="Assistant" pitchFamily="34" charset="-120"/>
              </a:rPr>
              <a:t>ÉTHIQUE</a:t>
            </a:r>
            <a:endParaRPr lang="en-US" sz="1200" dirty="0"/>
          </a:p>
        </p:txBody>
      </p:sp>
      <p:sp>
        <p:nvSpPr>
          <p:cNvPr id="35" name="Text 33"/>
          <p:cNvSpPr/>
          <p:nvPr/>
        </p:nvSpPr>
        <p:spPr>
          <a:xfrm>
            <a:off x="8046720" y="2468880"/>
            <a:ext cx="3291840" cy="868680"/>
          </a:xfrm>
          <a:prstGeom prst="rect">
            <a:avLst/>
          </a:prstGeom>
          <a:noFill/>
          <a:ln/>
        </p:spPr>
        <p:txBody>
          <a:bodyPr wrap="square" rtlCol="0" anchor="ctr"/>
          <a:lstStyle/>
          <a:p>
            <a:pPr indent="0" marL="0">
              <a:lnSpc>
                <a:spcPct val="100000"/>
              </a:lnSpc>
              <a:buNone/>
            </a:pPr>
            <a:r>
              <a:rPr lang="en-US" sz="2000" b="1" dirty="0">
                <a:solidFill>
                  <a:srgbClr val="FFFFFF"/>
                </a:solidFill>
                <a:latin typeface="Archivo" pitchFamily="34" charset="0"/>
                <a:ea typeface="Archivo" pitchFamily="34" charset="-122"/>
                <a:cs typeface="Archivo" pitchFamily="34" charset="-120"/>
              </a:rPr>
              <a:t>Le human-in-the-loop est essentiel</a:t>
            </a:r>
            <a:endParaRPr lang="en-US" sz="2000" dirty="0"/>
          </a:p>
        </p:txBody>
      </p:sp>
      <p:sp>
        <p:nvSpPr>
          <p:cNvPr id="36" name="Text 34"/>
          <p:cNvSpPr/>
          <p:nvPr/>
        </p:nvSpPr>
        <p:spPr>
          <a:xfrm>
            <a:off x="8046720" y="3474720"/>
            <a:ext cx="3291840" cy="2286000"/>
          </a:xfrm>
          <a:prstGeom prst="rect">
            <a:avLst/>
          </a:prstGeom>
          <a:noFill/>
          <a:ln/>
        </p:spPr>
        <p:txBody>
          <a:bodyPr wrap="square" rtlCol="0" anchor="ctr"/>
          <a:lstStyle/>
          <a:p>
            <a:pPr indent="0" marL="0">
              <a:lnSpc>
                <a:spcPct val="120000"/>
              </a:lnSpc>
              <a:buNone/>
            </a:pPr>
            <a:r>
              <a:rPr lang="en-US" sz="1300" dirty="0">
                <a:solidFill>
                  <a:srgbClr val="E3EDFF"/>
                </a:solidFill>
                <a:latin typeface="Assistant" pitchFamily="34" charset="0"/>
                <a:ea typeface="Assistant" pitchFamily="34" charset="-122"/>
                <a:cs typeface="Assistant" pitchFamily="34" charset="-120"/>
              </a:rPr>
              <a:t>Les scénarios touchent au deuil et à la détresse. Aucune proposition IA n'est intégrée automatiquement.</a:t>
            </a:r>
            <a:endParaRPr lang="en-US" sz="1300" dirty="0"/>
          </a:p>
          <a:p>
            <a:pPr indent="0" marL="0">
              <a:lnSpc>
                <a:spcPct val="120000"/>
              </a:lnSpc>
              <a:buNone/>
            </a:pPr>
            <a:endParaRPr lang="en-US" sz="1300" dirty="0"/>
          </a:p>
          <a:p>
            <a:pPr indent="0" marL="0">
              <a:lnSpc>
                <a:spcPct val="120000"/>
              </a:lnSpc>
              <a:buNone/>
            </a:pPr>
            <a:r>
              <a:rPr lang="en-US" sz="1300" dirty="0">
                <a:solidFill>
                  <a:srgbClr val="E3EDFF"/>
                </a:solidFill>
                <a:latin typeface="Assistant" pitchFamily="34" charset="0"/>
                <a:ea typeface="Assistant" pitchFamily="34" charset="-122"/>
                <a:cs typeface="Assistant" pitchFamily="34" charset="-120"/>
              </a:rPr>
              <a:t>L'IA propose réponses, scores et justifications — la responsabilité finale reste au formateur clinique.</a:t>
            </a:r>
            <a:endParaRPr lang="en-US" sz="1300" dirty="0"/>
          </a:p>
        </p:txBody>
      </p:sp>
      <p:sp>
        <p:nvSpPr>
          <p:cNvPr id="37" name="Shape 35"/>
          <p:cNvSpPr/>
          <p:nvPr/>
        </p:nvSpPr>
        <p:spPr>
          <a:xfrm>
            <a:off x="9829800" y="6327648"/>
            <a:ext cx="82296" cy="82296"/>
          </a:xfrm>
          <a:prstGeom prst="ellipse">
            <a:avLst/>
          </a:prstGeom>
          <a:solidFill>
            <a:srgbClr val="385CB0"/>
          </a:solidFill>
          <a:ln/>
        </p:spPr>
      </p:sp>
      <p:sp>
        <p:nvSpPr>
          <p:cNvPr id="38" name="Shape 36"/>
          <p:cNvSpPr/>
          <p:nvPr/>
        </p:nvSpPr>
        <p:spPr>
          <a:xfrm>
            <a:off x="10030968" y="6327648"/>
            <a:ext cx="82296" cy="82296"/>
          </a:xfrm>
          <a:prstGeom prst="ellipse">
            <a:avLst/>
          </a:prstGeom>
          <a:solidFill>
            <a:srgbClr val="76A3EE"/>
          </a:solidFill>
          <a:ln/>
        </p:spPr>
      </p:sp>
      <p:sp>
        <p:nvSpPr>
          <p:cNvPr id="39" name="Shape 37"/>
          <p:cNvSpPr/>
          <p:nvPr/>
        </p:nvSpPr>
        <p:spPr>
          <a:xfrm>
            <a:off x="10232136" y="6327648"/>
            <a:ext cx="82296" cy="82296"/>
          </a:xfrm>
          <a:prstGeom prst="ellipse">
            <a:avLst/>
          </a:prstGeom>
          <a:solidFill>
            <a:srgbClr val="76A3EE"/>
          </a:solidFill>
          <a:ln/>
        </p:spPr>
      </p:sp>
      <p:sp>
        <p:nvSpPr>
          <p:cNvPr id="40" name="Shape 38"/>
          <p:cNvSpPr/>
          <p:nvPr/>
        </p:nvSpPr>
        <p:spPr>
          <a:xfrm>
            <a:off x="10433304" y="6327648"/>
            <a:ext cx="82296" cy="82296"/>
          </a:xfrm>
          <a:prstGeom prst="ellipse">
            <a:avLst/>
          </a:prstGeom>
          <a:solidFill>
            <a:srgbClr val="76A3EE"/>
          </a:solidFill>
          <a:ln/>
        </p:spPr>
      </p:sp>
      <p:sp>
        <p:nvSpPr>
          <p:cNvPr id="41" name="Shape 39"/>
          <p:cNvSpPr/>
          <p:nvPr/>
        </p:nvSpPr>
        <p:spPr>
          <a:xfrm>
            <a:off x="10634472" y="6327648"/>
            <a:ext cx="82296" cy="82296"/>
          </a:xfrm>
          <a:prstGeom prst="ellipse">
            <a:avLst/>
          </a:prstGeom>
          <a:solidFill>
            <a:srgbClr val="76A3EE"/>
          </a:solidFill>
          <a:ln/>
        </p:spPr>
      </p:sp>
      <p:sp>
        <p:nvSpPr>
          <p:cNvPr id="42" name="Text 40"/>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1B58"/>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76A3EE"/>
            </a:solidFill>
            <a:prstDash val="solid"/>
          </a:ln>
        </p:spPr>
      </p:sp>
      <p:sp>
        <p:nvSpPr>
          <p:cNvPr id="3" name="Shape 1"/>
          <p:cNvSpPr/>
          <p:nvPr/>
        </p:nvSpPr>
        <p:spPr>
          <a:xfrm>
            <a:off x="-1463040" y="-1463040"/>
            <a:ext cx="2926080" cy="2926080"/>
          </a:xfrm>
          <a:prstGeom prst="ellipse">
            <a:avLst/>
          </a:prstGeom>
          <a:solidFill>
            <a:srgbClr val="385CB0"/>
          </a:solidFill>
          <a:ln/>
        </p:spPr>
      </p:sp>
      <p:sp>
        <p:nvSpPr>
          <p:cNvPr id="4" name="Shape 2"/>
          <p:cNvSpPr/>
          <p:nvPr/>
        </p:nvSpPr>
        <p:spPr>
          <a:xfrm>
            <a:off x="10972800" y="5120640"/>
            <a:ext cx="2560320" cy="2560320"/>
          </a:xfrm>
          <a:prstGeom prst="ellipse">
            <a:avLst/>
          </a:prstGeom>
          <a:solidFill>
            <a:srgbClr val="385CB0"/>
          </a:solidFill>
          <a:ln/>
        </p:spPr>
      </p:sp>
      <p:sp>
        <p:nvSpPr>
          <p:cNvPr id="5" name="Shape 3"/>
          <p:cNvSpPr/>
          <p:nvPr/>
        </p:nvSpPr>
        <p:spPr>
          <a:xfrm>
            <a:off x="11367821" y="914400"/>
            <a:ext cx="124358" cy="365760"/>
          </a:xfrm>
          <a:prstGeom prst="roundRect">
            <a:avLst>
              <a:gd name="adj" fmla="val 28000"/>
            </a:avLst>
          </a:prstGeom>
          <a:solidFill>
            <a:srgbClr val="76A3EE"/>
          </a:solidFill>
          <a:ln/>
        </p:spPr>
      </p:sp>
      <p:sp>
        <p:nvSpPr>
          <p:cNvPr id="6" name="Shape 4"/>
          <p:cNvSpPr/>
          <p:nvPr/>
        </p:nvSpPr>
        <p:spPr>
          <a:xfrm>
            <a:off x="11247120" y="1035101"/>
            <a:ext cx="365760" cy="124358"/>
          </a:xfrm>
          <a:prstGeom prst="roundRect">
            <a:avLst>
              <a:gd name="adj" fmla="val 28000"/>
            </a:avLst>
          </a:prstGeom>
          <a:solidFill>
            <a:srgbClr val="76A3EE"/>
          </a:solidFill>
          <a:ln/>
        </p:spPr>
      </p:sp>
      <p:sp>
        <p:nvSpPr>
          <p:cNvPr id="7" name="Shape 5"/>
          <p:cNvSpPr/>
          <p:nvPr/>
        </p:nvSpPr>
        <p:spPr>
          <a:xfrm>
            <a:off x="822046" y="5486400"/>
            <a:ext cx="93269" cy="274320"/>
          </a:xfrm>
          <a:prstGeom prst="roundRect">
            <a:avLst>
              <a:gd name="adj" fmla="val 28000"/>
            </a:avLst>
          </a:prstGeom>
          <a:solidFill>
            <a:srgbClr val="76A3EE"/>
          </a:solidFill>
          <a:ln/>
        </p:spPr>
      </p:sp>
      <p:sp>
        <p:nvSpPr>
          <p:cNvPr id="8" name="Shape 6"/>
          <p:cNvSpPr/>
          <p:nvPr/>
        </p:nvSpPr>
        <p:spPr>
          <a:xfrm>
            <a:off x="731520" y="5576926"/>
            <a:ext cx="274320" cy="93269"/>
          </a:xfrm>
          <a:prstGeom prst="roundRect">
            <a:avLst>
              <a:gd name="adj" fmla="val 28000"/>
            </a:avLst>
          </a:prstGeom>
          <a:solidFill>
            <a:srgbClr val="76A3EE"/>
          </a:solidFill>
          <a:ln/>
        </p:spPr>
      </p:sp>
      <p:sp>
        <p:nvSpPr>
          <p:cNvPr id="9" name="Text 7"/>
          <p:cNvSpPr/>
          <p:nvPr/>
        </p:nvSpPr>
        <p:spPr>
          <a:xfrm>
            <a:off x="822960" y="640080"/>
            <a:ext cx="10058400" cy="365760"/>
          </a:xfrm>
          <a:prstGeom prst="rect">
            <a:avLst/>
          </a:prstGeom>
          <a:noFill/>
          <a:ln/>
        </p:spPr>
        <p:txBody>
          <a:bodyPr wrap="square" rtlCol="0" anchor="ctr"/>
          <a:lstStyle/>
          <a:p>
            <a:pPr indent="0" marL="0">
              <a:buNone/>
            </a:pPr>
            <a:r>
              <a:rPr lang="en-US" sz="1300" b="1" spc="300" kern="0" dirty="0">
                <a:solidFill>
                  <a:srgbClr val="76A3EE"/>
                </a:solidFill>
                <a:latin typeface="Assistant" pitchFamily="34" charset="0"/>
                <a:ea typeface="Assistant" pitchFamily="34" charset="-122"/>
                <a:cs typeface="Assistant" pitchFamily="34" charset="-120"/>
              </a:rPr>
              <a:t>CONCLUSION</a:t>
            </a:r>
            <a:endParaRPr lang="en-US" sz="1300" dirty="0"/>
          </a:p>
        </p:txBody>
      </p:sp>
      <p:sp>
        <p:nvSpPr>
          <p:cNvPr id="10" name="Text 8"/>
          <p:cNvSpPr/>
          <p:nvPr/>
        </p:nvSpPr>
        <p:spPr>
          <a:xfrm>
            <a:off x="822960" y="960120"/>
            <a:ext cx="10515600" cy="1005840"/>
          </a:xfrm>
          <a:prstGeom prst="rect">
            <a:avLst/>
          </a:prstGeom>
          <a:noFill/>
          <a:ln/>
        </p:spPr>
        <p:txBody>
          <a:bodyPr wrap="square" rtlCol="0" anchor="ctr"/>
          <a:lstStyle/>
          <a:p>
            <a:pPr indent="0" marL="0">
              <a:lnSpc>
                <a:spcPct val="100000"/>
              </a:lnSpc>
              <a:buNone/>
            </a:pPr>
            <a:r>
              <a:rPr lang="en-US" sz="2700" b="1" dirty="0">
                <a:solidFill>
                  <a:srgbClr val="FFFFFF"/>
                </a:solidFill>
                <a:latin typeface="Archivo" pitchFamily="34" charset="0"/>
                <a:ea typeface="Archivo" pitchFamily="34" charset="-122"/>
                <a:cs typeface="Archivo" pitchFamily="34" charset="-120"/>
              </a:rPr>
              <a:t>Un jeu sérieux devenu plateforme intelligente et maintenable</a:t>
            </a:r>
            <a:endParaRPr lang="en-US" sz="2700" dirty="0"/>
          </a:p>
        </p:txBody>
      </p:sp>
      <p:sp>
        <p:nvSpPr>
          <p:cNvPr id="11" name="Shape 9"/>
          <p:cNvSpPr/>
          <p:nvPr/>
        </p:nvSpPr>
        <p:spPr>
          <a:xfrm>
            <a:off x="822960" y="2606040"/>
            <a:ext cx="3474720" cy="3200400"/>
          </a:xfrm>
          <a:prstGeom prst="roundRect">
            <a:avLst>
              <a:gd name="adj" fmla="val 3429"/>
            </a:avLst>
          </a:prstGeom>
          <a:solidFill>
            <a:srgbClr val="0A2A66"/>
          </a:solidFill>
          <a:ln/>
        </p:spPr>
      </p:sp>
      <p:sp>
        <p:nvSpPr>
          <p:cNvPr id="12" name="Shape 10"/>
          <p:cNvSpPr/>
          <p:nvPr/>
        </p:nvSpPr>
        <p:spPr>
          <a:xfrm>
            <a:off x="1143000" y="2880360"/>
            <a:ext cx="640080" cy="640080"/>
          </a:xfrm>
          <a:prstGeom prst="ellipse">
            <a:avLst/>
          </a:prstGeom>
          <a:solidFill>
            <a:srgbClr val="76A3EE"/>
          </a:solidFill>
          <a:ln/>
        </p:spPr>
      </p:sp>
      <p:sp>
        <p:nvSpPr>
          <p:cNvPr id="13" name="Text 11"/>
          <p:cNvSpPr/>
          <p:nvPr/>
        </p:nvSpPr>
        <p:spPr>
          <a:xfrm>
            <a:off x="1143000" y="2880360"/>
            <a:ext cx="640080" cy="640080"/>
          </a:xfrm>
          <a:prstGeom prst="rect">
            <a:avLst/>
          </a:prstGeom>
          <a:noFill/>
          <a:ln/>
        </p:spPr>
        <p:txBody>
          <a:bodyPr wrap="square" rtlCol="0" anchor="ctr"/>
          <a:lstStyle/>
          <a:p>
            <a:pPr algn="ctr" indent="0" marL="0">
              <a:buNone/>
            </a:pPr>
            <a:r>
              <a:rPr lang="en-US" sz="1540" b="1" dirty="0">
                <a:solidFill>
                  <a:srgbClr val="001B58"/>
                </a:solidFill>
                <a:latin typeface="Archivo" pitchFamily="34" charset="0"/>
                <a:ea typeface="Archivo" pitchFamily="34" charset="-122"/>
                <a:cs typeface="Archivo" pitchFamily="34" charset="-120"/>
              </a:rPr>
              <a:t>1</a:t>
            </a:r>
            <a:endParaRPr lang="en-US" sz="1540" dirty="0"/>
          </a:p>
        </p:txBody>
      </p:sp>
      <p:sp>
        <p:nvSpPr>
          <p:cNvPr id="14" name="Text 12"/>
          <p:cNvSpPr/>
          <p:nvPr/>
        </p:nvSpPr>
        <p:spPr>
          <a:xfrm>
            <a:off x="1143000" y="3657600"/>
            <a:ext cx="2880360" cy="731520"/>
          </a:xfrm>
          <a:prstGeom prst="rect">
            <a:avLst/>
          </a:prstGeom>
          <a:noFill/>
          <a:ln/>
        </p:spPr>
        <p:txBody>
          <a:bodyPr wrap="square" rtlCol="0" anchor="ctr"/>
          <a:lstStyle/>
          <a:p>
            <a:pPr indent="0" marL="0">
              <a:buNone/>
            </a:pPr>
            <a:r>
              <a:rPr lang="en-US" sz="1700" b="1" dirty="0">
                <a:solidFill>
                  <a:srgbClr val="FFFFFF"/>
                </a:solidFill>
                <a:latin typeface="Archivo" pitchFamily="34" charset="0"/>
                <a:ea typeface="Archivo" pitchFamily="34" charset="-122"/>
                <a:cs typeface="Archivo" pitchFamily="34" charset="-120"/>
              </a:rPr>
              <a:t>Interface en graphe</a:t>
            </a:r>
            <a:endParaRPr lang="en-US" sz="1700" dirty="0"/>
          </a:p>
        </p:txBody>
      </p:sp>
      <p:sp>
        <p:nvSpPr>
          <p:cNvPr id="15" name="Text 13"/>
          <p:cNvSpPr/>
          <p:nvPr/>
        </p:nvSpPr>
        <p:spPr>
          <a:xfrm>
            <a:off x="1143000" y="4389120"/>
            <a:ext cx="2926080" cy="1371600"/>
          </a:xfrm>
          <a:prstGeom prst="rect">
            <a:avLst/>
          </a:prstGeom>
          <a:noFill/>
          <a:ln/>
        </p:spPr>
        <p:txBody>
          <a:bodyPr wrap="square" rtlCol="0" anchor="ctr"/>
          <a:lstStyle/>
          <a:p>
            <a:pPr indent="0" marL="0">
              <a:lnSpc>
                <a:spcPct val="118000"/>
              </a:lnSpc>
              <a:buNone/>
            </a:pPr>
            <a:r>
              <a:rPr lang="en-US" sz="1250" dirty="0">
                <a:solidFill>
                  <a:srgbClr val="E3EDFF"/>
                </a:solidFill>
                <a:latin typeface="Assistant" pitchFamily="34" charset="0"/>
                <a:ea typeface="Assistant" pitchFamily="34" charset="-122"/>
                <a:cs typeface="Assistant" pitchFamily="34" charset="-120"/>
              </a:rPr>
              <a:t>Édition CRUD, validation EG-7, parcours joueur. 438 interactions, 1 232 arêtes. Round-trip Unity exact à 100 %.</a:t>
            </a:r>
            <a:endParaRPr lang="en-US" sz="1250" dirty="0"/>
          </a:p>
        </p:txBody>
      </p:sp>
      <p:sp>
        <p:nvSpPr>
          <p:cNvPr id="16" name="Shape 14"/>
          <p:cNvSpPr/>
          <p:nvPr/>
        </p:nvSpPr>
        <p:spPr>
          <a:xfrm>
            <a:off x="4526280" y="2606040"/>
            <a:ext cx="3474720" cy="3200400"/>
          </a:xfrm>
          <a:prstGeom prst="roundRect">
            <a:avLst>
              <a:gd name="adj" fmla="val 3429"/>
            </a:avLst>
          </a:prstGeom>
          <a:solidFill>
            <a:srgbClr val="0A2A66"/>
          </a:solidFill>
          <a:ln/>
        </p:spPr>
      </p:sp>
      <p:sp>
        <p:nvSpPr>
          <p:cNvPr id="17" name="Shape 15"/>
          <p:cNvSpPr/>
          <p:nvPr/>
        </p:nvSpPr>
        <p:spPr>
          <a:xfrm>
            <a:off x="4846320" y="2880360"/>
            <a:ext cx="640080" cy="640080"/>
          </a:xfrm>
          <a:prstGeom prst="ellipse">
            <a:avLst/>
          </a:prstGeom>
          <a:solidFill>
            <a:srgbClr val="0097A7"/>
          </a:solidFill>
          <a:ln/>
        </p:spPr>
      </p:sp>
      <p:sp>
        <p:nvSpPr>
          <p:cNvPr id="18" name="Text 16"/>
          <p:cNvSpPr/>
          <p:nvPr/>
        </p:nvSpPr>
        <p:spPr>
          <a:xfrm>
            <a:off x="4846320" y="2880360"/>
            <a:ext cx="640080" cy="640080"/>
          </a:xfrm>
          <a:prstGeom prst="rect">
            <a:avLst/>
          </a:prstGeom>
          <a:noFill/>
          <a:ln/>
        </p:spPr>
        <p:txBody>
          <a:bodyPr wrap="square" rtlCol="0" anchor="ctr"/>
          <a:lstStyle/>
          <a:p>
            <a:pPr algn="ctr" indent="0" marL="0">
              <a:buNone/>
            </a:pPr>
            <a:r>
              <a:rPr lang="en-US" sz="1540" b="1" dirty="0">
                <a:solidFill>
                  <a:srgbClr val="001B58"/>
                </a:solidFill>
                <a:latin typeface="Archivo" pitchFamily="34" charset="0"/>
                <a:ea typeface="Archivo" pitchFamily="34" charset="-122"/>
                <a:cs typeface="Archivo" pitchFamily="34" charset="-120"/>
              </a:rPr>
              <a:t>2</a:t>
            </a:r>
            <a:endParaRPr lang="en-US" sz="1540" dirty="0"/>
          </a:p>
        </p:txBody>
      </p:sp>
      <p:sp>
        <p:nvSpPr>
          <p:cNvPr id="19" name="Text 17"/>
          <p:cNvSpPr/>
          <p:nvPr/>
        </p:nvSpPr>
        <p:spPr>
          <a:xfrm>
            <a:off x="4846320" y="3657600"/>
            <a:ext cx="2880360" cy="731520"/>
          </a:xfrm>
          <a:prstGeom prst="rect">
            <a:avLst/>
          </a:prstGeom>
          <a:noFill/>
          <a:ln/>
        </p:spPr>
        <p:txBody>
          <a:bodyPr wrap="square" rtlCol="0" anchor="ctr"/>
          <a:lstStyle/>
          <a:p>
            <a:pPr indent="0" marL="0">
              <a:buNone/>
            </a:pPr>
            <a:r>
              <a:rPr lang="en-US" sz="1700" b="1" dirty="0">
                <a:solidFill>
                  <a:srgbClr val="FFFFFF"/>
                </a:solidFill>
                <a:latin typeface="Archivo" pitchFamily="34" charset="0"/>
                <a:ea typeface="Archivo" pitchFamily="34" charset="-122"/>
                <a:cs typeface="Archivo" pitchFamily="34" charset="-120"/>
              </a:rPr>
              <a:t>Module IA explicable</a:t>
            </a:r>
            <a:endParaRPr lang="en-US" sz="1700" dirty="0"/>
          </a:p>
        </p:txBody>
      </p:sp>
      <p:sp>
        <p:nvSpPr>
          <p:cNvPr id="20" name="Text 18"/>
          <p:cNvSpPr/>
          <p:nvPr/>
        </p:nvSpPr>
        <p:spPr>
          <a:xfrm>
            <a:off x="4846320" y="4389120"/>
            <a:ext cx="2926080" cy="1371600"/>
          </a:xfrm>
          <a:prstGeom prst="rect">
            <a:avLst/>
          </a:prstGeom>
          <a:noFill/>
          <a:ln/>
        </p:spPr>
        <p:txBody>
          <a:bodyPr wrap="square" rtlCol="0" anchor="ctr"/>
          <a:lstStyle/>
          <a:p>
            <a:pPr indent="0" marL="0">
              <a:lnSpc>
                <a:spcPct val="118000"/>
              </a:lnSpc>
              <a:buNone/>
            </a:pPr>
            <a:r>
              <a:rPr lang="en-US" sz="1250" dirty="0">
                <a:solidFill>
                  <a:srgbClr val="E3EDFF"/>
                </a:solidFill>
                <a:latin typeface="Assistant" pitchFamily="34" charset="0"/>
                <a:ea typeface="Assistant" pitchFamily="34" charset="-122"/>
                <a:cs typeface="Assistant" pitchFamily="34" charset="-120"/>
              </a:rPr>
              <a:t>100 % de conformité (OpenAI), MAE 0,77, justifications textuelles, double backend cloud/local RGPD.</a:t>
            </a:r>
            <a:endParaRPr lang="en-US" sz="1250" dirty="0"/>
          </a:p>
        </p:txBody>
      </p:sp>
      <p:sp>
        <p:nvSpPr>
          <p:cNvPr id="21" name="Shape 19"/>
          <p:cNvSpPr/>
          <p:nvPr/>
        </p:nvSpPr>
        <p:spPr>
          <a:xfrm>
            <a:off x="8229600" y="2606040"/>
            <a:ext cx="3474720" cy="3200400"/>
          </a:xfrm>
          <a:prstGeom prst="roundRect">
            <a:avLst>
              <a:gd name="adj" fmla="val 3429"/>
            </a:avLst>
          </a:prstGeom>
          <a:solidFill>
            <a:srgbClr val="0A2A66"/>
          </a:solidFill>
          <a:ln/>
        </p:spPr>
      </p:sp>
      <p:sp>
        <p:nvSpPr>
          <p:cNvPr id="22" name="Shape 20"/>
          <p:cNvSpPr/>
          <p:nvPr/>
        </p:nvSpPr>
        <p:spPr>
          <a:xfrm>
            <a:off x="8549640" y="2880360"/>
            <a:ext cx="640080" cy="640080"/>
          </a:xfrm>
          <a:prstGeom prst="ellipse">
            <a:avLst/>
          </a:prstGeom>
          <a:solidFill>
            <a:srgbClr val="76A3EE"/>
          </a:solidFill>
          <a:ln/>
        </p:spPr>
      </p:sp>
      <p:sp>
        <p:nvSpPr>
          <p:cNvPr id="23" name="Text 21"/>
          <p:cNvSpPr/>
          <p:nvPr/>
        </p:nvSpPr>
        <p:spPr>
          <a:xfrm>
            <a:off x="8549640" y="2880360"/>
            <a:ext cx="640080" cy="640080"/>
          </a:xfrm>
          <a:prstGeom prst="rect">
            <a:avLst/>
          </a:prstGeom>
          <a:noFill/>
          <a:ln/>
        </p:spPr>
        <p:txBody>
          <a:bodyPr wrap="square" rtlCol="0" anchor="ctr"/>
          <a:lstStyle/>
          <a:p>
            <a:pPr algn="ctr" indent="0" marL="0">
              <a:buNone/>
            </a:pPr>
            <a:r>
              <a:rPr lang="en-US" sz="1540" b="1" dirty="0">
                <a:solidFill>
                  <a:srgbClr val="001B58"/>
                </a:solidFill>
                <a:latin typeface="Archivo" pitchFamily="34" charset="0"/>
                <a:ea typeface="Archivo" pitchFamily="34" charset="-122"/>
                <a:cs typeface="Archivo" pitchFamily="34" charset="-120"/>
              </a:rPr>
              <a:t>3</a:t>
            </a:r>
            <a:endParaRPr lang="en-US" sz="1540" dirty="0"/>
          </a:p>
        </p:txBody>
      </p:sp>
      <p:sp>
        <p:nvSpPr>
          <p:cNvPr id="24" name="Text 22"/>
          <p:cNvSpPr/>
          <p:nvPr/>
        </p:nvSpPr>
        <p:spPr>
          <a:xfrm>
            <a:off x="8549640" y="3657600"/>
            <a:ext cx="2880360" cy="731520"/>
          </a:xfrm>
          <a:prstGeom prst="rect">
            <a:avLst/>
          </a:prstGeom>
          <a:noFill/>
          <a:ln/>
        </p:spPr>
        <p:txBody>
          <a:bodyPr wrap="square" rtlCol="0" anchor="ctr"/>
          <a:lstStyle/>
          <a:p>
            <a:pPr indent="0" marL="0">
              <a:buNone/>
            </a:pPr>
            <a:r>
              <a:rPr lang="en-US" sz="1700" b="1" dirty="0">
                <a:solidFill>
                  <a:srgbClr val="FFFFFF"/>
                </a:solidFill>
                <a:latin typeface="Archivo" pitchFamily="34" charset="0"/>
                <a:ea typeface="Archivo" pitchFamily="34" charset="-122"/>
                <a:cs typeface="Archivo" pitchFamily="34" charset="-120"/>
              </a:rPr>
              <a:t>Architecture durable</a:t>
            </a:r>
            <a:endParaRPr lang="en-US" sz="1700" dirty="0"/>
          </a:p>
        </p:txBody>
      </p:sp>
      <p:sp>
        <p:nvSpPr>
          <p:cNvPr id="25" name="Text 23"/>
          <p:cNvSpPr/>
          <p:nvPr/>
        </p:nvSpPr>
        <p:spPr>
          <a:xfrm>
            <a:off x="8549640" y="4389120"/>
            <a:ext cx="2926080" cy="1371600"/>
          </a:xfrm>
          <a:prstGeom prst="rect">
            <a:avLst/>
          </a:prstGeom>
          <a:noFill/>
          <a:ln/>
        </p:spPr>
        <p:txBody>
          <a:bodyPr wrap="square" rtlCol="0" anchor="ctr"/>
          <a:lstStyle/>
          <a:p>
            <a:pPr indent="0" marL="0">
              <a:lnSpc>
                <a:spcPct val="118000"/>
              </a:lnSpc>
              <a:buNone/>
            </a:pPr>
            <a:r>
              <a:rPr lang="en-US" sz="1250" dirty="0">
                <a:solidFill>
                  <a:srgbClr val="E3EDFF"/>
                </a:solidFill>
                <a:latin typeface="Assistant" pitchFamily="34" charset="0"/>
                <a:ea typeface="Assistant" pitchFamily="34" charset="-122"/>
                <a:cs typeface="Assistant" pitchFamily="34" charset="-120"/>
              </a:rPr>
              <a:t>Clean Architecture, modèles purs, 27 tests. Ajouter un livre = 2 étapes (JSON + books.py).</a:t>
            </a:r>
            <a:endParaRPr lang="en-US" sz="1250" dirty="0"/>
          </a:p>
        </p:txBody>
      </p:sp>
      <p:sp>
        <p:nvSpPr>
          <p:cNvPr id="26" name="Text 24"/>
          <p:cNvSpPr/>
          <p:nvPr/>
        </p:nvSpPr>
        <p:spPr>
          <a:xfrm>
            <a:off x="822960" y="5989320"/>
            <a:ext cx="10515600" cy="365760"/>
          </a:xfrm>
          <a:prstGeom prst="rect">
            <a:avLst/>
          </a:prstGeom>
          <a:noFill/>
          <a:ln/>
        </p:spPr>
        <p:txBody>
          <a:bodyPr wrap="square" rtlCol="0" anchor="ctr"/>
          <a:lstStyle/>
          <a:p>
            <a:pPr indent="0" marL="0">
              <a:buNone/>
            </a:pPr>
            <a:r>
              <a:rPr lang="en-US" sz="1350" i="1" dirty="0">
                <a:solidFill>
                  <a:srgbClr val="76A3EE"/>
                </a:solidFill>
                <a:latin typeface="Assistant" pitchFamily="34" charset="0"/>
                <a:ea typeface="Assistant" pitchFamily="34" charset="-122"/>
                <a:cs typeface="Assistant" pitchFamily="34" charset="-120"/>
              </a:rPr>
              <a:t>Objectifs atteints — exigences EG-1 à EG-7 et CT-1 à CT-3 du cahier des charges satisfaites.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0972800" y="5212080"/>
            <a:ext cx="2377440" cy="2377440"/>
          </a:xfrm>
          <a:prstGeom prst="ellipse">
            <a:avLst/>
          </a:prstGeom>
          <a:solidFill>
            <a:srgbClr val="E3EDFF"/>
          </a:solidFill>
          <a:ln/>
        </p:spPr>
      </p:sp>
      <p:sp>
        <p:nvSpPr>
          <p:cNvPr id="4" name="Shape 2"/>
          <p:cNvSpPr/>
          <p:nvPr/>
        </p:nvSpPr>
        <p:spPr>
          <a:xfrm>
            <a:off x="11395436" y="640080"/>
            <a:ext cx="105705" cy="310896"/>
          </a:xfrm>
          <a:prstGeom prst="roundRect">
            <a:avLst>
              <a:gd name="adj" fmla="val 28000"/>
            </a:avLst>
          </a:prstGeom>
          <a:solidFill>
            <a:srgbClr val="76A3EE"/>
          </a:solidFill>
          <a:ln/>
        </p:spPr>
      </p:sp>
      <p:sp>
        <p:nvSpPr>
          <p:cNvPr id="5" name="Shape 3"/>
          <p:cNvSpPr/>
          <p:nvPr/>
        </p:nvSpPr>
        <p:spPr>
          <a:xfrm>
            <a:off x="11292840" y="742676"/>
            <a:ext cx="310896" cy="105705"/>
          </a:xfrm>
          <a:prstGeom prst="roundRect">
            <a:avLst>
              <a:gd name="adj" fmla="val 28000"/>
            </a:avLst>
          </a:prstGeom>
          <a:solidFill>
            <a:srgbClr val="76A3EE"/>
          </a:solidFill>
          <a:ln/>
        </p:spPr>
      </p:sp>
      <p:sp>
        <p:nvSpPr>
          <p:cNvPr id="6" name="Shape 4"/>
          <p:cNvSpPr/>
          <p:nvPr/>
        </p:nvSpPr>
        <p:spPr>
          <a:xfrm>
            <a:off x="657454" y="5486400"/>
            <a:ext cx="93269" cy="274320"/>
          </a:xfrm>
          <a:prstGeom prst="roundRect">
            <a:avLst>
              <a:gd name="adj" fmla="val 28000"/>
            </a:avLst>
          </a:prstGeom>
          <a:solidFill>
            <a:srgbClr val="E3EDFF"/>
          </a:solidFill>
          <a:ln/>
        </p:spPr>
      </p:sp>
      <p:sp>
        <p:nvSpPr>
          <p:cNvPr id="7" name="Shape 5"/>
          <p:cNvSpPr/>
          <p:nvPr/>
        </p:nvSpPr>
        <p:spPr>
          <a:xfrm>
            <a:off x="566928" y="5576926"/>
            <a:ext cx="274320" cy="93269"/>
          </a:xfrm>
          <a:prstGeom prst="roundRect">
            <a:avLst>
              <a:gd name="adj" fmla="val 28000"/>
            </a:avLst>
          </a:prstGeom>
          <a:solidFill>
            <a:srgbClr val="E3EDFF"/>
          </a:solidFill>
          <a:ln/>
        </p:spPr>
      </p:sp>
      <p:sp>
        <p:nvSpPr>
          <p:cNvPr id="8" name="Shape 6"/>
          <p:cNvSpPr/>
          <p:nvPr/>
        </p:nvSpPr>
        <p:spPr>
          <a:xfrm>
            <a:off x="566928" y="566928"/>
            <a:ext cx="457200" cy="457200"/>
          </a:xfrm>
          <a:prstGeom prst="ellipse">
            <a:avLst/>
          </a:prstGeom>
          <a:solidFill>
            <a:srgbClr val="385CB0"/>
          </a:solidFill>
          <a:ln/>
        </p:spPr>
      </p:sp>
      <p:sp>
        <p:nvSpPr>
          <p:cNvPr id="9" name="Shape 7"/>
          <p:cNvSpPr/>
          <p:nvPr/>
        </p:nvSpPr>
        <p:spPr>
          <a:xfrm>
            <a:off x="761329" y="694944"/>
            <a:ext cx="68397" cy="201168"/>
          </a:xfrm>
          <a:prstGeom prst="roundRect">
            <a:avLst>
              <a:gd name="adj" fmla="val 28000"/>
            </a:avLst>
          </a:prstGeom>
          <a:solidFill>
            <a:srgbClr val="FFFFFF"/>
          </a:solidFill>
          <a:ln/>
        </p:spPr>
      </p:sp>
      <p:sp>
        <p:nvSpPr>
          <p:cNvPr id="10" name="Shape 8"/>
          <p:cNvSpPr/>
          <p:nvPr/>
        </p:nvSpPr>
        <p:spPr>
          <a:xfrm>
            <a:off x="694944" y="761329"/>
            <a:ext cx="201168" cy="68397"/>
          </a:xfrm>
          <a:prstGeom prst="roundRect">
            <a:avLst>
              <a:gd name="adj" fmla="val 28000"/>
            </a:avLst>
          </a:prstGeom>
          <a:solidFill>
            <a:srgbClr val="FFFFFF"/>
          </a:solidFill>
          <a:ln/>
        </p:spPr>
      </p:sp>
      <p:sp>
        <p:nvSpPr>
          <p:cNvPr id="11" name="Text 9"/>
          <p:cNvSpPr/>
          <p:nvPr/>
        </p:nvSpPr>
        <p:spPr>
          <a:xfrm>
            <a:off x="1188720" y="530352"/>
            <a:ext cx="10058400" cy="274320"/>
          </a:xfrm>
          <a:prstGeom prst="rect">
            <a:avLst/>
          </a:prstGeom>
          <a:noFill/>
          <a:ln/>
        </p:spPr>
        <p:txBody>
          <a:bodyPr wrap="square" rtlCol="0" anchor="ctr"/>
          <a:lstStyle/>
          <a:p>
            <a:pPr indent="0" marL="0">
              <a:buNone/>
            </a:pPr>
            <a:r>
              <a:rPr lang="en-US" sz="1200" b="1" spc="300" kern="0" dirty="0">
                <a:solidFill>
                  <a:srgbClr val="0097A7"/>
                </a:solidFill>
                <a:latin typeface="Assistant" pitchFamily="34" charset="0"/>
                <a:ea typeface="Assistant" pitchFamily="34" charset="-122"/>
                <a:cs typeface="Assistant" pitchFamily="34" charset="-120"/>
              </a:rPr>
              <a:t>PERSPECTIVES</a:t>
            </a:r>
            <a:endParaRPr lang="en-US" sz="1200" dirty="0"/>
          </a:p>
        </p:txBody>
      </p:sp>
      <p:sp>
        <p:nvSpPr>
          <p:cNvPr id="12" name="Text 10"/>
          <p:cNvSpPr/>
          <p:nvPr/>
        </p:nvSpPr>
        <p:spPr>
          <a:xfrm>
            <a:off x="1188720" y="786384"/>
            <a:ext cx="10332720" cy="640080"/>
          </a:xfrm>
          <a:prstGeom prst="rect">
            <a:avLst/>
          </a:prstGeom>
          <a:noFill/>
          <a:ln/>
        </p:spPr>
        <p:txBody>
          <a:bodyPr wrap="square" rtlCol="0" anchor="ctr"/>
          <a:lstStyle/>
          <a:p>
            <a:pPr indent="0" marL="0">
              <a:buNone/>
            </a:pPr>
            <a:r>
              <a:rPr lang="en-US" sz="2800" b="1" dirty="0">
                <a:solidFill>
                  <a:srgbClr val="001B58"/>
                </a:solidFill>
                <a:latin typeface="Archivo" pitchFamily="34" charset="0"/>
                <a:ea typeface="Archivo" pitchFamily="34" charset="-122"/>
                <a:cs typeface="Archivo" pitchFamily="34" charset="-120"/>
              </a:rPr>
              <a:t>Vers un tuteur intelligent</a:t>
            </a:r>
            <a:endParaRPr lang="en-US" sz="2800" dirty="0"/>
          </a:p>
        </p:txBody>
      </p:sp>
      <p:sp>
        <p:nvSpPr>
          <p:cNvPr id="13" name="Shape 11"/>
          <p:cNvSpPr/>
          <p:nvPr/>
        </p:nvSpPr>
        <p:spPr>
          <a:xfrm>
            <a:off x="640080" y="1783080"/>
            <a:ext cx="5303520" cy="1737360"/>
          </a:xfrm>
          <a:prstGeom prst="roundRect">
            <a:avLst>
              <a:gd name="adj" fmla="val 6316"/>
            </a:avLst>
          </a:prstGeom>
          <a:solidFill>
            <a:srgbClr val="E3EDFF"/>
          </a:solidFill>
          <a:ln w="13970">
            <a:solidFill>
              <a:srgbClr val="76A3EE"/>
            </a:solidFill>
            <a:prstDash val="solid"/>
          </a:ln>
        </p:spPr>
      </p:sp>
      <p:sp>
        <p:nvSpPr>
          <p:cNvPr id="14" name="Shape 12"/>
          <p:cNvSpPr/>
          <p:nvPr/>
        </p:nvSpPr>
        <p:spPr>
          <a:xfrm>
            <a:off x="960120" y="2075688"/>
            <a:ext cx="566928" cy="566928"/>
          </a:xfrm>
          <a:prstGeom prst="ellipse">
            <a:avLst/>
          </a:prstGeom>
          <a:solidFill>
            <a:srgbClr val="385CB0"/>
          </a:solidFill>
          <a:ln/>
        </p:spPr>
      </p:sp>
      <p:sp>
        <p:nvSpPr>
          <p:cNvPr id="15" name="Shape 13"/>
          <p:cNvSpPr/>
          <p:nvPr/>
        </p:nvSpPr>
        <p:spPr>
          <a:xfrm>
            <a:off x="1201178" y="2234428"/>
            <a:ext cx="84812" cy="249448"/>
          </a:xfrm>
          <a:prstGeom prst="roundRect">
            <a:avLst>
              <a:gd name="adj" fmla="val 28000"/>
            </a:avLst>
          </a:prstGeom>
          <a:solidFill>
            <a:srgbClr val="FFFFFF"/>
          </a:solidFill>
          <a:ln/>
        </p:spPr>
      </p:sp>
      <p:sp>
        <p:nvSpPr>
          <p:cNvPr id="16" name="Shape 14"/>
          <p:cNvSpPr/>
          <p:nvPr/>
        </p:nvSpPr>
        <p:spPr>
          <a:xfrm>
            <a:off x="1118860" y="2316746"/>
            <a:ext cx="249448" cy="84812"/>
          </a:xfrm>
          <a:prstGeom prst="roundRect">
            <a:avLst>
              <a:gd name="adj" fmla="val 28000"/>
            </a:avLst>
          </a:prstGeom>
          <a:solidFill>
            <a:srgbClr val="FFFFFF"/>
          </a:solidFill>
          <a:ln/>
        </p:spPr>
      </p:sp>
      <p:sp>
        <p:nvSpPr>
          <p:cNvPr id="17" name="Text 15"/>
          <p:cNvSpPr/>
          <p:nvPr/>
        </p:nvSpPr>
        <p:spPr>
          <a:xfrm>
            <a:off x="1737360" y="2039112"/>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Court terme</a:t>
            </a:r>
            <a:endParaRPr lang="en-US" sz="1600" dirty="0"/>
          </a:p>
        </p:txBody>
      </p:sp>
      <p:sp>
        <p:nvSpPr>
          <p:cNvPr id="18" name="Text 16"/>
          <p:cNvSpPr/>
          <p:nvPr/>
        </p:nvSpPr>
        <p:spPr>
          <a:xfrm>
            <a:off x="1737360" y="2496312"/>
            <a:ext cx="4069080" cy="914400"/>
          </a:xfrm>
          <a:prstGeom prst="rect">
            <a:avLst/>
          </a:prstGeom>
          <a:noFill/>
          <a:ln/>
        </p:spPr>
        <p:txBody>
          <a:bodyPr wrap="square" rtlCol="0" anchor="ctr"/>
          <a:lstStyle/>
          <a:p>
            <a:pPr indent="0" marL="0">
              <a:lnSpc>
                <a:spcPct val="115000"/>
              </a:lnSpc>
              <a:buNone/>
            </a:pPr>
            <a:r>
              <a:rPr lang="en-US" sz="1300" dirty="0">
                <a:solidFill>
                  <a:srgbClr val="33415C"/>
                </a:solidFill>
                <a:latin typeface="Assistant" pitchFamily="34" charset="0"/>
                <a:ea typeface="Assistant" pitchFamily="34" charset="-122"/>
                <a:cs typeface="Assistant" pitchFamily="34" charset="-120"/>
              </a:rPr>
              <a:t>Test d'utilisabilité (SUS/PSSUQ) · scoring en lot exportable · accord inter-annotateurs.</a:t>
            </a:r>
            <a:endParaRPr lang="en-US" sz="1300" dirty="0"/>
          </a:p>
        </p:txBody>
      </p:sp>
      <p:sp>
        <p:nvSpPr>
          <p:cNvPr id="19" name="Shape 17"/>
          <p:cNvSpPr/>
          <p:nvPr/>
        </p:nvSpPr>
        <p:spPr>
          <a:xfrm>
            <a:off x="6309360" y="1783080"/>
            <a:ext cx="5303520" cy="1737360"/>
          </a:xfrm>
          <a:prstGeom prst="roundRect">
            <a:avLst>
              <a:gd name="adj" fmla="val 6316"/>
            </a:avLst>
          </a:prstGeom>
          <a:solidFill>
            <a:srgbClr val="FFFFFF"/>
          </a:solidFill>
          <a:ln w="13970">
            <a:solidFill>
              <a:srgbClr val="76A3EE"/>
            </a:solidFill>
            <a:prstDash val="solid"/>
          </a:ln>
        </p:spPr>
      </p:sp>
      <p:sp>
        <p:nvSpPr>
          <p:cNvPr id="20" name="Shape 18"/>
          <p:cNvSpPr/>
          <p:nvPr/>
        </p:nvSpPr>
        <p:spPr>
          <a:xfrm>
            <a:off x="6629400" y="2075688"/>
            <a:ext cx="566928" cy="566928"/>
          </a:xfrm>
          <a:prstGeom prst="ellipse">
            <a:avLst/>
          </a:prstGeom>
          <a:solidFill>
            <a:srgbClr val="76A3EE"/>
          </a:solidFill>
          <a:ln/>
        </p:spPr>
      </p:sp>
      <p:sp>
        <p:nvSpPr>
          <p:cNvPr id="21" name="Shape 19"/>
          <p:cNvSpPr/>
          <p:nvPr/>
        </p:nvSpPr>
        <p:spPr>
          <a:xfrm>
            <a:off x="6870458" y="2234428"/>
            <a:ext cx="84812" cy="249448"/>
          </a:xfrm>
          <a:prstGeom prst="roundRect">
            <a:avLst>
              <a:gd name="adj" fmla="val 28000"/>
            </a:avLst>
          </a:prstGeom>
          <a:solidFill>
            <a:srgbClr val="FFFFFF"/>
          </a:solidFill>
          <a:ln/>
        </p:spPr>
      </p:sp>
      <p:sp>
        <p:nvSpPr>
          <p:cNvPr id="22" name="Shape 20"/>
          <p:cNvSpPr/>
          <p:nvPr/>
        </p:nvSpPr>
        <p:spPr>
          <a:xfrm>
            <a:off x="6788140" y="2316746"/>
            <a:ext cx="249448" cy="84812"/>
          </a:xfrm>
          <a:prstGeom prst="roundRect">
            <a:avLst>
              <a:gd name="adj" fmla="val 28000"/>
            </a:avLst>
          </a:prstGeom>
          <a:solidFill>
            <a:srgbClr val="FFFFFF"/>
          </a:solidFill>
          <a:ln/>
        </p:spPr>
      </p:sp>
      <p:sp>
        <p:nvSpPr>
          <p:cNvPr id="23" name="Text 21"/>
          <p:cNvSpPr/>
          <p:nvPr/>
        </p:nvSpPr>
        <p:spPr>
          <a:xfrm>
            <a:off x="7406640" y="2039112"/>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Scoring dynamique côté joueur</a:t>
            </a:r>
            <a:endParaRPr lang="en-US" sz="1600" dirty="0"/>
          </a:p>
        </p:txBody>
      </p:sp>
      <p:sp>
        <p:nvSpPr>
          <p:cNvPr id="24" name="Text 22"/>
          <p:cNvSpPr/>
          <p:nvPr/>
        </p:nvSpPr>
        <p:spPr>
          <a:xfrm>
            <a:off x="7406640" y="2496312"/>
            <a:ext cx="4069080" cy="914400"/>
          </a:xfrm>
          <a:prstGeom prst="rect">
            <a:avLst/>
          </a:prstGeom>
          <a:noFill/>
          <a:ln/>
        </p:spPr>
        <p:txBody>
          <a:bodyPr wrap="square" rtlCol="0" anchor="ctr"/>
          <a:lstStyle/>
          <a:p>
            <a:pPr indent="0" marL="0">
              <a:lnSpc>
                <a:spcPct val="115000"/>
              </a:lnSpc>
              <a:buNone/>
            </a:pPr>
            <a:r>
              <a:rPr lang="en-US" sz="1300" dirty="0">
                <a:solidFill>
                  <a:srgbClr val="33415C"/>
                </a:solidFill>
                <a:latin typeface="Assistant" pitchFamily="34" charset="0"/>
                <a:ea typeface="Assistant" pitchFamily="34" charset="-122"/>
                <a:cs typeface="Assistant" pitchFamily="34" charset="-120"/>
              </a:rPr>
              <a:t>Le LLM analyse les réponses de l'apprenant en temps réel pendant la simulation → feedback formatif.</a:t>
            </a:r>
            <a:endParaRPr lang="en-US" sz="1300" dirty="0"/>
          </a:p>
        </p:txBody>
      </p:sp>
      <p:sp>
        <p:nvSpPr>
          <p:cNvPr id="25" name="Shape 23"/>
          <p:cNvSpPr/>
          <p:nvPr/>
        </p:nvSpPr>
        <p:spPr>
          <a:xfrm>
            <a:off x="640080" y="3749040"/>
            <a:ext cx="5303520" cy="1737360"/>
          </a:xfrm>
          <a:prstGeom prst="roundRect">
            <a:avLst>
              <a:gd name="adj" fmla="val 6316"/>
            </a:avLst>
          </a:prstGeom>
          <a:solidFill>
            <a:srgbClr val="FFFFFF"/>
          </a:solidFill>
          <a:ln w="13970">
            <a:solidFill>
              <a:srgbClr val="76A3EE"/>
            </a:solidFill>
            <a:prstDash val="solid"/>
          </a:ln>
        </p:spPr>
      </p:sp>
      <p:sp>
        <p:nvSpPr>
          <p:cNvPr id="26" name="Shape 24"/>
          <p:cNvSpPr/>
          <p:nvPr/>
        </p:nvSpPr>
        <p:spPr>
          <a:xfrm>
            <a:off x="960120" y="4041648"/>
            <a:ext cx="566928" cy="566928"/>
          </a:xfrm>
          <a:prstGeom prst="ellipse">
            <a:avLst/>
          </a:prstGeom>
          <a:solidFill>
            <a:srgbClr val="0097A7"/>
          </a:solidFill>
          <a:ln/>
        </p:spPr>
      </p:sp>
      <p:sp>
        <p:nvSpPr>
          <p:cNvPr id="27" name="Shape 25"/>
          <p:cNvSpPr/>
          <p:nvPr/>
        </p:nvSpPr>
        <p:spPr>
          <a:xfrm>
            <a:off x="1201178" y="4200388"/>
            <a:ext cx="84812" cy="249448"/>
          </a:xfrm>
          <a:prstGeom prst="roundRect">
            <a:avLst>
              <a:gd name="adj" fmla="val 28000"/>
            </a:avLst>
          </a:prstGeom>
          <a:solidFill>
            <a:srgbClr val="FFFFFF"/>
          </a:solidFill>
          <a:ln/>
        </p:spPr>
      </p:sp>
      <p:sp>
        <p:nvSpPr>
          <p:cNvPr id="28" name="Shape 26"/>
          <p:cNvSpPr/>
          <p:nvPr/>
        </p:nvSpPr>
        <p:spPr>
          <a:xfrm>
            <a:off x="1118860" y="4282706"/>
            <a:ext cx="249448" cy="84812"/>
          </a:xfrm>
          <a:prstGeom prst="roundRect">
            <a:avLst>
              <a:gd name="adj" fmla="val 28000"/>
            </a:avLst>
          </a:prstGeom>
          <a:solidFill>
            <a:srgbClr val="FFFFFF"/>
          </a:solidFill>
          <a:ln/>
        </p:spPr>
      </p:sp>
      <p:sp>
        <p:nvSpPr>
          <p:cNvPr id="29" name="Text 27"/>
          <p:cNvSpPr/>
          <p:nvPr/>
        </p:nvSpPr>
        <p:spPr>
          <a:xfrm>
            <a:off x="1737360" y="4005072"/>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Fine-tuning spécialisé</a:t>
            </a:r>
            <a:endParaRPr lang="en-US" sz="1600" dirty="0"/>
          </a:p>
        </p:txBody>
      </p:sp>
      <p:sp>
        <p:nvSpPr>
          <p:cNvPr id="30" name="Text 28"/>
          <p:cNvSpPr/>
          <p:nvPr/>
        </p:nvSpPr>
        <p:spPr>
          <a:xfrm>
            <a:off x="1737360" y="4462272"/>
            <a:ext cx="4069080" cy="914400"/>
          </a:xfrm>
          <a:prstGeom prst="rect">
            <a:avLst/>
          </a:prstGeom>
          <a:noFill/>
          <a:ln/>
        </p:spPr>
        <p:txBody>
          <a:bodyPr wrap="square" rtlCol="0" anchor="ctr"/>
          <a:lstStyle/>
          <a:p>
            <a:pPr indent="0" marL="0">
              <a:lnSpc>
                <a:spcPct val="115000"/>
              </a:lnSpc>
              <a:buNone/>
            </a:pPr>
            <a:r>
              <a:rPr lang="en-US" sz="1300" dirty="0">
                <a:solidFill>
                  <a:srgbClr val="33415C"/>
                </a:solidFill>
                <a:latin typeface="Assistant" pitchFamily="34" charset="0"/>
                <a:ea typeface="Assistant" pitchFamily="34" charset="-122"/>
                <a:cs typeface="Assistant" pitchFamily="34" charset="-120"/>
              </a:rPr>
              <a:t>Modèle entraîné sur des réponses annotées par les experts CHUV, déployé via Ollama (perf + RGPD).</a:t>
            </a:r>
            <a:endParaRPr lang="en-US" sz="1300" dirty="0"/>
          </a:p>
        </p:txBody>
      </p:sp>
      <p:sp>
        <p:nvSpPr>
          <p:cNvPr id="31" name="Shape 29"/>
          <p:cNvSpPr/>
          <p:nvPr/>
        </p:nvSpPr>
        <p:spPr>
          <a:xfrm>
            <a:off x="6309360" y="3749040"/>
            <a:ext cx="5303520" cy="1737360"/>
          </a:xfrm>
          <a:prstGeom prst="roundRect">
            <a:avLst>
              <a:gd name="adj" fmla="val 6316"/>
            </a:avLst>
          </a:prstGeom>
          <a:solidFill>
            <a:srgbClr val="FFFFFF"/>
          </a:solidFill>
          <a:ln w="13970">
            <a:solidFill>
              <a:srgbClr val="76A3EE"/>
            </a:solidFill>
            <a:prstDash val="solid"/>
          </a:ln>
        </p:spPr>
      </p:sp>
      <p:sp>
        <p:nvSpPr>
          <p:cNvPr id="32" name="Shape 30"/>
          <p:cNvSpPr/>
          <p:nvPr/>
        </p:nvSpPr>
        <p:spPr>
          <a:xfrm>
            <a:off x="6629400" y="4041648"/>
            <a:ext cx="566928" cy="566928"/>
          </a:xfrm>
          <a:prstGeom prst="ellipse">
            <a:avLst/>
          </a:prstGeom>
          <a:solidFill>
            <a:srgbClr val="385CB0"/>
          </a:solidFill>
          <a:ln/>
        </p:spPr>
      </p:sp>
      <p:sp>
        <p:nvSpPr>
          <p:cNvPr id="33" name="Shape 31"/>
          <p:cNvSpPr/>
          <p:nvPr/>
        </p:nvSpPr>
        <p:spPr>
          <a:xfrm>
            <a:off x="6870458" y="4200388"/>
            <a:ext cx="84812" cy="249448"/>
          </a:xfrm>
          <a:prstGeom prst="roundRect">
            <a:avLst>
              <a:gd name="adj" fmla="val 28000"/>
            </a:avLst>
          </a:prstGeom>
          <a:solidFill>
            <a:srgbClr val="FFFFFF"/>
          </a:solidFill>
          <a:ln/>
        </p:spPr>
      </p:sp>
      <p:sp>
        <p:nvSpPr>
          <p:cNvPr id="34" name="Shape 32"/>
          <p:cNvSpPr/>
          <p:nvPr/>
        </p:nvSpPr>
        <p:spPr>
          <a:xfrm>
            <a:off x="6788140" y="4282706"/>
            <a:ext cx="249448" cy="84812"/>
          </a:xfrm>
          <a:prstGeom prst="roundRect">
            <a:avLst>
              <a:gd name="adj" fmla="val 28000"/>
            </a:avLst>
          </a:prstGeom>
          <a:solidFill>
            <a:srgbClr val="FFFFFF"/>
          </a:solidFill>
          <a:ln/>
        </p:spPr>
      </p:sp>
      <p:sp>
        <p:nvSpPr>
          <p:cNvPr id="35" name="Text 33"/>
          <p:cNvSpPr/>
          <p:nvPr/>
        </p:nvSpPr>
        <p:spPr>
          <a:xfrm>
            <a:off x="7406640" y="4005072"/>
            <a:ext cx="4023360" cy="457200"/>
          </a:xfrm>
          <a:prstGeom prst="rect">
            <a:avLst/>
          </a:prstGeom>
          <a:noFill/>
          <a:ln/>
        </p:spPr>
        <p:txBody>
          <a:bodyPr wrap="square" rtlCol="0" anchor="ctr"/>
          <a:lstStyle/>
          <a:p>
            <a:pPr indent="0" marL="0">
              <a:buNone/>
            </a:pPr>
            <a:r>
              <a:rPr lang="en-US" sz="1600" b="1" dirty="0">
                <a:solidFill>
                  <a:srgbClr val="001B58"/>
                </a:solidFill>
                <a:latin typeface="Archivo" pitchFamily="34" charset="0"/>
                <a:ea typeface="Archivo" pitchFamily="34" charset="-122"/>
                <a:cs typeface="Archivo" pitchFamily="34" charset="-120"/>
              </a:rPr>
              <a:t>Extension &amp; immersion</a:t>
            </a:r>
            <a:endParaRPr lang="en-US" sz="1600" dirty="0"/>
          </a:p>
        </p:txBody>
      </p:sp>
      <p:sp>
        <p:nvSpPr>
          <p:cNvPr id="36" name="Text 34"/>
          <p:cNvSpPr/>
          <p:nvPr/>
        </p:nvSpPr>
        <p:spPr>
          <a:xfrm>
            <a:off x="7406640" y="4462272"/>
            <a:ext cx="4069080" cy="914400"/>
          </a:xfrm>
          <a:prstGeom prst="rect">
            <a:avLst/>
          </a:prstGeom>
          <a:noFill/>
          <a:ln/>
        </p:spPr>
        <p:txBody>
          <a:bodyPr wrap="square" rtlCol="0" anchor="ctr"/>
          <a:lstStyle/>
          <a:p>
            <a:pPr indent="0" marL="0">
              <a:lnSpc>
                <a:spcPct val="115000"/>
              </a:lnSpc>
              <a:buNone/>
            </a:pPr>
            <a:r>
              <a:rPr lang="en-US" sz="1300" dirty="0">
                <a:solidFill>
                  <a:srgbClr val="33415C"/>
                </a:solidFill>
                <a:latin typeface="Assistant" pitchFamily="34" charset="0"/>
                <a:ea typeface="Assistant" pitchFamily="34" charset="-122"/>
                <a:cs typeface="Assistant" pitchFamily="34" charset="-120"/>
              </a:rPr>
              <a:t>Autres contextes critiques (oncologie, urgences, gériatrie) · expressions MetaHuman pilotées par l'IA.</a:t>
            </a:r>
            <a:endParaRPr lang="en-US" sz="1300" dirty="0"/>
          </a:p>
        </p:txBody>
      </p:sp>
      <p:sp>
        <p:nvSpPr>
          <p:cNvPr id="37" name="Shape 35"/>
          <p:cNvSpPr/>
          <p:nvPr/>
        </p:nvSpPr>
        <p:spPr>
          <a:xfrm>
            <a:off x="9829800" y="6327648"/>
            <a:ext cx="82296" cy="82296"/>
          </a:xfrm>
          <a:prstGeom prst="ellipse">
            <a:avLst/>
          </a:prstGeom>
          <a:solidFill>
            <a:srgbClr val="76A3EE"/>
          </a:solidFill>
          <a:ln/>
        </p:spPr>
      </p:sp>
      <p:sp>
        <p:nvSpPr>
          <p:cNvPr id="38" name="Shape 36"/>
          <p:cNvSpPr/>
          <p:nvPr/>
        </p:nvSpPr>
        <p:spPr>
          <a:xfrm>
            <a:off x="10030968" y="6327648"/>
            <a:ext cx="82296" cy="82296"/>
          </a:xfrm>
          <a:prstGeom prst="ellipse">
            <a:avLst/>
          </a:prstGeom>
          <a:solidFill>
            <a:srgbClr val="76A3EE"/>
          </a:solidFill>
          <a:ln/>
        </p:spPr>
      </p:sp>
      <p:sp>
        <p:nvSpPr>
          <p:cNvPr id="39" name="Shape 37"/>
          <p:cNvSpPr/>
          <p:nvPr/>
        </p:nvSpPr>
        <p:spPr>
          <a:xfrm>
            <a:off x="10232136" y="6327648"/>
            <a:ext cx="82296" cy="82296"/>
          </a:xfrm>
          <a:prstGeom prst="ellipse">
            <a:avLst/>
          </a:prstGeom>
          <a:solidFill>
            <a:srgbClr val="385CB0"/>
          </a:solidFill>
          <a:ln/>
        </p:spPr>
      </p:sp>
      <p:sp>
        <p:nvSpPr>
          <p:cNvPr id="40" name="Shape 38"/>
          <p:cNvSpPr/>
          <p:nvPr/>
        </p:nvSpPr>
        <p:spPr>
          <a:xfrm>
            <a:off x="10433304" y="6327648"/>
            <a:ext cx="82296" cy="82296"/>
          </a:xfrm>
          <a:prstGeom prst="ellipse">
            <a:avLst/>
          </a:prstGeom>
          <a:solidFill>
            <a:srgbClr val="76A3EE"/>
          </a:solidFill>
          <a:ln/>
        </p:spPr>
      </p:sp>
      <p:sp>
        <p:nvSpPr>
          <p:cNvPr id="41" name="Shape 39"/>
          <p:cNvSpPr/>
          <p:nvPr/>
        </p:nvSpPr>
        <p:spPr>
          <a:xfrm>
            <a:off x="10634472" y="6327648"/>
            <a:ext cx="82296" cy="82296"/>
          </a:xfrm>
          <a:prstGeom prst="ellipse">
            <a:avLst/>
          </a:prstGeom>
          <a:solidFill>
            <a:srgbClr val="76A3EE"/>
          </a:solidFill>
          <a:ln/>
        </p:spPr>
      </p:sp>
      <p:sp>
        <p:nvSpPr>
          <p:cNvPr id="42" name="Text 40"/>
          <p:cNvSpPr/>
          <p:nvPr/>
        </p:nvSpPr>
        <p:spPr>
          <a:xfrm>
            <a:off x="548640" y="6263640"/>
            <a:ext cx="548640" cy="320040"/>
          </a:xfrm>
          <a:prstGeom prst="rect">
            <a:avLst/>
          </a:prstGeom>
          <a:noFill/>
          <a:ln/>
        </p:spPr>
        <p:txBody>
          <a:bodyPr wrap="square" rtlCol="0" anchor="ctr"/>
          <a:lstStyle/>
          <a:p>
            <a:pPr indent="0" marL="0">
              <a:buNone/>
            </a:pPr>
            <a:r>
              <a:rPr lang="en-US" sz="1100" dirty="0">
                <a:solidFill>
                  <a:srgbClr val="8893AE"/>
                </a:solidFill>
                <a:latin typeface="Assistant" pitchFamily="34" charset="0"/>
                <a:ea typeface="Assistant" pitchFamily="34" charset="-122"/>
                <a:cs typeface="Assistant"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46304" y="146304"/>
            <a:ext cx="11896344" cy="6565392"/>
          </a:xfrm>
          <a:prstGeom prst="roundRect">
            <a:avLst>
              <a:gd name="adj" fmla="val 1671"/>
            </a:avLst>
          </a:prstGeom>
          <a:ln w="19050">
            <a:solidFill>
              <a:srgbClr val="385CB0"/>
            </a:solidFill>
            <a:prstDash val="solid"/>
          </a:ln>
        </p:spPr>
      </p:sp>
      <p:sp>
        <p:nvSpPr>
          <p:cNvPr id="3" name="Shape 1"/>
          <p:cNvSpPr/>
          <p:nvPr/>
        </p:nvSpPr>
        <p:spPr>
          <a:xfrm>
            <a:off x="-1828800" y="-1828800"/>
            <a:ext cx="3840480" cy="3840480"/>
          </a:xfrm>
          <a:prstGeom prst="ellipse">
            <a:avLst/>
          </a:prstGeom>
          <a:solidFill>
            <a:srgbClr val="E3EDFF"/>
          </a:solidFill>
          <a:ln/>
        </p:spPr>
      </p:sp>
      <p:sp>
        <p:nvSpPr>
          <p:cNvPr id="4" name="Shape 2"/>
          <p:cNvSpPr/>
          <p:nvPr/>
        </p:nvSpPr>
        <p:spPr>
          <a:xfrm>
            <a:off x="-1005840" y="-1005840"/>
            <a:ext cx="2194560" cy="2194560"/>
          </a:xfrm>
          <a:prstGeom prst="ellipse">
            <a:avLst/>
          </a:prstGeom>
          <a:solidFill>
            <a:srgbClr val="76A3EE"/>
          </a:solidFill>
          <a:ln/>
        </p:spPr>
      </p:sp>
      <p:sp>
        <p:nvSpPr>
          <p:cNvPr id="5" name="Shape 3"/>
          <p:cNvSpPr/>
          <p:nvPr/>
        </p:nvSpPr>
        <p:spPr>
          <a:xfrm>
            <a:off x="10698480" y="4937760"/>
            <a:ext cx="2834640" cy="2834640"/>
          </a:xfrm>
          <a:prstGeom prst="ellipse">
            <a:avLst/>
          </a:prstGeom>
          <a:solidFill>
            <a:srgbClr val="385CB0"/>
          </a:solidFill>
          <a:ln/>
        </p:spPr>
      </p:sp>
      <p:sp>
        <p:nvSpPr>
          <p:cNvPr id="6" name="Shape 4"/>
          <p:cNvSpPr/>
          <p:nvPr/>
        </p:nvSpPr>
        <p:spPr>
          <a:xfrm>
            <a:off x="10368016" y="1097280"/>
            <a:ext cx="130576" cy="384048"/>
          </a:xfrm>
          <a:prstGeom prst="roundRect">
            <a:avLst>
              <a:gd name="adj" fmla="val 28000"/>
            </a:avLst>
          </a:prstGeom>
          <a:solidFill>
            <a:srgbClr val="76A3EE"/>
          </a:solidFill>
          <a:ln/>
        </p:spPr>
      </p:sp>
      <p:sp>
        <p:nvSpPr>
          <p:cNvPr id="7" name="Shape 5"/>
          <p:cNvSpPr/>
          <p:nvPr/>
        </p:nvSpPr>
        <p:spPr>
          <a:xfrm>
            <a:off x="10241280" y="1224016"/>
            <a:ext cx="384048" cy="130576"/>
          </a:xfrm>
          <a:prstGeom prst="roundRect">
            <a:avLst>
              <a:gd name="adj" fmla="val 28000"/>
            </a:avLst>
          </a:prstGeom>
          <a:solidFill>
            <a:srgbClr val="76A3EE"/>
          </a:solidFill>
          <a:ln/>
        </p:spPr>
      </p:sp>
      <p:sp>
        <p:nvSpPr>
          <p:cNvPr id="8" name="Shape 6"/>
          <p:cNvSpPr/>
          <p:nvPr/>
        </p:nvSpPr>
        <p:spPr>
          <a:xfrm>
            <a:off x="1291316" y="5120640"/>
            <a:ext cx="105705" cy="310896"/>
          </a:xfrm>
          <a:prstGeom prst="roundRect">
            <a:avLst>
              <a:gd name="adj" fmla="val 28000"/>
            </a:avLst>
          </a:prstGeom>
          <a:solidFill>
            <a:srgbClr val="76A3EE"/>
          </a:solidFill>
          <a:ln/>
        </p:spPr>
      </p:sp>
      <p:sp>
        <p:nvSpPr>
          <p:cNvPr id="9" name="Shape 7"/>
          <p:cNvSpPr/>
          <p:nvPr/>
        </p:nvSpPr>
        <p:spPr>
          <a:xfrm>
            <a:off x="1188720" y="5223236"/>
            <a:ext cx="310896" cy="105705"/>
          </a:xfrm>
          <a:prstGeom prst="roundRect">
            <a:avLst>
              <a:gd name="adj" fmla="val 28000"/>
            </a:avLst>
          </a:prstGeom>
          <a:solidFill>
            <a:srgbClr val="76A3EE"/>
          </a:solidFill>
          <a:ln/>
        </p:spPr>
      </p:sp>
      <p:sp>
        <p:nvSpPr>
          <p:cNvPr id="10" name="Shape 8"/>
          <p:cNvSpPr/>
          <p:nvPr/>
        </p:nvSpPr>
        <p:spPr>
          <a:xfrm>
            <a:off x="9228491" y="5394960"/>
            <a:ext cx="87051" cy="256032"/>
          </a:xfrm>
          <a:prstGeom prst="roundRect">
            <a:avLst>
              <a:gd name="adj" fmla="val 28000"/>
            </a:avLst>
          </a:prstGeom>
          <a:solidFill>
            <a:srgbClr val="E3EDFF"/>
          </a:solidFill>
          <a:ln/>
        </p:spPr>
      </p:sp>
      <p:sp>
        <p:nvSpPr>
          <p:cNvPr id="11" name="Shape 9"/>
          <p:cNvSpPr/>
          <p:nvPr/>
        </p:nvSpPr>
        <p:spPr>
          <a:xfrm>
            <a:off x="9144000" y="5479451"/>
            <a:ext cx="256032" cy="87051"/>
          </a:xfrm>
          <a:prstGeom prst="roundRect">
            <a:avLst>
              <a:gd name="adj" fmla="val 28000"/>
            </a:avLst>
          </a:prstGeom>
          <a:solidFill>
            <a:srgbClr val="E3EDFF"/>
          </a:solidFill>
          <a:ln/>
        </p:spPr>
      </p:sp>
      <p:sp>
        <p:nvSpPr>
          <p:cNvPr id="12" name="Shape 10"/>
          <p:cNvSpPr/>
          <p:nvPr/>
        </p:nvSpPr>
        <p:spPr>
          <a:xfrm>
            <a:off x="5641848" y="1828800"/>
            <a:ext cx="914400" cy="914400"/>
          </a:xfrm>
          <a:prstGeom prst="ellipse">
            <a:avLst/>
          </a:prstGeom>
          <a:solidFill>
            <a:srgbClr val="385CB0"/>
          </a:solidFill>
          <a:ln/>
        </p:spPr>
      </p:sp>
      <p:sp>
        <p:nvSpPr>
          <p:cNvPr id="13" name="Shape 11"/>
          <p:cNvSpPr/>
          <p:nvPr/>
        </p:nvSpPr>
        <p:spPr>
          <a:xfrm>
            <a:off x="6030651" y="2084832"/>
            <a:ext cx="136794" cy="402336"/>
          </a:xfrm>
          <a:prstGeom prst="roundRect">
            <a:avLst>
              <a:gd name="adj" fmla="val 28000"/>
            </a:avLst>
          </a:prstGeom>
          <a:solidFill>
            <a:srgbClr val="FFFFFF"/>
          </a:solidFill>
          <a:ln/>
        </p:spPr>
      </p:sp>
      <p:sp>
        <p:nvSpPr>
          <p:cNvPr id="14" name="Shape 12"/>
          <p:cNvSpPr/>
          <p:nvPr/>
        </p:nvSpPr>
        <p:spPr>
          <a:xfrm>
            <a:off x="5897880" y="2217603"/>
            <a:ext cx="402336" cy="136794"/>
          </a:xfrm>
          <a:prstGeom prst="roundRect">
            <a:avLst>
              <a:gd name="adj" fmla="val 28000"/>
            </a:avLst>
          </a:prstGeom>
          <a:solidFill>
            <a:srgbClr val="FFFFFF"/>
          </a:solidFill>
          <a:ln/>
        </p:spPr>
      </p:sp>
      <p:sp>
        <p:nvSpPr>
          <p:cNvPr id="15" name="Text 13"/>
          <p:cNvSpPr/>
          <p:nvPr/>
        </p:nvSpPr>
        <p:spPr>
          <a:xfrm>
            <a:off x="1371600" y="2971800"/>
            <a:ext cx="9418320" cy="822960"/>
          </a:xfrm>
          <a:prstGeom prst="rect">
            <a:avLst/>
          </a:prstGeom>
          <a:noFill/>
          <a:ln/>
        </p:spPr>
        <p:txBody>
          <a:bodyPr wrap="square" rtlCol="0" anchor="ctr"/>
          <a:lstStyle/>
          <a:p>
            <a:pPr algn="ctr" indent="0" marL="0">
              <a:buNone/>
            </a:pPr>
            <a:r>
              <a:rPr lang="en-US" sz="4200" b="1" dirty="0">
                <a:solidFill>
                  <a:srgbClr val="001B58"/>
                </a:solidFill>
                <a:latin typeface="Archivo" pitchFamily="34" charset="0"/>
                <a:ea typeface="Archivo" pitchFamily="34" charset="-122"/>
                <a:cs typeface="Archivo" pitchFamily="34" charset="-120"/>
              </a:rPr>
              <a:t>Merci de votre attention</a:t>
            </a:r>
            <a:endParaRPr lang="en-US" sz="4200" dirty="0"/>
          </a:p>
        </p:txBody>
      </p:sp>
      <p:sp>
        <p:nvSpPr>
          <p:cNvPr id="16" name="Text 14"/>
          <p:cNvSpPr/>
          <p:nvPr/>
        </p:nvSpPr>
        <p:spPr>
          <a:xfrm>
            <a:off x="1371600" y="3886200"/>
            <a:ext cx="9418320" cy="548640"/>
          </a:xfrm>
          <a:prstGeom prst="rect">
            <a:avLst/>
          </a:prstGeom>
          <a:noFill/>
          <a:ln/>
        </p:spPr>
        <p:txBody>
          <a:bodyPr wrap="square" rtlCol="0" anchor="ctr"/>
          <a:lstStyle/>
          <a:p>
            <a:pPr algn="ctr" indent="0" marL="0">
              <a:buNone/>
            </a:pPr>
            <a:r>
              <a:rPr lang="en-US" sz="2000" i="1" dirty="0">
                <a:solidFill>
                  <a:srgbClr val="385CB0"/>
                </a:solidFill>
                <a:latin typeface="Assistant" pitchFamily="34" charset="0"/>
                <a:ea typeface="Assistant" pitchFamily="34" charset="-122"/>
                <a:cs typeface="Assistant" pitchFamily="34" charset="-120"/>
              </a:rPr>
              <a:t>Questions &amp; discussion</a:t>
            </a:r>
            <a:endParaRPr lang="en-US" sz="2000" dirty="0"/>
          </a:p>
        </p:txBody>
      </p:sp>
      <p:sp>
        <p:nvSpPr>
          <p:cNvPr id="17" name="Shape 15"/>
          <p:cNvSpPr/>
          <p:nvPr/>
        </p:nvSpPr>
        <p:spPr>
          <a:xfrm>
            <a:off x="5605272" y="4709160"/>
            <a:ext cx="82296" cy="82296"/>
          </a:xfrm>
          <a:prstGeom prst="ellipse">
            <a:avLst/>
          </a:prstGeom>
          <a:solidFill>
            <a:srgbClr val="76A3EE"/>
          </a:solidFill>
          <a:ln/>
        </p:spPr>
      </p:sp>
      <p:sp>
        <p:nvSpPr>
          <p:cNvPr id="18" name="Shape 16"/>
          <p:cNvSpPr/>
          <p:nvPr/>
        </p:nvSpPr>
        <p:spPr>
          <a:xfrm>
            <a:off x="5806440" y="4709160"/>
            <a:ext cx="82296" cy="82296"/>
          </a:xfrm>
          <a:prstGeom prst="ellipse">
            <a:avLst/>
          </a:prstGeom>
          <a:solidFill>
            <a:srgbClr val="76A3EE"/>
          </a:solidFill>
          <a:ln/>
        </p:spPr>
      </p:sp>
      <p:sp>
        <p:nvSpPr>
          <p:cNvPr id="19" name="Shape 17"/>
          <p:cNvSpPr/>
          <p:nvPr/>
        </p:nvSpPr>
        <p:spPr>
          <a:xfrm>
            <a:off x="6007608" y="4709160"/>
            <a:ext cx="82296" cy="82296"/>
          </a:xfrm>
          <a:prstGeom prst="ellipse">
            <a:avLst/>
          </a:prstGeom>
          <a:solidFill>
            <a:srgbClr val="0097A7"/>
          </a:solidFill>
          <a:ln/>
        </p:spPr>
      </p:sp>
      <p:sp>
        <p:nvSpPr>
          <p:cNvPr id="20" name="Shape 18"/>
          <p:cNvSpPr/>
          <p:nvPr/>
        </p:nvSpPr>
        <p:spPr>
          <a:xfrm>
            <a:off x="6208776" y="4709160"/>
            <a:ext cx="82296" cy="82296"/>
          </a:xfrm>
          <a:prstGeom prst="ellipse">
            <a:avLst/>
          </a:prstGeom>
          <a:solidFill>
            <a:srgbClr val="76A3EE"/>
          </a:solidFill>
          <a:ln/>
        </p:spPr>
      </p:sp>
      <p:sp>
        <p:nvSpPr>
          <p:cNvPr id="21" name="Shape 19"/>
          <p:cNvSpPr/>
          <p:nvPr/>
        </p:nvSpPr>
        <p:spPr>
          <a:xfrm>
            <a:off x="6409944" y="4709160"/>
            <a:ext cx="82296" cy="82296"/>
          </a:xfrm>
          <a:prstGeom prst="ellipse">
            <a:avLst/>
          </a:prstGeom>
          <a:solidFill>
            <a:srgbClr val="76A3EE"/>
          </a:solidFill>
          <a:ln/>
        </p:spPr>
      </p:sp>
      <p:sp>
        <p:nvSpPr>
          <p:cNvPr id="22" name="Text 20"/>
          <p:cNvSpPr/>
          <p:nvPr/>
        </p:nvSpPr>
        <p:spPr>
          <a:xfrm>
            <a:off x="1371600" y="5120640"/>
            <a:ext cx="9418320" cy="365760"/>
          </a:xfrm>
          <a:prstGeom prst="rect">
            <a:avLst/>
          </a:prstGeom>
          <a:noFill/>
          <a:ln/>
        </p:spPr>
        <p:txBody>
          <a:bodyPr wrap="square" rtlCol="0" anchor="ctr"/>
          <a:lstStyle/>
          <a:p>
            <a:pPr algn="ctr" indent="0" marL="0">
              <a:buNone/>
            </a:pPr>
            <a:r>
              <a:rPr lang="en-US" sz="1300" dirty="0">
                <a:solidFill>
                  <a:srgbClr val="8893AE"/>
                </a:solidFill>
                <a:latin typeface="Assistant" pitchFamily="34" charset="0"/>
                <a:ea typeface="Assistant" pitchFamily="34" charset="-122"/>
                <a:cs typeface="Assistant" pitchFamily="34" charset="-120"/>
              </a:rPr>
              <a:t>Thomas Maksimous · MSE HES-SO · CHUV · UniL · Nº 2026-01</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2026-06-06T21:33:30Z</dcterms:created>
  <dcterms:modified xsi:type="dcterms:W3CDTF">2026-06-06T21:33:30Z</dcterms:modified>
</cp:coreProperties>
</file>
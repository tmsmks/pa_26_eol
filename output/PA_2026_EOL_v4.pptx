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37"/>
    <p:sldId id="263" r:id="rId8"/>
    <p:sldId id="264" r:id="rId9"/>
    <p:sldId id="265" r:id="rId38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39"/>
    <p:sldId id="279" r:id="rId22"/>
    <p:sldId id="280" r:id="rId23"/>
    <p:sldId id="281" r:id="rId24"/>
    <p:sldId id="282" r:id="rId40"/>
    <p:sldId id="283" r:id="rId25"/>
    <p:sldId id="284" r:id="rId41"/>
    <p:sldId id="285" r:id="rId26"/>
    <p:sldId id="286" r:id="rId27"/>
    <p:sldId id="287" r:id="rId28"/>
    <p:sldId id="288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C77DFE-2B17-264E-BF85-699AF5A9FFAC}" v="4" dt="2026-06-14T12:28:00.8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6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21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ksimous Thomas" userId="51e6d3a9-8982-44e2-945f-5ed9d49a8f66" providerId="ADAL" clId="{A5301722-A725-5815-9A56-511BA6C07FD4}"/>
    <pc:docChg chg="undo custSel modSld">
      <pc:chgData name="Maksimous Thomas" userId="51e6d3a9-8982-44e2-945f-5ed9d49a8f66" providerId="ADAL" clId="{A5301722-A725-5815-9A56-511BA6C07FD4}" dt="2026-06-14T12:28:36.141" v="101" actId="1076"/>
      <pc:docMkLst>
        <pc:docMk/>
      </pc:docMkLst>
      <pc:sldChg chg="delSp modSp mod">
        <pc:chgData name="Maksimous Thomas" userId="51e6d3a9-8982-44e2-945f-5ed9d49a8f66" providerId="ADAL" clId="{A5301722-A725-5815-9A56-511BA6C07FD4}" dt="2026-06-13T17:21:36.916" v="38" actId="20577"/>
        <pc:sldMkLst>
          <pc:docMk/>
          <pc:sldMk cId="0" sldId="256"/>
        </pc:sldMkLst>
        <pc:spChg chg="mod">
          <ac:chgData name="Maksimous Thomas" userId="51e6d3a9-8982-44e2-945f-5ed9d49a8f66" providerId="ADAL" clId="{A5301722-A725-5815-9A56-511BA6C07FD4}" dt="2026-06-13T17:18:05.377" v="2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Maksimous Thomas" userId="51e6d3a9-8982-44e2-945f-5ed9d49a8f66" providerId="ADAL" clId="{A5301722-A725-5815-9A56-511BA6C07FD4}" dt="2026-06-13T17:17:54.677" v="0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ksimous Thomas" userId="51e6d3a9-8982-44e2-945f-5ed9d49a8f66" providerId="ADAL" clId="{A5301722-A725-5815-9A56-511BA6C07FD4}" dt="2026-06-13T17:18:05.377" v="2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Maksimous Thomas" userId="51e6d3a9-8982-44e2-945f-5ed9d49a8f66" providerId="ADAL" clId="{A5301722-A725-5815-9A56-511BA6C07FD4}" dt="2026-06-13T17:21:36.916" v="38" actId="20577"/>
          <ac:spMkLst>
            <pc:docMk/>
            <pc:sldMk cId="0" sldId="256"/>
            <ac:spMk id="10" creationId="{00000000-0000-0000-0000-000000000000}"/>
          </ac:spMkLst>
        </pc:spChg>
        <pc:picChg chg="mod">
          <ac:chgData name="Maksimous Thomas" userId="51e6d3a9-8982-44e2-945f-5ed9d49a8f66" providerId="ADAL" clId="{A5301722-A725-5815-9A56-511BA6C07FD4}" dt="2026-06-13T17:20:44.980" v="14" actId="1076"/>
          <ac:picMkLst>
            <pc:docMk/>
            <pc:sldMk cId="0" sldId="256"/>
            <ac:picMk id="2" creationId="{00000000-0000-0000-0000-000000000000}"/>
          </ac:picMkLst>
        </pc:picChg>
      </pc:sldChg>
      <pc:sldChg chg="delSp modSp mod">
        <pc:chgData name="Maksimous Thomas" userId="51e6d3a9-8982-44e2-945f-5ed9d49a8f66" providerId="ADAL" clId="{A5301722-A725-5815-9A56-511BA6C07FD4}" dt="2026-06-14T11:51:26.543" v="70" actId="1036"/>
        <pc:sldMkLst>
          <pc:docMk/>
          <pc:sldMk cId="0" sldId="265"/>
        </pc:sldMkLst>
        <pc:spChg chg="mod">
          <ac:chgData name="Maksimous Thomas" userId="51e6d3a9-8982-44e2-945f-5ed9d49a8f66" providerId="ADAL" clId="{A5301722-A725-5815-9A56-511BA6C07FD4}" dt="2026-06-14T11:51:12.003" v="62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Maksimous Thomas" userId="51e6d3a9-8982-44e2-945f-5ed9d49a8f66" providerId="ADAL" clId="{A5301722-A725-5815-9A56-511BA6C07FD4}" dt="2026-06-14T11:51:18.711" v="68" actId="1410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aksimous Thomas" userId="51e6d3a9-8982-44e2-945f-5ed9d49a8f66" providerId="ADAL" clId="{A5301722-A725-5815-9A56-511BA6C07FD4}" dt="2026-06-14T11:51:26.543" v="70" actId="1036"/>
          <ac:spMkLst>
            <pc:docMk/>
            <pc:sldMk cId="0" sldId="265"/>
            <ac:spMk id="16" creationId="{00000000-0000-0000-0000-000000000000}"/>
          </ac:spMkLst>
        </pc:spChg>
        <pc:spChg chg="del">
          <ac:chgData name="Maksimous Thomas" userId="51e6d3a9-8982-44e2-945f-5ed9d49a8f66" providerId="ADAL" clId="{A5301722-A725-5815-9A56-511BA6C07FD4}" dt="2026-06-14T11:50:45.885" v="39" actId="478"/>
          <ac:spMkLst>
            <pc:docMk/>
            <pc:sldMk cId="0" sldId="265"/>
            <ac:spMk id="17" creationId="{00000000-0000-0000-0000-000000000000}"/>
          </ac:spMkLst>
        </pc:spChg>
      </pc:sldChg>
      <pc:sldChg chg="modSp mod">
        <pc:chgData name="Maksimous Thomas" userId="51e6d3a9-8982-44e2-945f-5ed9d49a8f66" providerId="ADAL" clId="{A5301722-A725-5815-9A56-511BA6C07FD4}" dt="2026-06-14T11:53:43.743" v="77" actId="1076"/>
        <pc:sldMkLst>
          <pc:docMk/>
          <pc:sldMk cId="0" sldId="268"/>
        </pc:sldMkLst>
        <pc:spChg chg="mod">
          <ac:chgData name="Maksimous Thomas" userId="51e6d3a9-8982-44e2-945f-5ed9d49a8f66" providerId="ADAL" clId="{A5301722-A725-5815-9A56-511BA6C07FD4}" dt="2026-06-14T11:53:41.963" v="76" actId="1076"/>
          <ac:spMkLst>
            <pc:docMk/>
            <pc:sldMk cId="0" sldId="268"/>
            <ac:spMk id="7" creationId="{00000000-0000-0000-0000-000000000000}"/>
          </ac:spMkLst>
        </pc:spChg>
        <pc:picChg chg="mod modCrop">
          <ac:chgData name="Maksimous Thomas" userId="51e6d3a9-8982-44e2-945f-5ed9d49a8f66" providerId="ADAL" clId="{A5301722-A725-5815-9A56-511BA6C07FD4}" dt="2026-06-14T11:53:43.743" v="77" actId="1076"/>
          <ac:picMkLst>
            <pc:docMk/>
            <pc:sldMk cId="0" sldId="268"/>
            <ac:picMk id="6" creationId="{00000000-0000-0000-0000-000000000000}"/>
          </ac:picMkLst>
        </pc:picChg>
      </pc:sldChg>
      <pc:sldChg chg="addSp delSp modSp mod">
        <pc:chgData name="Maksimous Thomas" userId="51e6d3a9-8982-44e2-945f-5ed9d49a8f66" providerId="ADAL" clId="{A5301722-A725-5815-9A56-511BA6C07FD4}" dt="2026-06-14T12:28:36.141" v="101" actId="1076"/>
        <pc:sldMkLst>
          <pc:docMk/>
          <pc:sldMk cId="0" sldId="271"/>
        </pc:sldMkLst>
        <pc:spChg chg="mod">
          <ac:chgData name="Maksimous Thomas" userId="51e6d3a9-8982-44e2-945f-5ed9d49a8f66" providerId="ADAL" clId="{A5301722-A725-5815-9A56-511BA6C07FD4}" dt="2026-06-14T12:28:25.828" v="98" actId="120"/>
          <ac:spMkLst>
            <pc:docMk/>
            <pc:sldMk cId="0" sldId="271"/>
            <ac:spMk id="3" creationId="{00000000-0000-0000-0000-000000000000}"/>
          </ac:spMkLst>
        </pc:spChg>
        <pc:spChg chg="mod">
          <ac:chgData name="Maksimous Thomas" userId="51e6d3a9-8982-44e2-945f-5ed9d49a8f66" providerId="ADAL" clId="{A5301722-A725-5815-9A56-511BA6C07FD4}" dt="2026-06-14T12:28:36.141" v="101" actId="1076"/>
          <ac:spMkLst>
            <pc:docMk/>
            <pc:sldMk cId="0" sldId="271"/>
            <ac:spMk id="6" creationId="{00000000-0000-0000-0000-000000000000}"/>
          </ac:spMkLst>
        </pc:spChg>
        <pc:picChg chg="del mod">
          <ac:chgData name="Maksimous Thomas" userId="51e6d3a9-8982-44e2-945f-5ed9d49a8f66" providerId="ADAL" clId="{A5301722-A725-5815-9A56-511BA6C07FD4}" dt="2026-06-14T12:27:59.934" v="88" actId="478"/>
          <ac:picMkLst>
            <pc:docMk/>
            <pc:sldMk cId="0" sldId="271"/>
            <ac:picMk id="5" creationId="{00000000-0000-0000-0000-000000000000}"/>
          </ac:picMkLst>
        </pc:picChg>
        <pc:picChg chg="add del mod">
          <ac:chgData name="Maksimous Thomas" userId="51e6d3a9-8982-44e2-945f-5ed9d49a8f66" providerId="ADAL" clId="{A5301722-A725-5815-9A56-511BA6C07FD4}" dt="2026-06-14T12:27:22.586" v="87" actId="478"/>
          <ac:picMkLst>
            <pc:docMk/>
            <pc:sldMk cId="0" sldId="271"/>
            <ac:picMk id="7" creationId="{791CD140-C436-F51A-1D89-008E92BE9685}"/>
          </ac:picMkLst>
        </pc:picChg>
        <pc:picChg chg="add mod">
          <ac:chgData name="Maksimous Thomas" userId="51e6d3a9-8982-44e2-945f-5ed9d49a8f66" providerId="ADAL" clId="{A5301722-A725-5815-9A56-511BA6C07FD4}" dt="2026-06-14T12:28:30.322" v="100" actId="14100"/>
          <ac:picMkLst>
            <pc:docMk/>
            <pc:sldMk cId="0" sldId="271"/>
            <ac:picMk id="8" creationId="{0DA73C63-5F68-F9A8-B41E-F92C2A0F691E}"/>
          </ac:picMkLst>
        </pc:picChg>
      </pc:sldChg>
      <pc:sldChg chg="modSp mod">
        <pc:chgData name="Maksimous Thomas" userId="51e6d3a9-8982-44e2-945f-5ed9d49a8f66" providerId="ADAL" clId="{A5301722-A725-5815-9A56-511BA6C07FD4}" dt="2026-06-13T17:21:30.735" v="35" actId="20577"/>
        <pc:sldMkLst>
          <pc:docMk/>
          <pc:sldMk cId="0" sldId="283"/>
        </pc:sldMkLst>
        <pc:spChg chg="mod">
          <ac:chgData name="Maksimous Thomas" userId="51e6d3a9-8982-44e2-945f-5ed9d49a8f66" providerId="ADAL" clId="{A5301722-A725-5815-9A56-511BA6C07FD4}" dt="2026-06-13T17:21:30.735" v="35" actId="20577"/>
          <ac:spMkLst>
            <pc:docMk/>
            <pc:sldMk cId="0" sldId="283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706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interactif · accompagnement en fin de vie — PA MSE HES-SO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interactif · accompagnement en fin de vie — PA MSE HES-SO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ks/DEV/PA_26_EOL/output/assets/logo_h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3404"/>
            <a:ext cx="2230733" cy="1441460"/>
          </a:xfrm>
          <a:prstGeom prst="rect">
            <a:avLst/>
          </a:prstGeom>
        </p:spPr>
      </p:pic>
      <p:pic>
        <p:nvPicPr>
          <p:cNvPr id="3" name="Image 1" descr="/Users/thomaks/DEV/PA_26_EOL/output/assets/logo_chu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528" y="257612"/>
            <a:ext cx="1478953" cy="765667"/>
          </a:xfrm>
          <a:prstGeom prst="rect">
            <a:avLst/>
          </a:prstGeom>
        </p:spPr>
      </p:pic>
      <p:pic>
        <p:nvPicPr>
          <p:cNvPr id="4" name="Image 2" descr="/Users/thomaks/DEV/PA_26_EOL/output/assets/logo_un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4978" y="298846"/>
            <a:ext cx="1756151" cy="57485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66928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D'APPROFONDISSEMENT · MSE HES-SO</a:t>
            </a:r>
            <a:endParaRPr lang="en-US" sz="2000" dirty="0"/>
          </a:p>
        </p:txBody>
      </p:sp>
      <p:sp>
        <p:nvSpPr>
          <p:cNvPr id="6" name="Text 1"/>
          <p:cNvSpPr/>
          <p:nvPr/>
        </p:nvSpPr>
        <p:spPr>
          <a:xfrm>
            <a:off x="566928" y="2760639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interactif pour le personnel médical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accompagnant les patients en fin de vie</a:t>
            </a:r>
            <a:endParaRPr lang="en-US" sz="4000" dirty="0"/>
          </a:p>
        </p:txBody>
      </p:sp>
      <p:sp>
        <p:nvSpPr>
          <p:cNvPr id="8" name="Text 3"/>
          <p:cNvSpPr/>
          <p:nvPr/>
        </p:nvSpPr>
        <p:spPr>
          <a:xfrm>
            <a:off x="566928" y="4086519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Maksimous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66928" y="5212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  Prof. Stéphane Gobron (HES-SO)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Experte  Dre Claudia Gamondi (CHUV)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566928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HES-SO Master · CHUV · </a:t>
            </a:r>
            <a:r>
              <a:rPr lang="en-US" sz="2000" dirty="0" err="1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UniL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  Neuchâtel, 16 juin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78308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240487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2404872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état de l'art &amp;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" y="3026664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3026664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3648456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3648456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&amp; résultats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" y="4270248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71600" y="427024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" y="4892040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71600" y="489204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" y="5513832"/>
            <a:ext cx="640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5513832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1887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 Une conviction née sur le terrain.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LE POINT DE DÉPART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mois en EHPAD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989320" cy="4206240"/>
          </a:xfrm>
          <a:prstGeom prst="roundRect">
            <a:avLst>
              <a:gd name="adj" fmla="val 1522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59536" y="2057400"/>
            <a:ext cx="5440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Alzheimer</a:t>
            </a: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endParaRPr lang="en-US" sz="2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Réactions imprévisibles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0372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SITUATIONS SANS MODE D'EMPLOI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03720" y="228600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de répondre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Colères soudaines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Confusion — </a:t>
            </a: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fils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LE CONSTAT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Soins techniques vs soins moraux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94960" cy="3886200"/>
          </a:xfrm>
          <a:prstGeom prst="roundRect">
            <a:avLst>
              <a:gd name="adj" fmla="val 1647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0" y="1783080"/>
            <a:ext cx="5394960" cy="3886200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12700">
            <a:solidFill>
              <a:srgbClr val="0069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59536" y="2039112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SKILLS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·  savoir-faire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9536" y="2651760"/>
            <a:ext cx="480974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&amp; médical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 à l'école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Enseignement </a:t>
            </a: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93408" y="2039112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·  savoir-être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93408" y="2651760"/>
            <a:ext cx="480974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&amp; relationnel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selon le patient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Une </a:t>
            </a: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boîte noire 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soft-skills, souvent plus durs à maîtriser.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LE CADRE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savoir-être aux soft-skills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95528" y="17830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Savoir-faire  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hard-skills (factuel)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329184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95528" y="32918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Savoir-vivre  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relationnel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480060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0069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95528" y="48006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Savoir-être  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soft-skills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26280" y="1783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soft-skills = SOSK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26280" y="2240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compétences, base du scoring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1887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état de l'art &amp; solution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entraîner ces soft-skills, à grande échelle et en sécurité 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· LE BESOIN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sans terrain à risque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9120" y="2532185"/>
            <a:ext cx="5760720" cy="2401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Public : </a:t>
            </a: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diplômés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de rôle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chronophages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besoin d'un </a:t>
            </a: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sûr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approches incomplètes</a:t>
            </a:r>
            <a:endParaRPr lang="en-US" sz="3000" dirty="0"/>
          </a:p>
        </p:txBody>
      </p:sp>
      <p:pic>
        <p:nvPicPr>
          <p:cNvPr id="4" name="Image 0" descr="/Users/thomaks/DEV/PA_26_EOL/output/assets/work_ld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05" y="1751076"/>
            <a:ext cx="1881725" cy="12070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17520" y="1719072"/>
            <a:ext cx="8641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— Live, Die, Repeat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Stanich 2023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017520" y="2148840"/>
            <a:ext cx="8641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Apport —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répétition sécurisée (88 % plus confiants)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017520" y="2560320"/>
            <a:ext cx="8641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Manque (comblé) —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figé, sans scoring, sans IA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66928" y="3099816"/>
            <a:ext cx="11064240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1" descr="/Users/thomaks/DEV/PA_26_EOL/output/assets/work_tw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89908"/>
            <a:ext cx="2240280" cy="9468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17520" y="3227832"/>
            <a:ext cx="8641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Twine — récits dont vous êtes le héros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édition en graphe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017520" y="3657600"/>
            <a:ext cx="8641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Apport —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en graphe, sans coder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017520" y="4069080"/>
            <a:ext cx="8641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Manque (comblé) —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générique, sans scoring ni IA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66928" y="4608576"/>
            <a:ext cx="11064240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4" name="Image 2" descr="/Users/thomaks/DEV/PA_26_EOL/output/assets/work_per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09" y="4768596"/>
            <a:ext cx="1570317" cy="12070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17520" y="4736592"/>
            <a:ext cx="8641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PERCS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Boston Children's · Lamiani 2021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017520" y="5166360"/>
            <a:ext cx="8641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Apport —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 en clinique sur 12 ans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017520" y="5577840"/>
            <a:ext cx="8641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Manque (comblé) —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présentiel, chronophage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 · NOTRE PROJET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L'historique : de V1 à la V3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86384" y="2039112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86384" y="274320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implémentation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3383280"/>
            <a:ext cx="30815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texte · 3 SOSK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69080" y="31546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34256" y="187452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53712" y="2039112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3712" y="274320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Life — jeu 3D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53712" y="3383280"/>
            <a:ext cx="30815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figé · scoring 3 axes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36408" y="31546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520440" cy="3383280"/>
          </a:xfrm>
          <a:prstGeom prst="roundRect">
            <a:avLst>
              <a:gd name="adj" fmla="val 1892"/>
            </a:avLst>
          </a:prstGeom>
          <a:solidFill>
            <a:srgbClr val="DCE7F4"/>
          </a:solidFill>
          <a:ln w="12700">
            <a:solidFill>
              <a:srgbClr val="0069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321040" y="2039112"/>
            <a:ext cx="308152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422334" y="3072118"/>
            <a:ext cx="2980234" cy="7723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travail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66928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figé devient une plateforme éditable.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verrous, l'humain au centre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760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Graphe éditable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savoir programmer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Module IA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+ scoring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0"/>
            <a:ext cx="5760720" cy="1463040"/>
          </a:xfrm>
          <a:prstGeom prst="roundRect">
            <a:avLst>
              <a:gd name="adj" fmla="val 4375"/>
            </a:avLst>
          </a:prstGeom>
          <a:solidFill>
            <a:srgbClr val="F4F8FC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41248" y="47091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Human-in-the-loop 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validation humaine obligatoire</a:t>
            </a:r>
            <a:endParaRPr lang="en-US" sz="2000" dirty="0"/>
          </a:p>
        </p:txBody>
      </p:sp>
      <p:pic>
        <p:nvPicPr>
          <p:cNvPr id="7" name="Image 0" descr="/Users/thomaks/DEV/PA_26_EOL/output/assets/ui_3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28800"/>
            <a:ext cx="5212080" cy="2810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4731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livrée — liste · graphe · édition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1887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modèle de données au contenu généré par l'IA.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· STRUCTURE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scénario devient un graphe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→ Scenes → Interactions → Responses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2514600"/>
            <a:ext cx="5760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Interaction = </a:t>
            </a: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· réponse = </a:t>
            </a: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arête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= fin de branche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par scène, surbrillance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Nœuds racines marqués</a:t>
            </a:r>
            <a:endParaRPr lang="en-US" sz="2000" dirty="0"/>
          </a:p>
        </p:txBody>
      </p:sp>
      <p:pic>
        <p:nvPicPr>
          <p:cNvPr id="6" name="Image 0" descr="/Users/thomaks/DEV/PA_26_EOL/output/assets/ui_graph.png"/>
          <p:cNvPicPr>
            <a:picLocks noChangeAspect="1"/>
          </p:cNvPicPr>
          <p:nvPr/>
        </p:nvPicPr>
        <p:blipFill>
          <a:blip r:embed="rId3"/>
          <a:srcRect l="26595" r="28006"/>
          <a:stretch>
            <a:fillRect/>
          </a:stretch>
        </p:blipFill>
        <p:spPr>
          <a:xfrm>
            <a:off x="7840758" y="768096"/>
            <a:ext cx="2281561" cy="42744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19" y="53879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interactive (vis-network)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· ÉVALUATION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à 7 dimensions de soft-skills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 </a:t>
            </a:r>
            <a:r>
              <a:rPr lang="en-US" sz="26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(sur 5 définies)   →   </a:t>
            </a:r>
            <a:r>
              <a:rPr lang="en-US" sz="26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7 </a:t>
            </a:r>
            <a:r>
              <a:rPr lang="en-US" sz="2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2834640"/>
            <a:ext cx="3657600" cy="512064"/>
          </a:xfrm>
          <a:prstGeom prst="roundRect">
            <a:avLst>
              <a:gd name="adj" fmla="val 21429"/>
            </a:avLst>
          </a:prstGeom>
          <a:solidFill>
            <a:srgbClr val="DCE7F4"/>
          </a:solidFill>
          <a:ln w="12700">
            <a:solidFill>
              <a:srgbClr val="0069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66928" y="2834640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3419856"/>
            <a:ext cx="3657600" cy="512064"/>
          </a:xfrm>
          <a:prstGeom prst="roundRect">
            <a:avLst>
              <a:gd name="adj" fmla="val 21429"/>
            </a:avLst>
          </a:prstGeom>
          <a:solidFill>
            <a:srgbClr val="DCE7F4"/>
          </a:solidFill>
          <a:ln w="12700">
            <a:solidFill>
              <a:srgbClr val="0069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66928" y="341985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&amp; dignité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4005072"/>
            <a:ext cx="3657600" cy="512064"/>
          </a:xfrm>
          <a:prstGeom prst="roundRect">
            <a:avLst>
              <a:gd name="adj" fmla="val 21429"/>
            </a:avLst>
          </a:prstGeom>
          <a:solidFill>
            <a:srgbClr val="DCE7F4"/>
          </a:solidFill>
          <a:ln w="12700">
            <a:solidFill>
              <a:srgbClr val="0069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66928" y="400507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Ajoutées (V3)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0" y="2834640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0" y="283464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émotion.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0" y="3419856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0" y="341985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 de communic.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0" y="4005072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0" y="400507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 prof.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0" y="4590288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0" y="459028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Collab. interpro.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778240" y="2697480"/>
            <a:ext cx="2834640" cy="2788920"/>
          </a:xfrm>
          <a:prstGeom prst="roundRect">
            <a:avLst>
              <a:gd name="adj" fmla="val 2295"/>
            </a:avLst>
          </a:prstGeom>
          <a:solidFill>
            <a:srgbClr val="F4F8FC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961120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96112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r>
              <a:rPr lang="en-US" sz="26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…  </a:t>
            </a:r>
            <a:r>
              <a:rPr lang="en-US" sz="26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961120" y="39319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= problématique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= favorable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scores / réponse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· COHÉRENCE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Histoires cohérentes &amp; éditables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760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Validation EG-7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cible toujours valide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Sauvegarde atomique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JSON jamais corrompu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Mode parcours joueur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scores cumulés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Round-trip JSON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compatible Unity</a:t>
            </a:r>
            <a:endParaRPr lang="en-US" sz="2000" dirty="0"/>
          </a:p>
        </p:txBody>
      </p:sp>
      <p:pic>
        <p:nvPicPr>
          <p:cNvPr id="5" name="Image 0" descr="/Users/thomaks/DEV/PA_26_EOL/output/assets/ui_parc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28800"/>
            <a:ext cx="5212080" cy="2810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520" y="4731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parcours joueur — scores cumulés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· IA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5529072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Créer de nouvelles histoires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scorer avec l'IA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Génération orientée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7 SOSK + consigne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Scoring assisté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7 scores expliqués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Pattern Strategy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OpenAI ou Ollama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Human-in-the-loop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l'humain valide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81770" y="5852160"/>
            <a:ext cx="481824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: curseurs SOSK + consigne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DA73C63-5F68-F9A8-B41E-F92C2A0F6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392" y="384048"/>
            <a:ext cx="4075003" cy="51755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1887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&amp; résultats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ce qui a été produit, et le confronter à l'humain.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nous avons évalué le système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41248" y="17830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90288" y="1783080"/>
            <a:ext cx="6766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tests pytest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2624328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41248" y="2624328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90288" y="2624328"/>
            <a:ext cx="6766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 interactions · 1 232 arêtes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3465576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41248" y="346557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IA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0288" y="3465576"/>
            <a:ext cx="6766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générations orientées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4306824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41248" y="430682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assisté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0288" y="4306824"/>
            <a:ext cx="6766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réponses notées → MAE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5148072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41248" y="514807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backends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90288" y="5148072"/>
            <a:ext cx="6766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vs Ollama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· GÉNÉRATION &amp; VALIDATION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objectifs techniques atteints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70048" cy="2194560"/>
          </a:xfrm>
          <a:prstGeom prst="roundRect">
            <a:avLst>
              <a:gd name="adj" fmla="val 2917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04088" y="219456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76656" y="3200400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2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générations)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01568" y="1874520"/>
            <a:ext cx="2670048" cy="2194560"/>
          </a:xfrm>
          <a:prstGeom prst="roundRect">
            <a:avLst>
              <a:gd name="adj" fmla="val 2917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538728" y="219456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27/27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11296" y="3200400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réussis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36208" y="1874520"/>
            <a:ext cx="2670048" cy="2194560"/>
          </a:xfrm>
          <a:prstGeom prst="roundRect">
            <a:avLst>
              <a:gd name="adj" fmla="val 2917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373368" y="219456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45936" y="3200400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</a:t>
            </a:r>
            <a:endParaRPr lang="en-US" sz="2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livres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70848" y="1874520"/>
            <a:ext cx="2670048" cy="2194560"/>
          </a:xfrm>
          <a:prstGeom prst="roundRect">
            <a:avLst>
              <a:gd name="adj" fmla="val 2917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208008" y="219456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 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80576" y="3200400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génération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" y="443484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Round-trip JSON validé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Export Mermaid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 systématique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· SCORING &amp; BACKENDS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proche de l'humain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581400" y="1737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MAE globale  </a:t>
            </a:r>
            <a:r>
              <a:rPr lang="en-US" sz="22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0,77</a:t>
            </a:r>
            <a:r>
              <a:rPr lang="en-US" sz="22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/ 7 niveaux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81400" y="2240280"/>
          <a:ext cx="5029200" cy="316992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Collab. interprof.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Régulation émotion.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Respect &amp; dignité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Clarté communic.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Frontières prof.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Compassion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Empathie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144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66928" y="2697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V3, en direct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VOUS MONTRE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475488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un livre · graphe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Éditer · EG-7 · parcours joueur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· scoring 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83880" y="4389120"/>
            <a:ext cx="342900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412480" y="45720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Filet de sécurité 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captures de secours prêtes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1887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regard critique : modèle, budget, RGPD et limites.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LE COMPROMIS IA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: un bon rapport qualité / prix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gpt-4.1-mini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100 % conforme, rapide, peu cher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plus puissants : gain marginal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Coût négligeable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: quelques francs par livre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4434840"/>
            <a:ext cx="5486400" cy="16002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41248" y="457200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coût n'est pas le token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mais l'échelle et la conformité.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RGPD &amp; ÉTHIQUE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responsabilité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784348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0069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41248" y="29489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·  serveur externe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3424428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quittent l'hôpital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Rapide et performant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0" y="2784348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675120" y="29489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·  serveur interne (local)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0" y="3424428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Les données restent sur place </a:t>
            </a: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(RGPD)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lent, mais conforme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1887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du projet et ouverture vers le travail de Master.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projet a accompli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64240" cy="1179576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301752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041648" y="1828800"/>
            <a:ext cx="731520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Éditer sans programmer (CRUD, EG-7)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11064240" cy="1179576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41248" y="3154680"/>
            <a:ext cx="301752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41648" y="3154680"/>
            <a:ext cx="731520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7 SOSK + scoring explicable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4480560"/>
            <a:ext cx="11064240" cy="1179576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41248" y="4480560"/>
            <a:ext cx="301752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durable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41648" y="4480560"/>
            <a:ext cx="731520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· 27 tests · double backend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figé devient une plateforme éditable.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· VERS LE MASTER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grands chantiers à venir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984248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dynamique côté joueur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882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en temps réel → tuteur intelligent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08776" y="178308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64808" y="1984248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 local fine-tuné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64808" y="2560320"/>
            <a:ext cx="4882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internes CHUV, via Ollama → RGPD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397764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" y="4178808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de vraies interactions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4882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Rejouer des échanges réels, jugés via SOSK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08776" y="3977640"/>
            <a:ext cx="5394960" cy="2057400"/>
          </a:xfrm>
          <a:prstGeom prst="roundRect">
            <a:avLst>
              <a:gd name="adj" fmla="val 3111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64808" y="4178808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l'échelle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64808" y="4754880"/>
            <a:ext cx="48828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psychométrique · oncologie, urgences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41148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Maksimous</a:t>
            </a: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PA MSE HES-SO   ·   Neuchâtel, 16 juin 2026</a:t>
            </a:r>
            <a:endParaRPr lang="en-US" sz="2000" dirty="0"/>
          </a:p>
        </p:txBody>
      </p:sp>
      <p:pic>
        <p:nvPicPr>
          <p:cNvPr id="5" name="Image 0" descr="/Users/thomaks/DEV/PA_26_EOL/output/assets/logo_h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30" y="4776957"/>
            <a:ext cx="2481842" cy="1603723"/>
          </a:xfrm>
          <a:prstGeom prst="rect">
            <a:avLst/>
          </a:prstGeom>
        </p:spPr>
      </p:pic>
      <p:pic>
        <p:nvPicPr>
          <p:cNvPr id="6" name="Image 1" descr="/Users/thomaks/DEV/PA_26_EOL/output/assets/logo_chu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214" y="5250412"/>
            <a:ext cx="1432694" cy="741718"/>
          </a:xfrm>
          <a:prstGeom prst="rect">
            <a:avLst/>
          </a:prstGeom>
        </p:spPr>
      </p:pic>
      <p:pic>
        <p:nvPicPr>
          <p:cNvPr id="7" name="Image 2" descr="/Users/thomaks/DEV/PA_26_EOL/output/assets/logo_un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334" y="5340909"/>
            <a:ext cx="1905740" cy="62382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LE CADRE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SOSK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2240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compétences relationnelles, base du scoring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34747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66928" y="283464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&amp; dignité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206240" y="2834640"/>
            <a:ext cx="34747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206240" y="283464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34747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Compassion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206240" y="3438144"/>
            <a:ext cx="34747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206240" y="343814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Régulation émotion.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6928" y="4041648"/>
            <a:ext cx="34747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66928" y="404164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 de communic.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206240" y="4041648"/>
            <a:ext cx="34747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206240" y="404164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Frontières prof.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66928" y="4645152"/>
            <a:ext cx="3474720" cy="512064"/>
          </a:xfrm>
          <a:prstGeom prst="roundRect">
            <a:avLst>
              <a:gd name="adj" fmla="val 21429"/>
            </a:avLst>
          </a:prstGeom>
          <a:solidFill>
            <a:srgbClr val="EAF1F8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66928" y="4645152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interpro.</a:t>
            </a:r>
            <a:endParaRPr lang="en-US" sz="2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· LE BESOIN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consortium, trois expertises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558540" y="1828800"/>
            <a:ext cx="5074920" cy="4023360"/>
          </a:xfrm>
          <a:prstGeom prst="roundRect">
            <a:avLst>
              <a:gd name="adj" fmla="val 1591"/>
            </a:avLst>
          </a:prstGeom>
          <a:solidFill>
            <a:srgbClr val="F4F8FC"/>
          </a:solidFill>
          <a:ln w="12700">
            <a:solidFill>
              <a:srgbClr val="D6E1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832860" y="2697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HES-SO Master 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Ingénierie &amp; Data Science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32860" y="36576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CHUV 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Validation clinique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32860" y="46177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UniL 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Curriculum de médecine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· SCORING &amp; BACKENDS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rapide ou local privé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421380" y="17373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vs Ollama</a:t>
            </a:r>
            <a:endParaRPr lang="en-US" sz="2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1380" y="2240280"/>
          <a:ext cx="5349240" cy="182880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 ±1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6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91,3 %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moyen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6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 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 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(RGPD)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6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421380" y="4572000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OpenAI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rapidité &amp; qualité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006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Ollama </a:t>
            </a: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local, confidentialité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LE COMPROMIS IA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modèles · prix comparés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89960" y="16276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MODÈLES · $ / M TOKENS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89960" y="2011680"/>
          <a:ext cx="5212080" cy="35661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Entrée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 8B (local)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 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 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V4 Flash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6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gpt-4.1-mini — retenu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006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0069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Pro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4.6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26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489960" y="57150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publics mi-2026 · * open-weights, auto-hébergé.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50" dirty="0">
                <a:solidFill>
                  <a:srgbClr val="8A9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RGPD &amp; ÉTHIQUE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assumées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3150108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test clinique formel</a:t>
            </a:r>
            <a:endParaRPr lang="en-US" sz="2000" dirty="0"/>
          </a:p>
          <a:p>
            <a:pPr marL="203200" indent="-203200" algn="l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annotateur de référence</a:t>
            </a:r>
            <a:endParaRPr lang="en-US" sz="2000" dirty="0"/>
          </a:p>
          <a:p>
            <a:pPr marL="0" indent="0" algn="l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2000" dirty="0">
                <a:solidFill>
                  <a:srgbClr val="26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assiste, l'humain reste responsable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1613</Words>
  <Application>Microsoft Macintosh PowerPoint</Application>
  <PresentationFormat>Grand écran</PresentationFormat>
  <Paragraphs>348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Livre interactif pour le personnel medical — PA MSE HES-SO</dc:title>
  <dc:subject>PptxGenJS Presentation</dc:subject>
  <dc:creator>Thomas Maksimous</dc:creator>
  <cp:lastModifiedBy>Maksimous Thomas</cp:lastModifiedBy>
  <cp:revision>2</cp:revision>
  <dcterms:created xsi:type="dcterms:W3CDTF">2026-06-13T17:09:33Z</dcterms:created>
  <dcterms:modified xsi:type="dcterms:W3CDTF">2026-06-14T12:28:40Z</dcterms:modified>
</cp:coreProperties>
</file>